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82512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18097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7391485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9129482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4973115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520799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831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4296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638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4746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8384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4158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A4FDE1-3F0C-4337-9D7C-1B70B7216FD1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0587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2730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488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6599F9-CF31-A872-DF27-C26CF4C98D76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382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82731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5880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2697BB-424E-5718-8107-6BD576F420E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845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98428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8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D42347-3609-AE03-F36C-FC34FCC72555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506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7722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1560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F5FBB-66D7-9EF0-C7B5-5C7D211EACA4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149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3605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268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F03A9-870C-94CA-5CA4-5DA0A74843E3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442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4661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49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0ABE7E-FCC8-DA5B-A8A2-260906D19350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714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2613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3372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8453FA-ECE7-4065-8F47-6DC0ABA37890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677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0063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243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E6A982-BF58-8FFB-E510-80A3AAA5A913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185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5730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921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44C105-3FD3-86D6-2C59-D3D9F8BD8F8E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5217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664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80770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4C0B55-9C4B-82F2-6D98-3FE35A5D7309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22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95702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984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01278-5463-3FBB-39EC-EA3E47386B1E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346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3797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696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0551AC-64DF-F8F9-D80B-FEFFBCD0CF7A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0966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8166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9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97840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896679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047799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3368794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144093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2880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5630319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516824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7436242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612782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36276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222759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283582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1888728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931193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4811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358438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785873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726741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6344794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490877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28378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491682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5387233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4575988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0192166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8838857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7449797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899398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5303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4292997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1810364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012198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33658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79492018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9945494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630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5232303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42451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59841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748928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606206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03863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8340029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5716527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613975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1607548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8629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5983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11409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082678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9107939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387904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7195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4595942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173862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553802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971893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43681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34015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555169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032617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2646080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078449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176011472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8" y="3602036"/>
            <a:ext cx="9144000" cy="277170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r>
              <a:rPr lang="en-GB" sz="3200">
                <a:solidFill>
                  <a:schemeClr val="accent5"/>
                </a:solidFill>
              </a:rPr>
              <a:t>Robot Car-</a:t>
            </a:r>
            <a:r>
              <a:rPr lang="en-US" sz="3200">
                <a:solidFill>
                  <a:schemeClr val="accent5"/>
                </a:solidFill>
              </a:rPr>
              <a:t>1</a:t>
            </a:r>
            <a:r>
              <a:rPr lang="en-GB" sz="3200">
                <a:solidFill>
                  <a:schemeClr val="accent5"/>
                </a:solidFill>
              </a:rPr>
              <a:t> </a:t>
            </a:r>
            <a:r>
              <a:rPr lang="en-US" sz="3200">
                <a:solidFill>
                  <a:schemeClr val="accent5"/>
                </a:solidFill>
              </a:rPr>
              <a:t>Sensor</a:t>
            </a:r>
            <a:endParaRPr/>
          </a:p>
          <a:p>
            <a:pPr>
              <a:defRPr/>
            </a:pP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lang="en-GB" sz="2800">
                <a:solidFill>
                  <a:schemeClr val="bg1"/>
                </a:solidFill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 lang="en-GB"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1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Enhanced Visual Feedback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181420372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55749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6" y="42547"/>
            <a:ext cx="10515600" cy="1132499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71562034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80" y="1175046"/>
            <a:ext cx="11023517" cy="557256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EARNING OBJECTIVES &amp; AGENDA</a:t>
            </a:r>
            <a:endParaRPr lang="en-US" sz="2800" b="0" i="0" u="none" strike="noStrike" cap="none" spc="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Objective:</a:t>
            </a:r>
            <a:endParaRPr/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To demonstrate robot motion control using an OLED dashboard for visual status updates.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Key Feature: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Unlike traditional serial print methods, the OLED display provides immediate visual feedback about the robot's current operation, allowing users to understand actions in real-time. This is crucial for effective moving and navigational system status and feedback diagnosis.</a:t>
            </a:r>
            <a:endParaRPr>
              <a:latin typeface="Aptos Display"/>
              <a:cs typeface="Aptos Display"/>
            </a:endParaRPr>
          </a:p>
        </p:txBody>
      </p:sp>
      <p:pic>
        <p:nvPicPr>
          <p:cNvPr id="1994423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54989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6" y="42547"/>
            <a:ext cx="10515600" cy="113249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134856256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80" y="1175046"/>
            <a:ext cx="11023517" cy="557256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EARNING OBJECTIVES &amp; AGENDA</a:t>
            </a:r>
            <a:endParaRPr sz="1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What is the OLED Dashboard?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 visual display that shows the current actions and statuses of the robot.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Benefits of Using an OLED Dashboard:</a:t>
            </a:r>
            <a:endParaRPr sz="1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Immediate Feedback:</a:t>
            </a:r>
            <a:endParaRPr sz="2800">
              <a:solidFill>
                <a:schemeClr val="bg1"/>
              </a:solidFill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Provides real-time visual feedback about the robot's current operations.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Enhanced Understanding:</a:t>
            </a:r>
            <a:endParaRPr sz="2800">
              <a:solidFill>
                <a:schemeClr val="bg1"/>
              </a:solidFill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Improves comprehension of robot behavior compared to traditional serial print outputs.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Key Feature:</a:t>
            </a:r>
            <a:endParaRPr sz="2800">
              <a:solidFill>
                <a:schemeClr val="bg1"/>
              </a:solidFill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Engages users by allowing them to understand actions visually in real-tim</a:t>
            </a:r>
            <a:r>
              <a:rPr>
                <a:solidFill>
                  <a:schemeClr val="bg1"/>
                </a:solidFill>
              </a:rPr>
              <a:t>e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endParaRPr sz="2800">
              <a:solidFill>
                <a:schemeClr val="bg1"/>
              </a:solidFill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The OLED Dashboard Program significantly improves learning by integrating visual feedback, enhancing debugging, and introducing user interface concepts, preparing individuals for relevant real-world applications in robotics and automation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09546215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77428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4" y="-35461"/>
            <a:ext cx="10515600" cy="1103685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46686799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50" y="961401"/>
            <a:ext cx="11643644" cy="57951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Car-1 -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79444299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pic>
        <p:nvPicPr>
          <p:cNvPr id="2555955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525209" y="2266988"/>
            <a:ext cx="5087324" cy="3866577"/>
          </a:xfrm>
          <a:prstGeom prst="rect">
            <a:avLst/>
          </a:prstGeom>
        </p:spPr>
      </p:pic>
      <p:sp>
        <p:nvSpPr>
          <p:cNvPr id="823617402" name=""/>
          <p:cNvSpPr/>
          <p:nvPr/>
        </p:nvSpPr>
        <p:spPr bwMode="auto">
          <a:xfrm flipH="0" flipV="0">
            <a:off x="4567568" y="3009009"/>
            <a:ext cx="1329015" cy="16913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8535874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96584" y="1914512"/>
            <a:ext cx="5606709" cy="457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824701" name="Title 1"/>
          <p:cNvSpPr>
            <a:spLocks noGrp="1"/>
          </p:cNvSpPr>
          <p:nvPr>
            <p:ph type="title"/>
          </p:nvPr>
        </p:nvSpPr>
        <p:spPr bwMode="auto">
          <a:xfrm>
            <a:off x="357495" y="98734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148264441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2" y="1103828"/>
            <a:ext cx="11196689" cy="55725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Arduino Component–Pin Mapping Table       </a:t>
            </a:r>
            <a:r>
              <a:rPr sz="2800" b="0" i="0" u="none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OLED Configuration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74023200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graphicFrame>
        <p:nvGraphicFramePr>
          <p:cNvPr id="1642592477" name=""/>
          <p:cNvGraphicFramePr>
            <a:graphicFrameLocks xmlns:a="http://schemas.openxmlformats.org/drawingml/2006/main"/>
          </p:cNvGraphicFramePr>
          <p:nvPr/>
        </p:nvGraphicFramePr>
        <p:xfrm>
          <a:off x="618817" y="1557140"/>
          <a:ext cx="5817984" cy="1747231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100485"/>
                <a:gridCol w="1891783"/>
                <a:gridCol w="1813015"/>
              </a:tblGrid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Pin(s)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</a:t>
                      </a:r>
                      <a:endParaRPr/>
                    </a:p>
                  </a:txBody>
                  <a:tcPr vert="horz"/>
                </a:tc>
              </a:tr>
              <a:tr h="5227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Sensors (Left / LC / RC / Right)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A0, A1, A2, 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detection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(IN1–IN4)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8, 7, 4, 3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Direction control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(ENA, ENB)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6, 5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control (PWM)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 (SDA, 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A4 (SDA), A5 (SCL)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Display interface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graphicFrame>
        <p:nvGraphicFramePr>
          <p:cNvPr id="362223911" name=""/>
          <p:cNvGraphicFramePr>
            <a:graphicFrameLocks xmlns:a="http://schemas.openxmlformats.org/drawingml/2006/main"/>
          </p:cNvGraphicFramePr>
          <p:nvPr/>
        </p:nvGraphicFramePr>
        <p:xfrm>
          <a:off x="609913" y="5372214"/>
          <a:ext cx="5826889" cy="13842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846593"/>
                <a:gridCol w="1203490"/>
                <a:gridCol w="2423301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(L)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edge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(LC)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(RC)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(R)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edge detection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461263492" name=""/>
          <p:cNvSpPr/>
          <p:nvPr/>
        </p:nvSpPr>
        <p:spPr bwMode="auto">
          <a:xfrm flipH="0" flipV="0">
            <a:off x="532223" y="4486541"/>
            <a:ext cx="6749133" cy="792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Pin Configuration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415683642" name=""/>
          <p:cNvGraphicFramePr>
            <a:graphicFrameLocks xmlns:a="http://schemas.openxmlformats.org/drawingml/2006/main"/>
          </p:cNvGraphicFramePr>
          <p:nvPr/>
        </p:nvGraphicFramePr>
        <p:xfrm>
          <a:off x="618817" y="3871139"/>
          <a:ext cx="4356111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08690"/>
                <a:gridCol w="533357"/>
                <a:gridCol w="711561"/>
                <a:gridCol w="1689801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(Speed Control)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/>
                    </a:p>
                  </a:txBody>
                  <a:tcPr vert="horz" anchor="ctr"/>
                </a:tc>
              </a:tr>
            </a:tbl>
          </a:graphicData>
        </a:graphic>
      </p:graphicFrame>
      <p:sp>
        <p:nvSpPr>
          <p:cNvPr id="1841876548" name=""/>
          <p:cNvSpPr txBox="1"/>
          <p:nvPr/>
        </p:nvSpPr>
        <p:spPr bwMode="auto">
          <a:xfrm flipH="0" flipV="0">
            <a:off x="6004379" y="3246120"/>
            <a:ext cx="183240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2114928453" name=""/>
          <p:cNvSpPr/>
          <p:nvPr/>
        </p:nvSpPr>
        <p:spPr bwMode="auto">
          <a:xfrm flipH="0" flipV="0">
            <a:off x="618817" y="3352619"/>
            <a:ext cx="482822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Driver Pin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Configuration</a:t>
            </a:r>
            <a:endParaRPr/>
          </a:p>
        </p:txBody>
      </p:sp>
      <p:sp>
        <p:nvSpPr>
          <p:cNvPr id="438655710" name=""/>
          <p:cNvSpPr txBox="1"/>
          <p:nvPr/>
        </p:nvSpPr>
        <p:spPr bwMode="auto">
          <a:xfrm flipH="0" flipV="0">
            <a:off x="6383391" y="3429000"/>
            <a:ext cx="5335355" cy="2926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Downward IR sensors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detect lines, floor edges, and pits.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while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forward IR sensors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detect walls and nearby obstacles.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94023" indent="-394023" algn="l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Use the “</a:t>
            </a:r>
            <a:r>
              <a:rPr sz="2800" b="1" i="1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Line/Wall Following Switch(2)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to select the mode.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399810109" name=""/>
          <p:cNvGraphicFramePr>
            <a:graphicFrameLocks xmlns:a="http://schemas.openxmlformats.org/drawingml/2006/main"/>
          </p:cNvGraphicFramePr>
          <p:nvPr/>
        </p:nvGraphicFramePr>
        <p:xfrm>
          <a:off x="7039078" y="1607523"/>
          <a:ext cx="3508374" cy="12928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335404"/>
                <a:gridCol w="2160270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Connection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I2C (SDA, SCL) → A4, A5</a:t>
                      </a:r>
                      <a:endParaRPr/>
                    </a:p>
                  </a:txBody>
                  <a:tcPr vert="horz"/>
                </a:tc>
              </a:tr>
              <a:tr h="2108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Servo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Signal → Pin 9</a:t>
                      </a:r>
                      <a:endParaRPr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Ultrasonic Sensor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Trig → Pin 10, Echo → Pin 11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150550" name="Title 1"/>
          <p:cNvSpPr>
            <a:spLocks noGrp="1"/>
          </p:cNvSpPr>
          <p:nvPr>
            <p:ph type="title"/>
          </p:nvPr>
        </p:nvSpPr>
        <p:spPr bwMode="auto">
          <a:xfrm>
            <a:off x="126048" y="42549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142630942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12476" y="1308573"/>
            <a:ext cx="10854381" cy="539453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Schematics</a:t>
            </a:r>
            <a:r>
              <a:rPr sz="2800" b="0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 :</a:t>
            </a:r>
            <a:endParaRPr sz="2800" b="0" i="0" u="none">
              <a:solidFill>
                <a:schemeClr val="accent5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OLED Configuration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Screen Specifications: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Width: 128 pixels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Height: 64 pixels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Reset Pin: -1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Screen Address: 0x3C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Library Used:	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Adafruit SSD1306 and Adafruit GFX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Highlight:	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The OLED configuration is crucial for effective real-time updates, enhancing the learning experience.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191386762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169329" name="Title 1"/>
          <p:cNvSpPr>
            <a:spLocks noGrp="1"/>
          </p:cNvSpPr>
          <p:nvPr>
            <p:ph type="title"/>
          </p:nvPr>
        </p:nvSpPr>
        <p:spPr bwMode="auto">
          <a:xfrm>
            <a:off x="126047" y="42548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29785677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12475" y="1308573"/>
            <a:ext cx="10854380" cy="539453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Schematics</a:t>
            </a:r>
            <a:r>
              <a:rPr sz="2800" b="0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 :</a:t>
            </a: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Motor Control Setup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Motor Pins Configuration: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Left Motor: Pins 7, 8 (Direction) and Pin 6 (Speed)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Right Motor: Pins 3, 4 (Direction) and Pin 5 (Speed)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Highlight: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 integration of motor control with the OLED allows students to visualize the impact of their code on the robot’s movement.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82890140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345611" name="Title 1"/>
          <p:cNvSpPr>
            <a:spLocks noGrp="1"/>
          </p:cNvSpPr>
          <p:nvPr>
            <p:ph type="title"/>
          </p:nvPr>
        </p:nvSpPr>
        <p:spPr bwMode="auto">
          <a:xfrm>
            <a:off x="126047" y="42548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145628039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12475" y="1308573"/>
            <a:ext cx="10854380" cy="539453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Schematics</a:t>
            </a:r>
            <a:r>
              <a:rPr sz="2800" b="0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 :</a:t>
            </a: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Motion Durations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Defined Durations for Movements:</a:t>
            </a:r>
            <a:endParaRPr sz="2800">
              <a:solidFill>
                <a:schemeClr val="bg1"/>
              </a:solidFill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Forward: 2000 ms</a:t>
            </a:r>
            <a:endParaRPr sz="2800">
              <a:solidFill>
                <a:schemeClr val="bg1"/>
              </a:solidFill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Backward: 2000 ms</a:t>
            </a:r>
            <a:endParaRPr sz="2800">
              <a:solidFill>
                <a:schemeClr val="bg1"/>
              </a:solidFill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Left Turn: 2000 ms</a:t>
            </a:r>
            <a:endParaRPr sz="2800">
              <a:solidFill>
                <a:schemeClr val="bg1"/>
              </a:solidFill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Right Turn: 2000 ms</a:t>
            </a:r>
            <a:endParaRPr sz="2800">
              <a:solidFill>
                <a:schemeClr val="bg1"/>
              </a:solidFill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Pause: 1500 ms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Highlight:</a:t>
            </a:r>
            <a:endParaRPr sz="2800">
              <a:solidFill>
                <a:schemeClr val="bg1"/>
              </a:solidFill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Each action's duration is displayed on the OLED, providing clarity on how long the robot will perform each operation.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182865909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296955" name="Title 1"/>
          <p:cNvSpPr>
            <a:spLocks noGrp="1"/>
          </p:cNvSpPr>
          <p:nvPr>
            <p:ph type="title"/>
          </p:nvPr>
        </p:nvSpPr>
        <p:spPr bwMode="auto">
          <a:xfrm>
            <a:off x="126047" y="42548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36700674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12475" y="1308573"/>
            <a:ext cx="10854380" cy="539453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Initialization and Dashboard Display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Setup Steps: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Initialize Serial communication and OLED display.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Show startup screen and action indicators.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Highlight: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 startup sequence on the OLED sets the stage for understanding what the robot will do next, unlike static serial prints.</a:t>
            </a:r>
            <a:endParaRPr sz="14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46614838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681139" name="Title 1"/>
          <p:cNvSpPr>
            <a:spLocks noGrp="1"/>
          </p:cNvSpPr>
          <p:nvPr>
            <p:ph type="title"/>
          </p:nvPr>
        </p:nvSpPr>
        <p:spPr bwMode="auto">
          <a:xfrm>
            <a:off x="126047" y="42548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143804405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12475" y="1308573"/>
            <a:ext cx="10854380" cy="539453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Movement Sequence with OLED Feedback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Sequence Overview: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 Forward Movement: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Action displayed: "FORWARD"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Backward Movement: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Action displayed: "BACKWARD"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Left Turn: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Action displayed: "LEFT"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Right Turn: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Action displayed: "RIGHT"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Final Action: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"SEQUENCE COMPLETE"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Highlight: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Real-time updates on the OLED allow students to track the robot's actions visually, reinforcing their understanding of programming logic.</a:t>
            </a:r>
            <a:endParaRPr/>
          </a:p>
        </p:txBody>
      </p:sp>
      <p:pic>
        <p:nvPicPr>
          <p:cNvPr id="80149237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841" name="Title 1"/>
          <p:cNvSpPr>
            <a:spLocks noGrp="1"/>
          </p:cNvSpPr>
          <p:nvPr>
            <p:ph type="title"/>
          </p:nvPr>
        </p:nvSpPr>
        <p:spPr bwMode="auto">
          <a:xfrm>
            <a:off x="126047" y="42548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202152101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12475" y="1308573"/>
            <a:ext cx="10854380" cy="539453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OLED Display Functions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Key Functions: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showStartup()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Displays initial status on OLED.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showAction()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Updates dashboard based on movements.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showComplete()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Indicates end of operations.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Highlight: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The functions that control the OLED provide insight into how visual feedback is generated, enhancing comprehension of coding concepts.</a:t>
            </a:r>
            <a:endParaRPr/>
          </a:p>
        </p:txBody>
      </p:sp>
      <p:pic>
        <p:nvPicPr>
          <p:cNvPr id="11868294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449696" name="Title 1"/>
          <p:cNvSpPr>
            <a:spLocks noGrp="1"/>
          </p:cNvSpPr>
          <p:nvPr>
            <p:ph type="title"/>
          </p:nvPr>
        </p:nvSpPr>
        <p:spPr bwMode="auto">
          <a:xfrm>
            <a:off x="126047" y="42548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106953269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12475" y="1308573"/>
            <a:ext cx="10854380" cy="539453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Visual Representation of Actions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Screens for Actions: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STOP Screen: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Displays a stop icon and status.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FORWARD Screen: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Shows upward arrow and action status.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BACKWARD Screen: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Displays downward arrow and reversing status.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LEFT and RIGHT Screens: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Visual indicators for turns.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Highlight: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Each action’s visual representation on the OLED is more effective than text-based serial prints, making it easier for students to connect code with real-world actio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ns.</a:t>
            </a:r>
            <a:endParaRPr/>
          </a:p>
        </p:txBody>
      </p:sp>
      <p:pic>
        <p:nvPicPr>
          <p:cNvPr id="70456830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35186" name="Title 1"/>
          <p:cNvSpPr>
            <a:spLocks noGrp="1"/>
          </p:cNvSpPr>
          <p:nvPr>
            <p:ph type="title"/>
          </p:nvPr>
        </p:nvSpPr>
        <p:spPr bwMode="auto">
          <a:xfrm>
            <a:off x="295034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57175653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4" y="765121"/>
            <a:ext cx="11620618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</a:t>
            </a: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STANDBY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Upload your pit avoidance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activate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sz="28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Press </a:t>
            </a:r>
            <a:r>
              <a:rPr sz="2400" b="0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RESET 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button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Robot car-1 starts pit avoidance program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highlight>
                  <a:srgbClr val="FF0000"/>
                </a:highlight>
                <a:latin typeface="Aptos Display"/>
                <a:ea typeface="Aptos Display"/>
                <a:cs typeface="Aptos Display"/>
              </a:rPr>
              <a:t>Note: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For Basic Movement </a:t>
            </a: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en-US" sz="20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</a:t>
            </a: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selection is not mandatory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57968831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406469199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788355" name="Title 1"/>
          <p:cNvSpPr>
            <a:spLocks noGrp="1"/>
          </p:cNvSpPr>
          <p:nvPr>
            <p:ph type="title"/>
          </p:nvPr>
        </p:nvSpPr>
        <p:spPr bwMode="auto">
          <a:xfrm>
            <a:off x="571142" y="42547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52906150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255163"/>
            <a:ext cx="10515600" cy="492179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Conclusion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Summary: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 addition of the OLED dashboard greatly enhances the learning experience by providing real-time visual feedback on robot actions.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Comparison to Basic Movements: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project offers more features and insights into robot control, fostering a deeper understanding of robotics among students</a:t>
            </a:r>
            <a:r>
              <a:rPr sz="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</p:txBody>
      </p:sp>
      <p:pic>
        <p:nvPicPr>
          <p:cNvPr id="111868507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4413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2536884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214673025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Invite Questions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Encourage the audience to ask questions for further clarification or discussion.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46728284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10</cp:revision>
  <dcterms:created xsi:type="dcterms:W3CDTF">2025-11-29T15:09:33Z</dcterms:created>
  <dcterms:modified xsi:type="dcterms:W3CDTF">2025-12-31T16:34:00Z</dcterms:modified>
</cp:coreProperties>
</file>