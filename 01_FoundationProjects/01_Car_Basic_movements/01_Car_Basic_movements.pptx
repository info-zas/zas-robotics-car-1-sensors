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7.xml" ContentType="application/vnd.openxmlformats-officedocument.presentationml.notesSlid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03021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88644255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3305298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05224437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99606385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02058102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6348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27114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34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5621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82736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19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A4FDE1-3F0C-4337-9D7C-1B70B7216FD1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6642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17532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745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6599F9-CF31-A872-DF27-C26CF4C98D76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7038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807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6517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2697BB-424E-5718-8107-6BD576F420E8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4642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4327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1845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108B59-3ABF-C479-18D2-40B55C4B1611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38742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32676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5081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01C13D3-F7F6-B29C-F029-BDC9C57C0412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65665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9044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10672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70142C-C813-8765-079C-ADE981F44D70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6753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36115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224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C7A905-A7BD-99A6-93F6-E2967C0EA588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4734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948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79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D42347-3609-AE03-F36C-FC34FCC72555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7083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4379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2406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F5FBB-66D7-9EF0-C7B5-5C7D211EACA4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3666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26813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96AE28-1750-FB0A-13D1-D80273FFDC97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50080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0788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240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401278-5463-3FBB-39EC-EA3E47386B1E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80447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1222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5552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6B4B94-7C55-2EB6-CDD0-E59D69E88D63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58525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9619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7565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605338-B053-1AB3-7A62-AD6FA2DF4A04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2960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32566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3173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85AC9A-E1C6-9225-8C00-8FC5BE823A61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03133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9116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8437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0551AC-64DF-F8F9-D80B-FEFFBCD0CF7A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7034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44548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048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076D30-61DE-A4E1-0BE8-E3355223D533}" type="slidenum">
              <a:rPr/>
              <a:t/>
            </a:fld>
            <a:endParaRPr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0709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5329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93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0293428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4954062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042875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2059236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0492207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1442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8732173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63004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34427575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166162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995380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0435854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037172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9390765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0582655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31400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822029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9410521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2923444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4945096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347004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846227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1556428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3234354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5465142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9443247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10855159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80480969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1257954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4408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0255019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37362383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524380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43091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62545862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7730938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74515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9589631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7245695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22789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47100904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5487008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0519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8344554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29531104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4648312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60748568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1632418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0206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3325525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4080585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9919133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202153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10078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3764469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5009155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7178476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3926574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583212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7811205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4054827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28518375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94320457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195728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708834437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3602037"/>
            <a:ext cx="9144000" cy="196162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r>
              <a:rPr lang="en-GB" sz="3200">
                <a:solidFill>
                  <a:schemeClr val="accent5"/>
                </a:solidFill>
              </a:rPr>
              <a:t>Robot Car-</a:t>
            </a:r>
            <a:r>
              <a:rPr lang="en-US" sz="3200">
                <a:solidFill>
                  <a:schemeClr val="accent5"/>
                </a:solidFill>
              </a:rPr>
              <a:t>1</a:t>
            </a:r>
            <a:r>
              <a:rPr lang="en-GB" sz="3200">
                <a:solidFill>
                  <a:schemeClr val="accent5"/>
                </a:solidFill>
              </a:rPr>
              <a:t> </a:t>
            </a:r>
            <a:r>
              <a:rPr lang="en-US" sz="3200">
                <a:solidFill>
                  <a:schemeClr val="accent5"/>
                </a:solidFill>
              </a:rPr>
              <a:t>Sensor</a:t>
            </a:r>
            <a:endParaRPr/>
          </a:p>
          <a:p>
            <a:pPr>
              <a:defRPr/>
            </a:pP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lang="en-GB" sz="3200">
                <a:solidFill>
                  <a:schemeClr val="bg1"/>
                </a:solidFill>
              </a:rPr>
              <a:t> Car Basic Movements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28111084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925249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106" y="42547"/>
            <a:ext cx="10515600" cy="1132499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 Car Basic Movements</a:t>
            </a:r>
            <a:endParaRPr/>
          </a:p>
        </p:txBody>
      </p:sp>
      <p:sp>
        <p:nvSpPr>
          <p:cNvPr id="45794543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30280" y="1175046"/>
            <a:ext cx="11023517" cy="55725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EARNING OBJECTIVES &amp; AGENDA</a:t>
            </a:r>
            <a:r>
              <a:rPr sz="1200" b="1" i="0" u="none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DC Motor Control</a:t>
            </a:r>
            <a:endParaRPr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Understanding Motor Operation: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Learn how to control the direction and speed of DC motors using an H-Bridge circuit.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(TB6612 Motor driver)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 for Speed Control: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Grasp the concept of Pulse Width Modulation (PWM) to adjust motor speeds effectively.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 Direction Control: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Understand how to manipulate motor polarity to achieve forward, backward, left, and right movements.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Programming Basics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Arduino Programming: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Gain experience in writing and debugging code for hardware control.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Function Creation: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Learn to create functions to encapsulate motor control commands, promoting code re-usability and organization.</a:t>
            </a:r>
            <a:endParaRPr sz="24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457200" lvl="1" indent="0">
              <a:buFont typeface="Arial"/>
              <a:buNone/>
              <a:defRPr/>
            </a:pPr>
            <a:r>
              <a:rPr lang="en-US" sz="2400" b="1" i="0" u="none" strike="noStrike" cap="none" spc="0">
                <a:solidFill>
                  <a:schemeClr val="accent4">
                    <a:lumMod val="60000"/>
                    <a:lumOff val="40000"/>
                  </a:schemeClr>
                </a:solidFill>
                <a:latin typeface="Aptos Display"/>
                <a:ea typeface="Aptos Display"/>
                <a:cs typeface="Aptos Display"/>
              </a:rPr>
              <a:t>Key insight:</a:t>
            </a:r>
            <a:r>
              <a:rPr lang="en-US" sz="2400" b="0" i="0" u="none" strike="noStrike" cap="none" spc="0">
                <a:solidFill>
                  <a:schemeClr val="accent4">
                    <a:lumMod val="60000"/>
                    <a:lumOff val="40000"/>
                  </a:schemeClr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4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 is the backbone of modern motor control systems worldwide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especially for </a:t>
            </a: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 speed control</a:t>
            </a:r>
            <a:endParaRPr sz="24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Same technology used in electric vehicles and industrial robots</a:t>
            </a:r>
            <a:endParaRPr/>
          </a:p>
        </p:txBody>
      </p:sp>
      <p:pic>
        <p:nvPicPr>
          <p:cNvPr id="57648795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27431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106" y="42547"/>
            <a:ext cx="10515600" cy="1132499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Car Basic Movements</a:t>
            </a:r>
            <a:endParaRPr/>
          </a:p>
        </p:txBody>
      </p:sp>
      <p:sp>
        <p:nvSpPr>
          <p:cNvPr id="190533945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30280" y="1175046"/>
            <a:ext cx="11023517" cy="55725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EARNING OBJECTIVES &amp; AGENDA</a:t>
            </a:r>
            <a:endParaRPr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Real-Time Feedback via Serial Monitor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Debugging with Serial Output: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Use the Serial Monitor for real-time feedback during testing and debugging, allowing observation of the current state of the car.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Outcomes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By the end of this project, students will be able to: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 the movement of a robotic car using Arduino.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Implement PWM for speed control of DC motors.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Develop and debug simple Arduino programs that interface with hardware.</a:t>
            </a:r>
            <a:endParaRPr sz="24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Conclusion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project provides foundational skills in robotics, focusing on motor control and basic programming with Arduino. Students will gain practical experience in controlling a robotic car, preparing them for more advanced robotics concepts.</a:t>
            </a:r>
            <a:endParaRPr sz="24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30205368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99158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4" y="-35461"/>
            <a:ext cx="10515600" cy="1103685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Car Basic Movements</a:t>
            </a:r>
            <a:endParaRPr/>
          </a:p>
        </p:txBody>
      </p:sp>
      <p:sp>
        <p:nvSpPr>
          <p:cNvPr id="52666010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50" y="961401"/>
            <a:ext cx="11643644" cy="57951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Car-1 - Assembled view and Creative Board component layout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39197794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pic>
        <p:nvPicPr>
          <p:cNvPr id="52326172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25209" y="2266988"/>
            <a:ext cx="5087324" cy="3866577"/>
          </a:xfrm>
          <a:prstGeom prst="rect">
            <a:avLst/>
          </a:prstGeom>
        </p:spPr>
      </p:pic>
      <p:sp>
        <p:nvSpPr>
          <p:cNvPr id="1910738180" name=""/>
          <p:cNvSpPr/>
          <p:nvPr/>
        </p:nvSpPr>
        <p:spPr bwMode="auto">
          <a:xfrm flipH="0" flipV="0">
            <a:off x="4567568" y="3009009"/>
            <a:ext cx="1329015" cy="169133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56826981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5896584" y="1914512"/>
            <a:ext cx="5606709" cy="4571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63983" name="Title 1"/>
          <p:cNvSpPr>
            <a:spLocks noGrp="1"/>
          </p:cNvSpPr>
          <p:nvPr>
            <p:ph type="title"/>
          </p:nvPr>
        </p:nvSpPr>
        <p:spPr bwMode="auto">
          <a:xfrm>
            <a:off x="185439" y="-37569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71391392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7" y="976600"/>
            <a:ext cx="11609029" cy="580888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</a:rPr>
              <a:t>Hardware System components </a:t>
            </a:r>
            <a:r>
              <a:rPr lang="en-US" sz="2800">
                <a:solidFill>
                  <a:schemeClr val="bg1"/>
                </a:solidFill>
              </a:rPr>
              <a:t> – Forward &amp; </a:t>
            </a:r>
            <a:r>
              <a:rPr sz="2800" b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downward-facing IR sensors</a:t>
            </a:r>
            <a:endParaRPr/>
          </a:p>
        </p:txBody>
      </p:sp>
      <p:pic>
        <p:nvPicPr>
          <p:cNvPr id="54085395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pic>
        <p:nvPicPr>
          <p:cNvPr id="2616726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643783" y="1498118"/>
            <a:ext cx="4905374" cy="1848984"/>
          </a:xfrm>
          <a:prstGeom prst="rect">
            <a:avLst/>
          </a:prstGeom>
        </p:spPr>
      </p:pic>
      <p:pic>
        <p:nvPicPr>
          <p:cNvPr id="1547297060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299739" y="1486611"/>
            <a:ext cx="5143500" cy="1860490"/>
          </a:xfrm>
          <a:prstGeom prst="rect">
            <a:avLst/>
          </a:prstGeom>
        </p:spPr>
      </p:pic>
      <p:graphicFrame>
        <p:nvGraphicFramePr>
          <p:cNvPr id="131715852" name=""/>
          <p:cNvGraphicFramePr>
            <a:graphicFrameLocks xmlns:a="http://schemas.openxmlformats.org/drawingml/2006/main"/>
          </p:cNvGraphicFramePr>
          <p:nvPr/>
        </p:nvGraphicFramePr>
        <p:xfrm>
          <a:off x="302665" y="3429000"/>
          <a:ext cx="10281148" cy="2350286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053689"/>
                <a:gridCol w="2053689"/>
                <a:gridCol w="2053689"/>
                <a:gridCol w="2053689"/>
                <a:gridCol w="2053689"/>
              </a:tblGrid>
              <a:tr h="313022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 Type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Mounting Position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What It Detects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Working Principle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Main Purpose / Benefit</a:t>
                      </a:r>
                      <a:endParaRPr/>
                    </a:p>
                  </a:txBody>
                  <a:tcPr vert="horz"/>
                </a:tc>
              </a:tr>
              <a:tr h="104942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Downward-Facing IR Sensors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Mounted underneath the robot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Edges, pits, stairs, floor color changes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Light surface → high reflection → sensor ONDark surface / no floor → low or no reflection → sensor OFF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Prevents falling and unsafe movement; ensures floor safety</a:t>
                      </a:r>
                      <a:endParaRPr/>
                    </a:p>
                  </a:txBody>
                  <a:tcPr vert="horz"/>
                </a:tc>
              </a:tr>
              <a:tr h="97514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Forward-Facing IR Sensors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Mounted facing forward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Nearby obstacles, walls, objects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Object close → strong IR reflection → sensor ONObject far → weak or no reflection → sensor OFF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Quick detection of obstacles for collision avoidance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961452045" name=""/>
          <p:cNvSpPr/>
          <p:nvPr/>
        </p:nvSpPr>
        <p:spPr bwMode="auto">
          <a:xfrm flipH="0" flipV="0">
            <a:off x="277250" y="5779287"/>
            <a:ext cx="10476555" cy="100620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000" b="1" i="0" u="none">
                <a:solidFill>
                  <a:schemeClr val="bg1"/>
                </a:solidFill>
                <a:highlight>
                  <a:srgbClr val="FF0000"/>
                </a:highlight>
                <a:latin typeface="Aptos Display"/>
                <a:ea typeface="Aptos Display"/>
                <a:cs typeface="Aptos Display"/>
              </a:rPr>
              <a:t>Note:</a:t>
            </a: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Always keep the </a:t>
            </a:r>
            <a:r>
              <a:rPr sz="2000" b="1" i="1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“Motor Driver Standby/ON switch</a:t>
            </a:r>
            <a:r>
              <a:rPr sz="2000" b="1" i="1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(12)</a:t>
            </a: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in Standby mode</a:t>
            </a: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during programming and IR sensor calibration. IR sensors are sensitive and require careful calibration to accurately understand the environment.</a:t>
            </a:r>
            <a:endParaRPr sz="28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1773549" name="Title 1"/>
          <p:cNvSpPr>
            <a:spLocks noGrp="1"/>
          </p:cNvSpPr>
          <p:nvPr>
            <p:ph type="title"/>
          </p:nvPr>
        </p:nvSpPr>
        <p:spPr bwMode="auto">
          <a:xfrm>
            <a:off x="579528" y="10696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1 – Car Basic Movements</a:t>
            </a:r>
            <a:endParaRPr/>
          </a:p>
        </p:txBody>
      </p:sp>
      <p:sp>
        <p:nvSpPr>
          <p:cNvPr id="186945522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09778" y="1094928"/>
            <a:ext cx="10898892" cy="562598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What do L, LC(C1), RC(C2), R mean?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70939999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graphicFrame>
        <p:nvGraphicFramePr>
          <p:cNvPr id="1573247495" name=""/>
          <p:cNvGraphicFramePr>
            <a:graphicFrameLocks xmlns:a="http://schemas.openxmlformats.org/drawingml/2006/main"/>
          </p:cNvGraphicFramePr>
          <p:nvPr/>
        </p:nvGraphicFramePr>
        <p:xfrm>
          <a:off x="525081" y="1600329"/>
          <a:ext cx="8140698" cy="4601715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8"/>
                <a:gridCol w="4063998"/>
              </a:tblGrid>
              <a:tr h="372700">
                <a:tc gridSpan="2">
                  <a:txBody>
                    <a:bodyPr/>
                    <a:p>
                      <a:pPr>
                        <a:defRPr/>
                      </a:pPr>
                      <a:r>
                        <a:rPr sz="1400"/>
                        <a:t>Sensor Meanings</a:t>
                      </a:r>
                      <a:endParaRPr sz="1400"/>
                    </a:p>
                  </a:txBody>
                  <a:tcPr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  <a:tr h="2100831"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L – Left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on the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far left</a:t>
                      </a:r>
                      <a:endParaRPr sz="1200" b="1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wall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Left edge of line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Obstacle on left side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Wall following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Line correction from left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LC(C1) – Left-Center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slightly left of center</a:t>
                      </a:r>
                      <a:endParaRPr sz="12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Objects slightly ahead on the left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Fine correction when robot drifts left/right</a:t>
                      </a:r>
                      <a:endParaRPr sz="1200"/>
                    </a:p>
                  </a:txBody>
                  <a:tcPr/>
                </a:tc>
              </a:tr>
              <a:tr h="1879195"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 – Right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on the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far right</a:t>
                      </a:r>
                      <a:endParaRPr sz="1200" b="1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Right wall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Right edge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Obstacle on right side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Avoiding right-side collisions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RC(C2) – Right-Center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slightly right of center</a:t>
                      </a:r>
                      <a:endParaRPr sz="1200" b="0" i="0" u="none" strike="noStrike" cap="none" spc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  Objects slightly ahead on the right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   Fine correction from the right side</a:t>
                      </a:r>
                      <a:endParaRPr sz="120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219030170" name=""/>
          <p:cNvGraphicFramePr>
            <a:graphicFrameLocks xmlns:a="http://schemas.openxmlformats.org/drawingml/2006/main"/>
          </p:cNvGraphicFramePr>
          <p:nvPr/>
        </p:nvGraphicFramePr>
        <p:xfrm>
          <a:off x="8742676" y="5103487"/>
          <a:ext cx="2414765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912735"/>
                <a:gridCol w="1489330"/>
              </a:tblGrid>
              <a:tr h="16573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Signal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Meaning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 (1)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obstacle / clear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 (0)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detected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984894443" name=""/>
          <p:cNvSpPr/>
          <p:nvPr/>
        </p:nvSpPr>
        <p:spPr bwMode="auto">
          <a:xfrm flipH="0" flipV="0">
            <a:off x="394667" y="6061531"/>
            <a:ext cx="11130194" cy="8842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highlight>
                  <a:srgbClr val="FF0000"/>
                </a:highlight>
              </a:rPr>
              <a:t>Note:</a:t>
            </a:r>
            <a:r>
              <a:rPr sz="2800">
                <a:solidFill>
                  <a:schemeClr val="bg1"/>
                </a:solidFill>
              </a:rPr>
              <a:t> 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sensors must be calibrated before each experiment due to surface and lighting variations</a:t>
            </a:r>
            <a:endParaRPr sz="28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3739545" name="Title 1"/>
          <p:cNvSpPr>
            <a:spLocks noGrp="1"/>
          </p:cNvSpPr>
          <p:nvPr>
            <p:ph type="title"/>
          </p:nvPr>
        </p:nvSpPr>
        <p:spPr bwMode="auto">
          <a:xfrm>
            <a:off x="105322" y="42546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1 – Car Basic Movements</a:t>
            </a:r>
            <a:endParaRPr/>
          </a:p>
        </p:txBody>
      </p:sp>
      <p:sp>
        <p:nvSpPr>
          <p:cNvPr id="91547884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68477" y="1201754"/>
            <a:ext cx="11295961" cy="55814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Hardware System components</a:t>
            </a:r>
            <a:r>
              <a:rPr lang="en-US"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Ultrasonic Sensor &amp; Servo Mechanism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Ultrasonic sensor mounted on a </a:t>
            </a: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servo motor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for dynamic environment scanning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Servo enables </a:t>
            </a: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angular rotation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 expanding the sensor’s field of view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Provides </a:t>
            </a: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real-time distance measurements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to detect obstacles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Enhances </a:t>
            </a: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decision-making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for obstacle avoidance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Enables intelligent and responsive navigation</a:t>
            </a:r>
            <a:endParaRPr/>
          </a:p>
        </p:txBody>
      </p:sp>
      <p:pic>
        <p:nvPicPr>
          <p:cNvPr id="208258190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pic>
        <p:nvPicPr>
          <p:cNvPr id="208135791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944821" y="3694275"/>
            <a:ext cx="3169976" cy="3035537"/>
          </a:xfrm>
          <a:prstGeom prst="rect">
            <a:avLst/>
          </a:prstGeom>
        </p:spPr>
      </p:pic>
      <p:sp>
        <p:nvSpPr>
          <p:cNvPr id="1689327439" name=""/>
          <p:cNvSpPr/>
          <p:nvPr/>
        </p:nvSpPr>
        <p:spPr bwMode="auto">
          <a:xfrm flipH="0" flipV="0">
            <a:off x="268476" y="4571108"/>
            <a:ext cx="7553317" cy="1798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highlight>
                  <a:srgbClr val="FF0000"/>
                </a:highlight>
                <a:latin typeface="Aptos Display"/>
                <a:ea typeface="Aptos Display"/>
                <a:cs typeface="Aptos Display"/>
              </a:rPr>
              <a:t>Note: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Keep the ultrasonic sensor permanently mounted. Repeated dismantling and re-fixing may cause damage; once mounted, avoid unnecessary handling.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708481" name="Title 1"/>
          <p:cNvSpPr>
            <a:spLocks noGrp="1"/>
          </p:cNvSpPr>
          <p:nvPr>
            <p:ph type="title"/>
          </p:nvPr>
        </p:nvSpPr>
        <p:spPr bwMode="auto">
          <a:xfrm>
            <a:off x="105322" y="42546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1 – Car Basic Movements</a:t>
            </a:r>
            <a:endParaRPr/>
          </a:p>
        </p:txBody>
      </p:sp>
      <p:sp>
        <p:nvSpPr>
          <p:cNvPr id="110713408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68477" y="1068226"/>
            <a:ext cx="11295961" cy="55814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Hardware System components</a:t>
            </a:r>
            <a:r>
              <a:rPr lang="en-US" sz="2800">
                <a:solidFill>
                  <a:schemeClr val="bg1"/>
                </a:solidFill>
              </a:rPr>
              <a:t> –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Wheels &amp; DC Motors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137119221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391975876" name=""/>
          <p:cNvSpPr/>
          <p:nvPr/>
        </p:nvSpPr>
        <p:spPr bwMode="auto">
          <a:xfrm flipH="0" flipV="0">
            <a:off x="648373" y="5704454"/>
            <a:ext cx="8887877" cy="9452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highlight>
                  <a:srgbClr val="FF0000"/>
                </a:highlight>
                <a:latin typeface="Aptos Display"/>
                <a:ea typeface="Aptos Display"/>
                <a:cs typeface="Aptos Display"/>
              </a:rPr>
              <a:t>Note: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Most of the components come pre-assembled. Avoid dismantling and unnecessary handling.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141102492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77258" y="1611061"/>
            <a:ext cx="9429750" cy="1353260"/>
          </a:xfrm>
          <a:prstGeom prst="rect">
            <a:avLst/>
          </a:prstGeom>
        </p:spPr>
      </p:pic>
      <p:graphicFrame>
        <p:nvGraphicFramePr>
          <p:cNvPr id="1448349258" name=""/>
          <p:cNvGraphicFramePr>
            <a:graphicFrameLocks xmlns:a="http://schemas.openxmlformats.org/drawingml/2006/main"/>
          </p:cNvGraphicFramePr>
          <p:nvPr/>
        </p:nvGraphicFramePr>
        <p:xfrm>
          <a:off x="527405" y="3235781"/>
          <a:ext cx="5956299" cy="20243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520000"/>
                <a:gridCol w="3387452"/>
                <a:gridCol w="2953726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Function / Role</a:t>
                      </a:r>
                      <a:endParaRPr/>
                    </a:p>
                  </a:txBody>
                  <a:tcPr vert="horz"/>
                </a:tc>
              </a:tr>
              <a:tr h="64008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Two Rear Wheels (Drive Wheels)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Wheels connected to DC gear motors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Provide movement and enable turning using differential drive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Dual DC Gear Motors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TT DC motors (~130 RPM)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Control forward, reverse, left/right turns, and rotation</a:t>
                      </a:r>
                      <a:endParaRPr/>
                    </a:p>
                  </a:txBody>
                  <a:tcPr vert="horz"/>
                </a:tc>
              </a:tr>
              <a:tr h="64008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Front Caster Wheel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Free-rolling metal ball caster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Supports front weight and allows smooth, friction-free movement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27318" name="Title 1"/>
          <p:cNvSpPr>
            <a:spLocks noGrp="1"/>
          </p:cNvSpPr>
          <p:nvPr>
            <p:ph type="title"/>
          </p:nvPr>
        </p:nvSpPr>
        <p:spPr bwMode="auto">
          <a:xfrm>
            <a:off x="357495" y="98734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1 – Car Basic Movements</a:t>
            </a:r>
            <a:endParaRPr/>
          </a:p>
        </p:txBody>
      </p:sp>
      <p:sp>
        <p:nvSpPr>
          <p:cNvPr id="184697397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4572" y="1103828"/>
            <a:ext cx="11196689" cy="557257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Arduino Component–Pin Mapping Table       OLED Configuration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47443838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graphicFrame>
        <p:nvGraphicFramePr>
          <p:cNvPr id="519014635" name=""/>
          <p:cNvGraphicFramePr>
            <a:graphicFrameLocks xmlns:a="http://schemas.openxmlformats.org/drawingml/2006/main"/>
          </p:cNvGraphicFramePr>
          <p:nvPr/>
        </p:nvGraphicFramePr>
        <p:xfrm>
          <a:off x="618817" y="1557140"/>
          <a:ext cx="5817984" cy="174723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100485"/>
                <a:gridCol w="1891783"/>
                <a:gridCol w="1813015"/>
              </a:tblGrid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Pin(s)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Function</a:t>
                      </a:r>
                      <a:endParaRPr/>
                    </a:p>
                  </a:txBody>
                  <a:tcPr vert="horz"/>
                </a:tc>
              </a:tr>
              <a:tr h="52277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Sensors (Left / LC / RC / Right)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A0, A1, A2, 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detection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(IN1–IN4)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8, 7, 4, 3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Direction control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(ENA, ENB)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6, 5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control (PWM)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 (SDA, 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A4 (SDA), A5 (SCL)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Display interface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1067132929" name=""/>
          <p:cNvGraphicFramePr>
            <a:graphicFrameLocks xmlns:a="http://schemas.openxmlformats.org/drawingml/2006/main"/>
          </p:cNvGraphicFramePr>
          <p:nvPr/>
        </p:nvGraphicFramePr>
        <p:xfrm>
          <a:off x="609913" y="5372214"/>
          <a:ext cx="5826889" cy="13842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846593"/>
                <a:gridCol w="1203490"/>
                <a:gridCol w="2423301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Purpose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(L)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edge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(LC)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(RC)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(R)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edge detection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783230691" name=""/>
          <p:cNvSpPr/>
          <p:nvPr/>
        </p:nvSpPr>
        <p:spPr bwMode="auto">
          <a:xfrm flipH="0" flipV="0">
            <a:off x="532223" y="4486541"/>
            <a:ext cx="6749133" cy="7928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endParaRPr/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Sensors Pin Configuration</a:t>
            </a:r>
            <a:endParaRPr sz="36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1286863752" name=""/>
          <p:cNvGraphicFramePr>
            <a:graphicFrameLocks xmlns:a="http://schemas.openxmlformats.org/drawingml/2006/main"/>
          </p:cNvGraphicFramePr>
          <p:nvPr/>
        </p:nvGraphicFramePr>
        <p:xfrm>
          <a:off x="618817" y="3871139"/>
          <a:ext cx="4356111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408690"/>
                <a:gridCol w="533357"/>
                <a:gridCol w="711561"/>
                <a:gridCol w="1689801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(Speed Control)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/>
                    </a:p>
                  </a:txBody>
                  <a:tcPr vert="horz" anchor="ctr"/>
                </a:tc>
              </a:tr>
            </a:tbl>
          </a:graphicData>
        </a:graphic>
      </p:graphicFrame>
      <p:sp>
        <p:nvSpPr>
          <p:cNvPr id="1185720244" name=""/>
          <p:cNvSpPr txBox="1"/>
          <p:nvPr/>
        </p:nvSpPr>
        <p:spPr bwMode="auto">
          <a:xfrm flipH="0" flipV="0">
            <a:off x="6004379" y="3246120"/>
            <a:ext cx="183240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1846425600" name=""/>
          <p:cNvSpPr/>
          <p:nvPr/>
        </p:nvSpPr>
        <p:spPr bwMode="auto">
          <a:xfrm flipH="0" flipV="0">
            <a:off x="618817" y="3352619"/>
            <a:ext cx="4828224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Driver Pin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Configuration</a:t>
            </a:r>
            <a:endParaRPr/>
          </a:p>
        </p:txBody>
      </p:sp>
      <p:sp>
        <p:nvSpPr>
          <p:cNvPr id="926461040" name=""/>
          <p:cNvSpPr txBox="1"/>
          <p:nvPr/>
        </p:nvSpPr>
        <p:spPr bwMode="auto">
          <a:xfrm flipH="0" flipV="0">
            <a:off x="6383391" y="3429000"/>
            <a:ext cx="5335355" cy="29264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b="1" i="0" u="none">
                <a:solidFill>
                  <a:schemeClr val="bg1"/>
                </a:solidFill>
                <a:highlight>
                  <a:srgbClr val="FF0000"/>
                </a:highlight>
                <a:latin typeface="Times New Roman"/>
                <a:ea typeface="Times New Roman"/>
                <a:cs typeface="Times New Roman"/>
              </a:rPr>
              <a:t>Note: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Downward IR sensors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detect lines, floor edges, and pits.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while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forward IR sensors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detect walls and nearby obstacles.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394023" indent="-394023" algn="l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 the “</a:t>
            </a:r>
            <a:r>
              <a:rPr sz="2800" b="1" i="1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Line/Wall Following Switch(2)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to select the mode.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1512956846" name=""/>
          <p:cNvGraphicFramePr>
            <a:graphicFrameLocks xmlns:a="http://schemas.openxmlformats.org/drawingml/2006/main"/>
          </p:cNvGraphicFramePr>
          <p:nvPr/>
        </p:nvGraphicFramePr>
        <p:xfrm>
          <a:off x="7039078" y="1607523"/>
          <a:ext cx="3508374" cy="12928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335404"/>
                <a:gridCol w="2160270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Connection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I2C (SDA, SCL) → A4, A5</a:t>
                      </a:r>
                      <a:endParaRPr/>
                    </a:p>
                  </a:txBody>
                  <a:tcPr vert="horz"/>
                </a:tc>
              </a:tr>
              <a:tr h="2108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Servo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Signal → Pin 9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Ultrasonic Sensor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Trig → Pin 10, Echo → Pin 11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590950" name="Title 1"/>
          <p:cNvSpPr>
            <a:spLocks noGrp="1"/>
          </p:cNvSpPr>
          <p:nvPr>
            <p:ph type="title"/>
          </p:nvPr>
        </p:nvSpPr>
        <p:spPr bwMode="auto">
          <a:xfrm>
            <a:off x="126048" y="4254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Car Basic Movements</a:t>
            </a:r>
            <a:endParaRPr/>
          </a:p>
        </p:txBody>
      </p:sp>
      <p:sp>
        <p:nvSpPr>
          <p:cNvPr id="108660538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12476" y="1308573"/>
            <a:ext cx="10854381" cy="539453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lang="en-GB" sz="2800" b="0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Schematics</a:t>
            </a: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 :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 Driver Pin Configuration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GB"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Left Motor: IN1=7, IN2=8, PWM=6</a:t>
            </a:r>
            <a:endParaRPr sz="2800"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GB"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Right Motor: IN1=3, IN2=4, PWM=5</a:t>
            </a:r>
            <a:endParaRPr sz="2800"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GB"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VM → Battery, GND shared, VCC→5V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 Logic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Move Forward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IN1 = HIGH, IN2 = LOW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Move Backward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IN1 = LOW, IN2 = HIGH</a:t>
            </a:r>
            <a:endParaRPr sz="1400" b="1" i="0" u="none">
              <a:solidFill>
                <a:srgbClr val="000000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Concepts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HIGH/LOW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Control motor direction.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PWM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Adjusts motor speed.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</p:txBody>
      </p:sp>
      <p:pic>
        <p:nvPicPr>
          <p:cNvPr id="87478153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909595" name="Title 1"/>
          <p:cNvSpPr>
            <a:spLocks noGrp="1"/>
          </p:cNvSpPr>
          <p:nvPr>
            <p:ph type="title"/>
          </p:nvPr>
        </p:nvSpPr>
        <p:spPr bwMode="auto">
          <a:xfrm>
            <a:off x="295034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26306912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4" y="765121"/>
            <a:ext cx="11196689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STANDBY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Safety first during programming!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4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WALL FOLLOWING MODE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Pit avoidance uses the same sensor array as line following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Switch must be in "Line Following" position for downward sensors to work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Wrong position = sensors won't be read correctly</a:t>
            </a:r>
            <a:endParaRPr/>
          </a:p>
        </p:txBody>
      </p:sp>
      <p:pic>
        <p:nvPicPr>
          <p:cNvPr id="58799886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368999250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0032073" name="Title 1"/>
          <p:cNvSpPr>
            <a:spLocks noGrp="1"/>
          </p:cNvSpPr>
          <p:nvPr>
            <p:ph type="title"/>
          </p:nvPr>
        </p:nvSpPr>
        <p:spPr bwMode="auto">
          <a:xfrm>
            <a:off x="295034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24799818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4" y="765121"/>
            <a:ext cx="11620618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</a:t>
            </a: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ch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STANDBY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LINE FOLLOWING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Upload your pit avoidance program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Wait for "Upload Complete" message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7: Disconnect USB cable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Verify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-&gt;  WALL FOLLOWING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activate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(  motor driver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Set Switch “</a:t>
            </a:r>
            <a:r>
              <a:rPr sz="2800" b="1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-&gt;for batter power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Press </a:t>
            </a:r>
            <a:r>
              <a:rPr sz="2400" b="0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RESET 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button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Robot car-1 starts pit avoidance program</a:t>
            </a:r>
            <a:endParaRPr/>
          </a:p>
        </p:txBody>
      </p:sp>
      <p:pic>
        <p:nvPicPr>
          <p:cNvPr id="204623520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299790000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2583337" name="Title 1"/>
          <p:cNvSpPr>
            <a:spLocks noGrp="1"/>
          </p:cNvSpPr>
          <p:nvPr>
            <p:ph type="title"/>
          </p:nvPr>
        </p:nvSpPr>
        <p:spPr bwMode="auto">
          <a:xfrm>
            <a:off x="474572" y="-48641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Car Basic Movements</a:t>
            </a:r>
            <a:endParaRPr/>
          </a:p>
        </p:txBody>
      </p:sp>
      <p:sp>
        <p:nvSpPr>
          <p:cNvPr id="22503829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76651" y="979204"/>
            <a:ext cx="10515600" cy="585332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marR="0" indent="0">
              <a:spcBef>
                <a:spcPts val="2699"/>
              </a:spcBef>
              <a:defRPr/>
            </a:pP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Algorithm - Movement Control Logic</a:t>
            </a: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21252212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graphicFrame>
        <p:nvGraphicFramePr>
          <p:cNvPr id="1884975130" name=""/>
          <p:cNvGraphicFramePr>
            <a:graphicFrameLocks xmlns:a="http://schemas.openxmlformats.org/drawingml/2006/main"/>
          </p:cNvGraphicFramePr>
          <p:nvPr/>
        </p:nvGraphicFramePr>
        <p:xfrm>
          <a:off x="567371" y="1522086"/>
          <a:ext cx="10422801" cy="2919303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813924"/>
                <a:gridCol w="2004864"/>
                <a:gridCol w="2100333"/>
                <a:gridCol w="1460876"/>
                <a:gridCol w="3030104"/>
              </a:tblGrid>
              <a:tr h="42917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Movement Command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(IN1 / IN2)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Motor (IN3 / IN4)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(ENA / ENB)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/>
                    </a:p>
                  </a:txBody>
                  <a:tcPr vert="horz"/>
                </a:tc>
              </a:tr>
              <a:tr h="51287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HIGH IN2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HIGH IN4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rotate forward at the same speed</a:t>
                      </a:r>
                      <a:endParaRPr/>
                    </a:p>
                  </a:txBody>
                  <a:tcPr vert="horz"/>
                </a:tc>
              </a:tr>
              <a:tr h="44260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rotate backward at the same speed</a:t>
                      </a:r>
                      <a:endParaRPr/>
                    </a:p>
                  </a:txBody>
                  <a:tcPr vert="horz"/>
                </a:tc>
              </a:tr>
              <a:tr h="42917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LEFT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HIGH IN4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backward, right motor forward (pivot turn)</a:t>
                      </a:r>
                      <a:endParaRPr/>
                    </a:p>
                  </a:txBody>
                  <a:tcPr vert="horz"/>
                </a:tc>
              </a:tr>
              <a:tr h="45748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RIGHT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HIGH IN2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forward, right motor backward (pivot turn)</a:t>
                      </a:r>
                      <a:endParaRPr/>
                    </a:p>
                  </a:txBody>
                  <a:tcPr vert="horz"/>
                </a:tc>
              </a:tr>
              <a:tr h="56464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disabled, no movement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260580786" name=""/>
          <p:cNvGraphicFramePr>
            <a:graphicFrameLocks xmlns:a="http://schemas.openxmlformats.org/drawingml/2006/main"/>
          </p:cNvGraphicFramePr>
          <p:nvPr/>
        </p:nvGraphicFramePr>
        <p:xfrm>
          <a:off x="741050" y="5051059"/>
          <a:ext cx="7152639" cy="158069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188719"/>
                <a:gridCol w="1188719"/>
                <a:gridCol w="1188719"/>
                <a:gridCol w="1188719"/>
                <a:gridCol w="1188719"/>
                <a:gridCol w="1196339"/>
              </a:tblGrid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A Direction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IN4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B Direction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→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→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←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←</a:t>
                      </a:r>
                      <a:endParaRPr/>
                    </a:p>
                  </a:txBody>
                  <a:tcPr vert="horz" anchor="ctr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⛔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⛔</a:t>
                      </a:r>
                      <a:endParaRPr/>
                    </a:p>
                  </a:txBody>
                  <a:tcPr vert="horz" anchor="ctr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Brake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⚠️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Brake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⚠️</a:t>
                      </a:r>
                      <a:endParaRPr/>
                    </a:p>
                  </a:txBody>
                  <a:tcPr vert="horz" anchor="ctr"/>
                </a:tc>
              </a:tr>
            </a:tbl>
          </a:graphicData>
        </a:graphic>
      </p:graphicFrame>
      <p:sp>
        <p:nvSpPr>
          <p:cNvPr id="437573734" name=""/>
          <p:cNvSpPr/>
          <p:nvPr/>
        </p:nvSpPr>
        <p:spPr bwMode="auto">
          <a:xfrm flipH="0" flipV="0">
            <a:off x="741050" y="4441391"/>
            <a:ext cx="7291146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>
                    <a:lumMod val="95000"/>
                  </a:schemeClr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2800" b="0" i="0" u="none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H-Bridge Motor Control Principl</a:t>
            </a:r>
            <a:r>
              <a:rPr sz="2800" b="0" i="0" u="none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e: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923203" name="Title 1"/>
          <p:cNvSpPr>
            <a:spLocks noGrp="1"/>
          </p:cNvSpPr>
          <p:nvPr>
            <p:ph type="title"/>
          </p:nvPr>
        </p:nvSpPr>
        <p:spPr bwMode="auto">
          <a:xfrm>
            <a:off x="474572" y="-48641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15092477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4572" y="899088"/>
            <a:ext cx="10515600" cy="585332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marR="0" indent="0">
              <a:spcBef>
                <a:spcPts val="2698"/>
              </a:spcBef>
              <a:defRPr/>
            </a:pP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Flowchart - </a:t>
            </a: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1552054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pic>
        <p:nvPicPr>
          <p:cNvPr id="101361287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320397" y="926481"/>
            <a:ext cx="3000375" cy="5825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611999" name="Title 1"/>
          <p:cNvSpPr>
            <a:spLocks noGrp="1"/>
          </p:cNvSpPr>
          <p:nvPr>
            <p:ph type="title"/>
          </p:nvPr>
        </p:nvSpPr>
        <p:spPr bwMode="auto">
          <a:xfrm>
            <a:off x="341043" y="-232066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94343514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4455" y="810069"/>
            <a:ext cx="10515600" cy="585332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marR="0" indent="0">
              <a:spcBef>
                <a:spcPts val="2698"/>
              </a:spcBef>
              <a:defRPr/>
            </a:pP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Code Highlight – </a:t>
            </a:r>
            <a:r>
              <a:rPr sz="2800" b="1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Mail loop</a:t>
            </a:r>
            <a:r>
              <a:rPr sz="2800" b="1">
                <a:solidFill>
                  <a:schemeClr val="bg1">
                    <a:lumMod val="95000"/>
                  </a:schemeClr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0" i="0" u="none">
                <a:solidFill>
                  <a:schemeClr val="bg1">
                    <a:lumMod val="95000"/>
                  </a:schemeClr>
                </a:solidFill>
                <a:latin typeface="Aptos Display"/>
                <a:ea typeface="Aptos Display"/>
                <a:cs typeface="Aptos Display"/>
              </a:rPr>
              <a:t>         </a:t>
            </a: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Direction Control (Example)</a:t>
            </a: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buFont typeface="Arial"/>
              <a:buNone/>
              <a:defRPr/>
            </a:pPr>
            <a:endParaRPr sz="2800" b="1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61603378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pic>
        <p:nvPicPr>
          <p:cNvPr id="207121300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916892" y="1233385"/>
            <a:ext cx="3324223" cy="5006690"/>
          </a:xfrm>
          <a:prstGeom prst="rect">
            <a:avLst/>
          </a:prstGeom>
        </p:spPr>
      </p:pic>
      <p:pic>
        <p:nvPicPr>
          <p:cNvPr id="207022675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5118574" y="1204912"/>
            <a:ext cx="2943224" cy="2409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9264240" name="Title 1"/>
          <p:cNvSpPr>
            <a:spLocks noGrp="1"/>
          </p:cNvSpPr>
          <p:nvPr>
            <p:ph type="title"/>
          </p:nvPr>
        </p:nvSpPr>
        <p:spPr bwMode="auto">
          <a:xfrm>
            <a:off x="571142" y="42547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8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84892662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7" y="1255163"/>
            <a:ext cx="10515600" cy="492179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Common Troubleshooting</a:t>
            </a:r>
            <a:endParaRPr sz="2000">
              <a:solidFill>
                <a:schemeClr val="bg1"/>
              </a:solidFill>
            </a:endParaRPr>
          </a:p>
          <a:p>
            <a:pPr marL="0" marR="0" indent="0">
              <a:spcBef>
                <a:spcPts val="899"/>
              </a:spcBef>
              <a:defRPr/>
            </a:pPr>
            <a:r>
              <a:rPr sz="28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Robot moves in circles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Check motor polarity (swap IN1/IN2 if needed)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spcBef>
                <a:spcPts val="599"/>
              </a:spcBef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Calibrate motor speeds (add trim values)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0" marR="0" indent="0">
              <a:spcBef>
                <a:spcPts val="1199"/>
              </a:spcBef>
              <a:defRPr/>
            </a:pPr>
            <a:r>
              <a:rPr sz="28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Motors don't move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Verify power supply (VM to battery)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spcBef>
                <a:spcPts val="599"/>
              </a:spcBef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Check motor driver connections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spcBef>
                <a:spcPts val="599"/>
              </a:spcBef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Test with higher PWM values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0" marR="0" indent="0">
              <a:spcBef>
                <a:spcPts val="1199"/>
              </a:spcBef>
              <a:defRPr/>
            </a:pPr>
            <a:r>
              <a:rPr sz="28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OLED display blank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Confirm I2C address (0x3C or 0x3D)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</a:t>
            </a: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Check SDA/SCL connections</a:t>
            </a:r>
            <a:endParaRPr sz="12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77184514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3038270" name="Title 1"/>
          <p:cNvSpPr>
            <a:spLocks noGrp="1"/>
          </p:cNvSpPr>
          <p:nvPr>
            <p:ph type="title"/>
          </p:nvPr>
        </p:nvSpPr>
        <p:spPr bwMode="auto">
          <a:xfrm>
            <a:off x="588945" y="-82076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43974868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74789" y="1003994"/>
            <a:ext cx="11056119" cy="571691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0000" lnSpcReduction="6000"/>
          </a:bodyPr>
          <a:lstStyle/>
          <a:p>
            <a:pPr>
              <a:defRPr/>
            </a:pPr>
            <a:r>
              <a:rPr lang="en-GB" sz="2800" b="0" i="0" u="none" strike="noStrike" cap="none" spc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Applications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Line Following Robot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Uses IR sensors + basic movements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Adjusts left/right to stay on the line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Obstacle Avoidance Robot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Obstacle Avoidance Robot Using Ultrasound Sensors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Obstacle Avoidance Robot Using Infrared Sensors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Obstacle Avoidance Robot Using Both Ultrasound and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Infrared Sensors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Pit Avoidance Robot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IR sensor detects edges or pits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Uses simple avoidance or wall-following style logic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Wall-Following Car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Follows a wall or boundary using distance sensors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Continuously corrects path in real time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Autonomous Delivery Robot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Uses basic movements + higher-level navigation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Suitable for warehouse or hospital delivery tasks</a:t>
            </a:r>
            <a:endParaRPr lang="en-GB">
              <a:solidFill>
                <a:schemeClr val="bg1"/>
              </a:solidFill>
            </a:endParaRPr>
          </a:p>
        </p:txBody>
      </p:sp>
      <p:pic>
        <p:nvPicPr>
          <p:cNvPr id="39097244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48041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2536884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endParaRPr/>
          </a:p>
        </p:txBody>
      </p:sp>
      <p:sp>
        <p:nvSpPr>
          <p:cNvPr id="42892015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Invite Questions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Encourage the audience to ask questions for further clarification or discussion.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lang="en-GB">
              <a:solidFill>
                <a:schemeClr val="bg1"/>
              </a:solidFill>
            </a:endParaRPr>
          </a:p>
        </p:txBody>
      </p:sp>
      <p:pic>
        <p:nvPicPr>
          <p:cNvPr id="86145550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9</cp:revision>
  <dcterms:created xsi:type="dcterms:W3CDTF">2025-11-29T15:09:33Z</dcterms:created>
  <dcterms:modified xsi:type="dcterms:W3CDTF">2025-12-31T12:03:47Z</dcterms:modified>
</cp:coreProperties>
</file>