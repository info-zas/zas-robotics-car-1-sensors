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notesSlides/notesSlide19.xml" ContentType="application/vnd.openxmlformats-officedocument.presentationml.notes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02940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924736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883410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2871627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7838036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9151964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354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943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43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768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849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857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CE5FAE-C1D0-B8C9-A050-9DCACB1753D0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3197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6558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6072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9235EF-A710-63AD-8071-50032D0C082B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233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4304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6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697BB-424E-5718-8107-6BD576F420E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6909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3431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074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108B59-3ABF-C479-18D2-40B55C4B1611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972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8777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24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C13D3-F7F6-B29C-F029-BDC9C57C0412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022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203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969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70142C-C813-8765-079C-ADE981F44D70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827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6432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95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C7A905-A7BD-99A6-93F6-E2967C0EA588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780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5948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532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D42347-3609-AE03-F36C-FC34FCC72555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872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2473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887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F5FBB-66D7-9EF0-C7B5-5C7D211EACA4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68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61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533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338BF6-1E0A-899B-B71D-612E876CC103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467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8112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6AE28-1750-FB0A-13D1-D80273FFDC97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949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6431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67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30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013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64155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6B4B94-7C55-2EB6-CDD0-E59D69E88D63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890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616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709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605338-B053-1AB3-7A62-AD6FA2DF4A04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29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4812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2950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85AC9A-E1C6-9225-8C00-8FC5BE823A61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025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4637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677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0551AC-64DF-F8F9-D80B-FEFFBCD0CF7A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428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356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4687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076D30-61DE-A4E1-0BE8-E3355223D533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44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5612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8465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54420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3696281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538530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6241527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976742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3212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923193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667700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6749406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187184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85403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857781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81235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9951513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994309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006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555403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121072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416421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095508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134152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14423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605533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5147421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3047870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4377522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821137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83574358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5542157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1074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9263581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87096742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5412286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01058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50520167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381525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12707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851325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1333075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731201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9143799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664172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5402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8393016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43303605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69841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361747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154241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6620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7495530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297591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0403976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88473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2930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6920415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52010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34661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909404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29540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793518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222995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0143289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153466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698463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4169168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19616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r>
              <a:rPr lang="en-GB" sz="3200">
                <a:solidFill>
                  <a:schemeClr val="accent5"/>
                </a:solidFill>
              </a:rPr>
              <a:t>Robot Car-</a:t>
            </a:r>
            <a:r>
              <a:rPr lang="en-US" sz="3200">
                <a:solidFill>
                  <a:schemeClr val="accent5"/>
                </a:solidFill>
              </a:rPr>
              <a:t>1</a:t>
            </a:r>
            <a:r>
              <a:rPr lang="en-GB" sz="3200">
                <a:solidFill>
                  <a:schemeClr val="accent5"/>
                </a:solidFill>
              </a:rPr>
              <a:t> </a:t>
            </a:r>
            <a:r>
              <a:rPr lang="en-US" sz="3200">
                <a:solidFill>
                  <a:schemeClr val="accent5"/>
                </a:solidFill>
              </a:rPr>
              <a:t>Sensor</a:t>
            </a:r>
            <a:endParaRPr/>
          </a:p>
          <a:p>
            <a:pPr>
              <a:defRPr/>
            </a:pP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lang="en-GB" sz="3200">
                <a:solidFill>
                  <a:schemeClr val="bg1"/>
                </a:solidFill>
              </a:rPr>
              <a:t>Lab Session 1 – Car Basic Movements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31068595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5835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Lab Session 1 – Car Basic Movements</a:t>
            </a:r>
            <a:endParaRPr/>
          </a:p>
        </p:txBody>
      </p:sp>
      <p:sp>
        <p:nvSpPr>
          <p:cNvPr id="128466123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690686"/>
            <a:ext cx="10515600" cy="48076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L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EARNING OBJECTIVES &amp; AGENDA</a:t>
            </a: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DC Motor Control Fundamentals</a:t>
            </a:r>
            <a:endParaRPr sz="2800"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Understand motor control using H-Bridge (TB6612 driver)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Learn how to control direction, speed, and braking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Understand current flow and motor polarity reversal</a:t>
            </a:r>
            <a:endParaRPr sz="2800" b="0" i="0" u="none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Master the principles of dual H-Bridge motor driver architecture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Real-world application: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Same technology used in electric vehicles and industrial robots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2️ PWM Signals: The Language of Speed Control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Control motor direction and speed with Pulse Width Modulation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Decode PWM: Frequency, duty cycle, and their effects on motor performance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Learn how to translate digital signals into analog motor control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Optimize speed control for smooth, precise movements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Key insight: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PWM is the backbone of modern motor control systems worldwide</a:t>
            </a:r>
            <a:r>
              <a:rPr sz="2800">
                <a:solidFill>
                  <a:schemeClr val="bg1"/>
                </a:solidFill>
              </a:rPr>
              <a:t>,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especially for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speed control</a:t>
            </a:r>
            <a:endParaRPr/>
          </a:p>
        </p:txBody>
      </p:sp>
      <p:pic>
        <p:nvPicPr>
          <p:cNvPr id="152799164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301360" name="Title 1"/>
          <p:cNvSpPr>
            <a:spLocks noGrp="1"/>
          </p:cNvSpPr>
          <p:nvPr>
            <p:ph type="title"/>
          </p:nvPr>
        </p:nvSpPr>
        <p:spPr bwMode="auto">
          <a:xfrm>
            <a:off x="357498" y="-17655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Lab Session 1 – Car Basic Movements</a:t>
            </a:r>
            <a:endParaRPr/>
          </a:p>
        </p:txBody>
      </p:sp>
      <p:sp>
        <p:nvSpPr>
          <p:cNvPr id="81532671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2" y="1254494"/>
            <a:ext cx="10515600" cy="542190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L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EARNING OBJECTIVES &amp; AGENDA</a:t>
            </a:r>
            <a:endParaRPr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Real-Time Monitoring &amp; Feedback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Integrate OLED display for status feedback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Display live motor status, speed values, and system state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Implement visual debugging for rapid development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Create user-friendly interfaces for robot control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Professional skill: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Real-time monitoring is essential in production robotics</a:t>
            </a:r>
            <a:endParaRPr sz="2800" b="1" i="0" u="none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Key Outcomes: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“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By the end of this lab, students will be able to: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”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Hands-on Arduino programming for robotics</a:t>
            </a:r>
            <a:endParaRPr sz="2400" b="0" i="0" u="none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Control DC motors using PWM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Understand differential drive motion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Display real-time robot state on OLED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</p:txBody>
      </p:sp>
      <p:pic>
        <p:nvPicPr>
          <p:cNvPr id="208736720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29512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74617" y="285006"/>
            <a:ext cx="10515600" cy="1237392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Lab Session 1 – Car Basic Movements</a:t>
            </a:r>
            <a:endParaRPr/>
          </a:p>
        </p:txBody>
      </p:sp>
      <p:sp>
        <p:nvSpPr>
          <p:cNvPr id="171566727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35062" y="1451183"/>
            <a:ext cx="11070870" cy="50026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175174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pic>
        <p:nvPicPr>
          <p:cNvPr id="157513608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25209" y="2266988"/>
            <a:ext cx="5087324" cy="3866577"/>
          </a:xfrm>
          <a:prstGeom prst="rect">
            <a:avLst/>
          </a:prstGeom>
        </p:spPr>
      </p:pic>
      <p:sp>
        <p:nvSpPr>
          <p:cNvPr id="2000480602" name=""/>
          <p:cNvSpPr/>
          <p:nvPr/>
        </p:nvSpPr>
        <p:spPr bwMode="auto">
          <a:xfrm flipH="0" flipV="0">
            <a:off x="4567568" y="3009009"/>
            <a:ext cx="1329015" cy="16913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4128980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96584" y="1914512"/>
            <a:ext cx="5606709" cy="457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323281" name="Title 1"/>
          <p:cNvSpPr>
            <a:spLocks noGrp="1"/>
          </p:cNvSpPr>
          <p:nvPr>
            <p:ph type="title"/>
          </p:nvPr>
        </p:nvSpPr>
        <p:spPr bwMode="auto">
          <a:xfrm>
            <a:off x="185439" y="-37569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91046007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1368" y="976601"/>
            <a:ext cx="10515600" cy="550135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Robot Car-1 </a:t>
            </a:r>
            <a:r>
              <a:rPr lang="en-US" sz="2800">
                <a:solidFill>
                  <a:schemeClr val="bg1"/>
                </a:solidFill>
              </a:rPr>
              <a:t> – Forward &amp; </a:t>
            </a:r>
            <a:r>
              <a:rPr sz="2800" b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downward-facing IR sensors</a:t>
            </a:r>
            <a:endParaRPr/>
          </a:p>
        </p:txBody>
      </p:sp>
      <p:pic>
        <p:nvPicPr>
          <p:cNvPr id="149008522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pic>
        <p:nvPicPr>
          <p:cNvPr id="3233201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643783" y="1498118"/>
            <a:ext cx="4905374" cy="1848984"/>
          </a:xfrm>
          <a:prstGeom prst="rect">
            <a:avLst/>
          </a:prstGeom>
        </p:spPr>
      </p:pic>
      <p:pic>
        <p:nvPicPr>
          <p:cNvPr id="143091154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299739" y="1486611"/>
            <a:ext cx="5143500" cy="1860490"/>
          </a:xfrm>
          <a:prstGeom prst="rect">
            <a:avLst/>
          </a:prstGeom>
        </p:spPr>
      </p:pic>
      <p:graphicFrame>
        <p:nvGraphicFramePr>
          <p:cNvPr id="745673833" name=""/>
          <p:cNvGraphicFramePr>
            <a:graphicFrameLocks xmlns:a="http://schemas.openxmlformats.org/drawingml/2006/main"/>
          </p:cNvGraphicFramePr>
          <p:nvPr/>
        </p:nvGraphicFramePr>
        <p:xfrm>
          <a:off x="302665" y="3429000"/>
          <a:ext cx="10281148" cy="2350286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053689"/>
                <a:gridCol w="2053689"/>
                <a:gridCol w="2053689"/>
                <a:gridCol w="2053689"/>
                <a:gridCol w="2053689"/>
              </a:tblGrid>
              <a:tr h="313022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 Type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Mounting Position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What It Detects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Working Principle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 Purpose / Benefit</a:t>
                      </a:r>
                      <a:endParaRPr/>
                    </a:p>
                  </a:txBody>
                  <a:tcPr vert="horz"/>
                </a:tc>
              </a:tr>
              <a:tr h="104942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Downward-Facing IR Sensors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Mounted underneath the robot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Edges, pits, stairs, floor color changes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Light surface → high reflection → sensor ONDark surface / no floor → low or no reflection → sensor OFF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Prevents falling and unsafe movement; ensures floor safety</a:t>
                      </a:r>
                      <a:endParaRPr/>
                    </a:p>
                  </a:txBody>
                  <a:tcPr vert="horz"/>
                </a:tc>
              </a:tr>
              <a:tr h="97514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Forward-Facing IR Sensors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Mounted facing forward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Nearby obstacles, walls, objects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 close → strong IR reflection → sensor ONObject far → weak or no reflection → sensor OFF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Quick detection of obstacles for collision avoidance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197086889" name=""/>
          <p:cNvSpPr/>
          <p:nvPr/>
        </p:nvSpPr>
        <p:spPr bwMode="auto">
          <a:xfrm flipH="0" flipV="0">
            <a:off x="277251" y="5779287"/>
            <a:ext cx="10476196" cy="10061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000"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0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Always keep the </a:t>
            </a:r>
            <a:r>
              <a:rPr sz="2000" b="1" i="1" u="none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“Motor Driver Standby/ON switch</a:t>
            </a:r>
            <a:r>
              <a:rPr sz="2000" b="1" i="1" u="none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(12)</a:t>
            </a:r>
            <a:r>
              <a:rPr sz="20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” in Standby mode</a:t>
            </a:r>
            <a:r>
              <a:rPr sz="20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during programming and IR sensor calibration. IR sensors are sensitive and require careful calibration to accurately understand the environment.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759727" name="Title 1"/>
          <p:cNvSpPr>
            <a:spLocks noGrp="1"/>
          </p:cNvSpPr>
          <p:nvPr>
            <p:ph type="title"/>
          </p:nvPr>
        </p:nvSpPr>
        <p:spPr bwMode="auto">
          <a:xfrm>
            <a:off x="579528" y="106967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208598982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09778" y="1094928"/>
            <a:ext cx="10898892" cy="562598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What do L, LC(C1), RC(C2), R mean?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1839744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graphicFrame>
        <p:nvGraphicFramePr>
          <p:cNvPr id="753840054" name=""/>
          <p:cNvGraphicFramePr>
            <a:graphicFrameLocks xmlns:a="http://schemas.openxmlformats.org/drawingml/2006/main"/>
          </p:cNvGraphicFramePr>
          <p:nvPr/>
        </p:nvGraphicFramePr>
        <p:xfrm>
          <a:off x="525081" y="1600329"/>
          <a:ext cx="8140698" cy="460171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063998"/>
                <a:gridCol w="4063998"/>
              </a:tblGrid>
              <a:tr h="3727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400"/>
                        <a:t>Sensor Meanings</a:t>
                      </a:r>
                      <a:endParaRPr sz="1400"/>
                    </a:p>
                  </a:txBody>
                  <a:tcPr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100831"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 – Left Sensor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on the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far left</a:t>
                      </a:r>
                      <a:endParaRPr sz="12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wall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Left edge of line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Obstacle on left side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Wall following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Line correction from left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LC(C1) – Left-Center Sensor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slightly left of center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Objects slightly ahead on the left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Fine correction when robot drifts left/right</a:t>
                      </a:r>
                      <a:endParaRPr sz="1200"/>
                    </a:p>
                  </a:txBody>
                  <a:tcPr/>
                </a:tc>
              </a:tr>
              <a:tr h="1879195"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 – Right Sensor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on the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far right</a:t>
                      </a:r>
                      <a:endParaRPr sz="12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Right wall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Right edge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Obstacle on right side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Avoiding right-side collisions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RC(C2) – Right-Center Sensor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slightly right of center</a:t>
                      </a:r>
                      <a:endParaRPr sz="1200" b="0" i="0" u="none" strike="noStrike" cap="none" spc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Objects slightly ahead on the right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Fine correction from the right side</a:t>
                      </a:r>
                      <a:endParaRPr sz="12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42848203" name=""/>
          <p:cNvGraphicFramePr>
            <a:graphicFrameLocks xmlns:a="http://schemas.openxmlformats.org/drawingml/2006/main"/>
          </p:cNvGraphicFramePr>
          <p:nvPr/>
        </p:nvGraphicFramePr>
        <p:xfrm>
          <a:off x="8742676" y="5103487"/>
          <a:ext cx="2414765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912735"/>
                <a:gridCol w="1489330"/>
              </a:tblGrid>
              <a:tr h="16573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Signal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(1)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obstacle / clear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 (0)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detected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687024873" name=""/>
          <p:cNvSpPr/>
          <p:nvPr/>
        </p:nvSpPr>
        <p:spPr bwMode="auto">
          <a:xfrm flipH="0" flipV="0">
            <a:off x="394667" y="6061531"/>
            <a:ext cx="11130194" cy="8842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>
                <a:solidFill>
                  <a:schemeClr val="bg1"/>
                </a:solidFill>
                <a:highlight>
                  <a:srgbClr val="FF0000"/>
                </a:highlight>
              </a:rPr>
              <a:t>Note:</a:t>
            </a:r>
            <a:r>
              <a:rPr sz="2800">
                <a:solidFill>
                  <a:schemeClr val="bg1"/>
                </a:solidFill>
              </a:rPr>
              <a:t> 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must be calibrated before each experiment due to surface and lighting variations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170738" name="Title 1"/>
          <p:cNvSpPr>
            <a:spLocks noGrp="1"/>
          </p:cNvSpPr>
          <p:nvPr>
            <p:ph type="title"/>
          </p:nvPr>
        </p:nvSpPr>
        <p:spPr bwMode="auto">
          <a:xfrm>
            <a:off x="105322" y="42546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3455608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68477" y="1201754"/>
            <a:ext cx="11295961" cy="55814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Robot Car-1 (Sensors</a:t>
            </a:r>
            <a:r>
              <a:rPr lang="en-US" sz="2800">
                <a:solidFill>
                  <a:schemeClr val="bg1"/>
                </a:solidFill>
              </a:rPr>
              <a:t> edition</a:t>
            </a:r>
            <a:r>
              <a:rPr sz="2800">
                <a:solidFill>
                  <a:schemeClr val="bg1"/>
                </a:solidFill>
              </a:rPr>
              <a:t>)</a:t>
            </a:r>
            <a:r>
              <a:rPr lang="en-US" sz="2800">
                <a:solidFill>
                  <a:schemeClr val="bg1"/>
                </a:solidFill>
              </a:rPr>
              <a:t> -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Ultrasonic Sensor &amp; Servo Mechanism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Ultrasonic sensor mounted on a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servo motor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for dynamic environment scanning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Servo enables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angular rotation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, expanding the sensor’s field of view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Provides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real-time distance measurements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to detect obstacles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Enhances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decision-making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for obstacle avoidance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Enables intelligent and responsive navigation</a:t>
            </a:r>
            <a:endParaRPr/>
          </a:p>
        </p:txBody>
      </p:sp>
      <p:pic>
        <p:nvPicPr>
          <p:cNvPr id="121268632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pic>
        <p:nvPicPr>
          <p:cNvPr id="74619517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944821" y="3694275"/>
            <a:ext cx="3169976" cy="3035537"/>
          </a:xfrm>
          <a:prstGeom prst="rect">
            <a:avLst/>
          </a:prstGeom>
        </p:spPr>
      </p:pic>
      <p:sp>
        <p:nvSpPr>
          <p:cNvPr id="1778342477" name=""/>
          <p:cNvSpPr/>
          <p:nvPr/>
        </p:nvSpPr>
        <p:spPr bwMode="auto">
          <a:xfrm flipH="0" flipV="0">
            <a:off x="327906" y="5096319"/>
            <a:ext cx="7552958" cy="1798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Keep the ultrasonic sensor permanently mounted. Repeated dismantling and re-fixing may cause damage; once mounted, avoid unnecessary handling.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532027" name="Title 1"/>
          <p:cNvSpPr>
            <a:spLocks noGrp="1"/>
          </p:cNvSpPr>
          <p:nvPr>
            <p:ph type="title"/>
          </p:nvPr>
        </p:nvSpPr>
        <p:spPr bwMode="auto">
          <a:xfrm>
            <a:off x="105322" y="42546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27658195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68477" y="1068226"/>
            <a:ext cx="11295961" cy="55814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Robot Car-1 (Sensors</a:t>
            </a:r>
            <a:r>
              <a:rPr lang="en-US" sz="2800">
                <a:solidFill>
                  <a:schemeClr val="bg1"/>
                </a:solidFill>
              </a:rPr>
              <a:t> edition</a:t>
            </a:r>
            <a:r>
              <a:rPr sz="2800">
                <a:solidFill>
                  <a:schemeClr val="bg1"/>
                </a:solidFill>
              </a:rPr>
              <a:t>)</a:t>
            </a:r>
            <a:r>
              <a:rPr lang="en-US" sz="2800">
                <a:solidFill>
                  <a:schemeClr val="bg1"/>
                </a:solidFill>
              </a:rPr>
              <a:t> -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Ultrasonic Sensor &amp; Servo Mechanism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1750345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2133957496" name=""/>
          <p:cNvSpPr/>
          <p:nvPr/>
        </p:nvSpPr>
        <p:spPr bwMode="auto">
          <a:xfrm flipH="0" flipV="0">
            <a:off x="648374" y="5704455"/>
            <a:ext cx="8887518" cy="9452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Most of the components come pre-assembled. Avoid dismantling and unnecessary handling.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57255552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7258" y="1611061"/>
            <a:ext cx="9429750" cy="1353260"/>
          </a:xfrm>
          <a:prstGeom prst="rect">
            <a:avLst/>
          </a:prstGeom>
        </p:spPr>
      </p:pic>
      <p:graphicFrame>
        <p:nvGraphicFramePr>
          <p:cNvPr id="1410869550" name=""/>
          <p:cNvGraphicFramePr>
            <a:graphicFrameLocks xmlns:a="http://schemas.openxmlformats.org/drawingml/2006/main"/>
          </p:cNvGraphicFramePr>
          <p:nvPr/>
        </p:nvGraphicFramePr>
        <p:xfrm>
          <a:off x="527405" y="3235781"/>
          <a:ext cx="5956299" cy="202437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520000"/>
                <a:gridCol w="3387452"/>
                <a:gridCol w="2953726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 / Role</a:t>
                      </a:r>
                      <a:endParaRPr/>
                    </a:p>
                  </a:txBody>
                  <a:tcPr vert="horz"/>
                </a:tc>
              </a:tr>
              <a:tr h="64008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 Rear Wheels (Drive Wheels)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Wheels connected to DC gear motors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Provide movement and enable turning using differential drive</a:t>
                      </a:r>
                      <a:endParaRPr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Dual DC Gear Motors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TT DC motors (~130 RPM)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 forward, reverse, left/right turns, and rotation</a:t>
                      </a:r>
                      <a:endParaRPr/>
                    </a:p>
                  </a:txBody>
                  <a:tcPr vert="horz"/>
                </a:tc>
              </a:tr>
              <a:tr h="64008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 Caster Wheel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Free-rolling metal ball caster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Supports front weight and allows smooth, friction-free movement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277083" name="Title 1"/>
          <p:cNvSpPr>
            <a:spLocks noGrp="1"/>
          </p:cNvSpPr>
          <p:nvPr>
            <p:ph type="title"/>
          </p:nvPr>
        </p:nvSpPr>
        <p:spPr bwMode="auto">
          <a:xfrm>
            <a:off x="357495" y="98734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73728390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2" y="1103828"/>
            <a:ext cx="11196689" cy="55725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Component–Pin Mapping Table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23832169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graphicFrame>
        <p:nvGraphicFramePr>
          <p:cNvPr id="1500837981" name=""/>
          <p:cNvGraphicFramePr>
            <a:graphicFrameLocks xmlns:a="http://schemas.openxmlformats.org/drawingml/2006/main"/>
          </p:cNvGraphicFramePr>
          <p:nvPr/>
        </p:nvGraphicFramePr>
        <p:xfrm>
          <a:off x="618817" y="1557140"/>
          <a:ext cx="5817984" cy="174723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100485"/>
                <a:gridCol w="1891783"/>
                <a:gridCol w="1813015"/>
              </a:tblGrid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Pin(s)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</a:t>
                      </a:r>
                      <a:endParaRPr/>
                    </a:p>
                  </a:txBody>
                  <a:tcPr vert="horz"/>
                </a:tc>
              </a:tr>
              <a:tr h="5227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Sensors (Left / LC / RC / Right)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A0, A1, A2, 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detection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(IN1–IN4)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8, 7, 4, 3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Direction control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(ENA, ENB)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6, 5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control (PWM)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 (SDA, 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A4 (SDA), A5 (SCL)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Display interface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1530155502" name=""/>
          <p:cNvGraphicFramePr>
            <a:graphicFrameLocks xmlns:a="http://schemas.openxmlformats.org/drawingml/2006/main"/>
          </p:cNvGraphicFramePr>
          <p:nvPr/>
        </p:nvGraphicFramePr>
        <p:xfrm>
          <a:off x="609913" y="5372214"/>
          <a:ext cx="5826889" cy="13842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846593"/>
                <a:gridCol w="1203490"/>
                <a:gridCol w="2423301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(L)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edge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(LC)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(RC)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(R)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edge detection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547521306" name=""/>
          <p:cNvSpPr/>
          <p:nvPr/>
        </p:nvSpPr>
        <p:spPr bwMode="auto">
          <a:xfrm flipH="0" flipV="0">
            <a:off x="532223" y="4486541"/>
            <a:ext cx="6749133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Pin Configuration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971333358" name=""/>
          <p:cNvGraphicFramePr>
            <a:graphicFrameLocks xmlns:a="http://schemas.openxmlformats.org/drawingml/2006/main"/>
          </p:cNvGraphicFramePr>
          <p:nvPr/>
        </p:nvGraphicFramePr>
        <p:xfrm>
          <a:off x="618817" y="3871139"/>
          <a:ext cx="4356111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08690"/>
                <a:gridCol w="533357"/>
                <a:gridCol w="711561"/>
                <a:gridCol w="1689801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(Speed Control)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/>
                    </a:p>
                  </a:txBody>
                  <a:tcPr vert="horz" anchor="ctr"/>
                </a:tc>
              </a:tr>
            </a:tbl>
          </a:graphicData>
        </a:graphic>
      </p:graphicFrame>
      <p:sp>
        <p:nvSpPr>
          <p:cNvPr id="729559580" name=""/>
          <p:cNvSpPr txBox="1"/>
          <p:nvPr/>
        </p:nvSpPr>
        <p:spPr bwMode="auto">
          <a:xfrm flipH="0" flipV="0">
            <a:off x="6004379" y="3246120"/>
            <a:ext cx="183240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1669499560" name=""/>
          <p:cNvSpPr/>
          <p:nvPr/>
        </p:nvSpPr>
        <p:spPr bwMode="auto">
          <a:xfrm flipH="0" flipV="0">
            <a:off x="618817" y="3352619"/>
            <a:ext cx="482822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Driver Pin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Configuration</a:t>
            </a:r>
            <a:endParaRPr/>
          </a:p>
        </p:txBody>
      </p:sp>
      <p:sp>
        <p:nvSpPr>
          <p:cNvPr id="1726984950" name=""/>
          <p:cNvSpPr txBox="1"/>
          <p:nvPr/>
        </p:nvSpPr>
        <p:spPr bwMode="auto">
          <a:xfrm flipH="0" flipV="0">
            <a:off x="6383392" y="3429000"/>
            <a:ext cx="5334996" cy="2926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Downward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lines, floor edges, and pits.</a:t>
            </a:r>
            <a:endParaRPr sz="2800">
              <a:solidFill>
                <a:schemeClr val="bg1"/>
              </a:solidFill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while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walls and nearby obstacles.</a:t>
            </a:r>
            <a:endParaRPr sz="2800">
              <a:solidFill>
                <a:schemeClr val="bg1"/>
              </a:solidFill>
            </a:endParaRPr>
          </a:p>
          <a:p>
            <a:pPr marL="394023" indent="-394023" algn="l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 the “</a:t>
            </a:r>
            <a:r>
              <a:rPr sz="2800" b="1" i="1" u="none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Line/Wall Following Switch(2)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to select the mode.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901742" name="Title 1"/>
          <p:cNvSpPr>
            <a:spLocks noGrp="1"/>
          </p:cNvSpPr>
          <p:nvPr>
            <p:ph type="title"/>
          </p:nvPr>
        </p:nvSpPr>
        <p:spPr bwMode="auto">
          <a:xfrm>
            <a:off x="126048" y="42549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Lab Session 1 – Car Basic Movements</a:t>
            </a:r>
            <a:endParaRPr/>
          </a:p>
        </p:txBody>
      </p:sp>
      <p:sp>
        <p:nvSpPr>
          <p:cNvPr id="154240999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51258" y="1308574"/>
            <a:ext cx="10515600" cy="539453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Schematics</a:t>
            </a:r>
            <a:r>
              <a:rPr sz="2800" b="0" i="0" u="none">
                <a:solidFill>
                  <a:schemeClr val="accent5"/>
                </a:solidFill>
                <a:latin typeface="Aptos"/>
                <a:ea typeface="Aptos"/>
                <a:cs typeface="Aptos"/>
              </a:rPr>
              <a:t> :</a:t>
            </a:r>
            <a:endParaRPr sz="2800" b="0" i="0" u="none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Motor Driver Pin Configuration</a:t>
            </a:r>
            <a:endParaRPr sz="2800" b="0" i="0" u="none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lang="en-GB"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Left Motor: IN1=7, IN2=8, PWM=6</a:t>
            </a:r>
            <a:endParaRPr sz="2800">
              <a:latin typeface="Aptos"/>
              <a:cs typeface="Aptos"/>
            </a:endParaRPr>
          </a:p>
          <a:p>
            <a:pPr lvl="1">
              <a:defRPr/>
            </a:pPr>
            <a:r>
              <a:rPr lang="en-GB"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Right Motor: IN1=3, IN2=4, PWM=5</a:t>
            </a:r>
            <a:endParaRPr sz="2800">
              <a:latin typeface="Aptos"/>
              <a:cs typeface="Aptos"/>
            </a:endParaRPr>
          </a:p>
          <a:p>
            <a:pPr lvl="1">
              <a:defRPr/>
            </a:pPr>
            <a:r>
              <a:rPr lang="en-GB"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VM → Battery, GND shared, VCC→5V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Purpose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: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IN1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: This pin is used to control one direction of the motor (typically forward).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IN2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: This pin is used to control the opposite direction of the same motor (typically backward).</a:t>
            </a:r>
            <a:endParaRPr sz="280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Control Logic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: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For the motor to move </a:t>
            </a: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forward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, 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IN1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is set to </a:t>
            </a: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HIGH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and 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IN2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is set to </a:t>
            </a: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LOW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.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For the motor to move </a:t>
            </a: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backward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, 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IN1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is set to </a:t>
            </a: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LOW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and 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IN2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is set to </a:t>
            </a: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HIGH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.</a:t>
            </a:r>
            <a:endParaRPr sz="2000">
              <a:solidFill>
                <a:schemeClr val="bg1"/>
              </a:solidFill>
              <a:latin typeface="Aptos"/>
              <a:cs typeface="Aptos"/>
            </a:endParaRPr>
          </a:p>
        </p:txBody>
      </p:sp>
      <p:pic>
        <p:nvPicPr>
          <p:cNvPr id="13366240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10911" name="Title 1"/>
          <p:cNvSpPr>
            <a:spLocks noGrp="1"/>
          </p:cNvSpPr>
          <p:nvPr>
            <p:ph type="title"/>
          </p:nvPr>
        </p:nvSpPr>
        <p:spPr bwMode="auto">
          <a:xfrm>
            <a:off x="838198" y="156101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176063443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246261"/>
            <a:ext cx="10515600" cy="518978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Schematics</a:t>
            </a:r>
            <a:endParaRPr sz="2800" b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Additional Components</a:t>
            </a:r>
            <a:endParaRPr sz="2800" b="0" i="0" u="none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OLED Display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: I2C (SDA, SCL) → A4, A5</a:t>
            </a:r>
            <a:endParaRPr sz="2800" b="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Servo Motor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: Signal → Pin 9</a:t>
            </a:r>
            <a:endParaRPr sz="2800" b="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Sensor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: Trig → Pin 10, Echo → Pin 11</a:t>
            </a:r>
            <a:endParaRPr sz="2800" b="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Visual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: Include the schematic diagram you provided</a:t>
            </a:r>
            <a:endParaRPr/>
          </a:p>
        </p:txBody>
      </p:sp>
      <p:pic>
        <p:nvPicPr>
          <p:cNvPr id="48079267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601580" name="Title 1"/>
          <p:cNvSpPr>
            <a:spLocks noGrp="1"/>
          </p:cNvSpPr>
          <p:nvPr>
            <p:ph type="title"/>
          </p:nvPr>
        </p:nvSpPr>
        <p:spPr bwMode="auto">
          <a:xfrm>
            <a:off x="295034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9131591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4" y="765121"/>
            <a:ext cx="11196689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STANDBY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Safety first during programming!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4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WALL FOLLOWING MODE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Pit avoidance uses the same sensor array as line following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Switch must be in "Line Following" position for downward sensors to work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Wrong position = sensors won't be read correctly</a:t>
            </a:r>
            <a:endParaRPr/>
          </a:p>
        </p:txBody>
      </p:sp>
      <p:pic>
        <p:nvPicPr>
          <p:cNvPr id="163451679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2018279843" name=""/>
          <p:cNvSpPr txBox="1"/>
          <p:nvPr/>
        </p:nvSpPr>
        <p:spPr bwMode="auto">
          <a:xfrm flipH="0" flipV="0">
            <a:off x="6004378" y="3246120"/>
            <a:ext cx="183240" cy="3657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027040" name="Title 1"/>
          <p:cNvSpPr>
            <a:spLocks noGrp="1"/>
          </p:cNvSpPr>
          <p:nvPr>
            <p:ph type="title"/>
          </p:nvPr>
        </p:nvSpPr>
        <p:spPr bwMode="auto">
          <a:xfrm>
            <a:off x="295034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133577115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4" y="765121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</a:t>
            </a: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STANDBY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LINE FOLLOWING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Upload your pit avoidance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7: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Verify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-&gt;  WALL FOLLOWING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activate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Set Switch “</a:t>
            </a:r>
            <a:r>
              <a:rPr sz="28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Press </a:t>
            </a:r>
            <a:r>
              <a:rPr sz="2400" b="0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RESET 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button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Robot car-1 starts pit avoidance program</a:t>
            </a:r>
            <a:endParaRPr/>
          </a:p>
        </p:txBody>
      </p:sp>
      <p:pic>
        <p:nvPicPr>
          <p:cNvPr id="113953439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379175727" name=""/>
          <p:cNvSpPr txBox="1"/>
          <p:nvPr/>
        </p:nvSpPr>
        <p:spPr bwMode="auto">
          <a:xfrm flipH="0" flipV="0">
            <a:off x="6004378" y="3246120"/>
            <a:ext cx="183240" cy="3657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187269" name="Title 1"/>
          <p:cNvSpPr>
            <a:spLocks noGrp="1"/>
          </p:cNvSpPr>
          <p:nvPr>
            <p:ph type="title"/>
          </p:nvPr>
        </p:nvSpPr>
        <p:spPr bwMode="auto">
          <a:xfrm>
            <a:off x="474572" y="-48641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182823029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2" y="899088"/>
            <a:ext cx="10515600" cy="585332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>
              <a:spcBef>
                <a:spcPts val="2699"/>
              </a:spcBef>
              <a:defRPr/>
            </a:pPr>
            <a:r>
              <a:rPr sz="2800" b="0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Algorithm - Movement Control Logic</a:t>
            </a:r>
            <a:endParaRPr sz="2800" b="1">
              <a:solidFill>
                <a:schemeClr val="bg1">
                  <a:lumMod val="95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pPr marL="0" marR="0" indent="0">
              <a:spcBef>
                <a:spcPts val="2698"/>
              </a:spcBef>
              <a:defRPr/>
            </a:pPr>
            <a:endParaRPr sz="2800" b="1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55111215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graphicFrame>
        <p:nvGraphicFramePr>
          <p:cNvPr id="1441382846" name=""/>
          <p:cNvGraphicFramePr>
            <a:graphicFrameLocks xmlns:a="http://schemas.openxmlformats.org/drawingml/2006/main"/>
          </p:cNvGraphicFramePr>
          <p:nvPr/>
        </p:nvGraphicFramePr>
        <p:xfrm>
          <a:off x="741050" y="1388323"/>
          <a:ext cx="9826378" cy="3209273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813924"/>
                <a:gridCol w="2004864"/>
                <a:gridCol w="2100333"/>
                <a:gridCol w="1460876"/>
                <a:gridCol w="3030104"/>
              </a:tblGrid>
              <a:tr h="42917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Movement Command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 (IN1 / IN2)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Motor (IN3 / IN4)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(ENA / ENB)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/>
                    </a:p>
                  </a:txBody>
                  <a:tcPr vert="horz"/>
                </a:tc>
              </a:tr>
              <a:tr h="51287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 = HIGH IN2 = 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 = HIGH IN4 = 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(0–255)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motors rotate forward at the same speed</a:t>
                      </a:r>
                      <a:endParaRPr/>
                    </a:p>
                  </a:txBody>
                  <a:tcPr vert="horz"/>
                </a:tc>
              </a:tr>
              <a:tr h="44260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BACKWARD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 = LOW IN2 = 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 = LOW IN4 = 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(0–255)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motors rotate backward at the same speed</a:t>
                      </a:r>
                      <a:endParaRPr/>
                    </a:p>
                  </a:txBody>
                  <a:tcPr vert="horz"/>
                </a:tc>
              </a:tr>
              <a:tr h="42917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LEFT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 = LOW IN2 = 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 = HIGH IN4 = 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(0–255)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 backward, right motor forward (pivot turn)</a:t>
                      </a:r>
                      <a:endParaRPr/>
                    </a:p>
                  </a:txBody>
                  <a:tcPr vert="horz"/>
                </a:tc>
              </a:tr>
              <a:tr h="45748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RIGHT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 = HIGH IN2 = 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 = LOW IN4 = 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(0–255)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 forward, right motor backward (pivot turn)</a:t>
                      </a:r>
                      <a:endParaRPr/>
                    </a:p>
                  </a:txBody>
                  <a:tcPr vert="horz"/>
                </a:tc>
              </a:tr>
              <a:tr h="56464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STOP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 = LOW IN2 = 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 = LOW IN4 = 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Both motors disabled, no movement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412907118" name=""/>
          <p:cNvGraphicFramePr>
            <a:graphicFrameLocks xmlns:a="http://schemas.openxmlformats.org/drawingml/2006/main"/>
          </p:cNvGraphicFramePr>
          <p:nvPr/>
        </p:nvGraphicFramePr>
        <p:xfrm>
          <a:off x="741050" y="5051060"/>
          <a:ext cx="7152639" cy="158069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188719"/>
                <a:gridCol w="1188719"/>
                <a:gridCol w="1188719"/>
                <a:gridCol w="1188719"/>
                <a:gridCol w="1188719"/>
                <a:gridCol w="1196339"/>
              </a:tblGrid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A Direction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IN4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B Direction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→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→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Backward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←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Backward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←</a:t>
                      </a:r>
                      <a:endParaRPr/>
                    </a:p>
                  </a:txBody>
                  <a:tcPr vert="horz" anchor="ctr"/>
                </a:tc>
              </a:tr>
              <a:tr h="28107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Stop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⛔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Stop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⛔</a:t>
                      </a:r>
                      <a:endParaRPr/>
                    </a:p>
                  </a:txBody>
                  <a:tcPr vert="horz" anchor="ctr"/>
                </a:tc>
              </a:tr>
              <a:tr h="28107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Brake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⚠️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Brake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⚠️</a:t>
                      </a:r>
                      <a:endParaRPr/>
                    </a:p>
                  </a:txBody>
                  <a:tcPr vert="horz" anchor="ctr"/>
                </a:tc>
              </a:tr>
            </a:tbl>
          </a:graphicData>
        </a:graphic>
      </p:graphicFrame>
      <p:sp>
        <p:nvSpPr>
          <p:cNvPr id="62759362" name=""/>
          <p:cNvSpPr/>
          <p:nvPr/>
        </p:nvSpPr>
        <p:spPr bwMode="auto">
          <a:xfrm flipH="0" flipV="0">
            <a:off x="741050" y="4441391"/>
            <a:ext cx="7291146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>
                    <a:lumMod val="95000"/>
                  </a:schemeClr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2800" b="0" i="0" u="non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H-Bridge Motor Control Principl</a:t>
            </a:r>
            <a:r>
              <a:rPr sz="2800" b="0" i="0" u="non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e: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407816" name="Title 1"/>
          <p:cNvSpPr>
            <a:spLocks noGrp="1"/>
          </p:cNvSpPr>
          <p:nvPr>
            <p:ph type="title"/>
          </p:nvPr>
        </p:nvSpPr>
        <p:spPr bwMode="auto">
          <a:xfrm>
            <a:off x="474572" y="-48641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56701158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2" y="899088"/>
            <a:ext cx="10515600" cy="585332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>
              <a:spcBef>
                <a:spcPts val="2698"/>
              </a:spcBef>
              <a:defRPr/>
            </a:pPr>
            <a:r>
              <a:rPr sz="2800" b="0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Flowchart - </a:t>
            </a:r>
            <a:endParaRPr sz="2800" b="1">
              <a:solidFill>
                <a:schemeClr val="bg1">
                  <a:lumMod val="95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pPr marL="0" marR="0" indent="0">
              <a:spcBef>
                <a:spcPts val="2698"/>
              </a:spcBef>
              <a:defRPr/>
            </a:pPr>
            <a:endParaRPr sz="2800" b="1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64480253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pic>
        <p:nvPicPr>
          <p:cNvPr id="179232717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320397" y="926481"/>
            <a:ext cx="3000375" cy="5825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781469" name="Title 1"/>
          <p:cNvSpPr>
            <a:spLocks noGrp="1"/>
          </p:cNvSpPr>
          <p:nvPr>
            <p:ph type="title"/>
          </p:nvPr>
        </p:nvSpPr>
        <p:spPr bwMode="auto">
          <a:xfrm>
            <a:off x="474572" y="-48641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114879432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4455" y="810069"/>
            <a:ext cx="10515600" cy="585332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>
              <a:spcBef>
                <a:spcPts val="2698"/>
              </a:spcBef>
              <a:defRPr/>
            </a:pPr>
            <a:r>
              <a:rPr sz="2800" b="0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Code Highlight – </a:t>
            </a:r>
            <a:r>
              <a:rPr sz="2800" b="1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Mail loop</a:t>
            </a:r>
            <a:r>
              <a:rPr sz="2800" b="1">
                <a:solidFill>
                  <a:schemeClr val="bg1">
                    <a:lumMod val="95000"/>
                  </a:schemeClr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0" i="0" u="none">
                <a:solidFill>
                  <a:schemeClr val="bg1">
                    <a:lumMod val="95000"/>
                  </a:schemeClr>
                </a:solidFill>
                <a:latin typeface="Aptos Display"/>
                <a:ea typeface="Aptos Display"/>
                <a:cs typeface="Aptos Display"/>
              </a:rPr>
              <a:t>         </a:t>
            </a:r>
            <a:r>
              <a:rPr sz="2800" b="0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Direction Control (Example)</a:t>
            </a:r>
            <a:endParaRPr sz="2800" b="1">
              <a:solidFill>
                <a:schemeClr val="bg1">
                  <a:lumMod val="95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pPr marL="0" marR="0" indent="0">
              <a:spcBef>
                <a:spcPts val="2698"/>
              </a:spcBef>
              <a:defRPr/>
            </a:pPr>
            <a:endParaRPr sz="2800" b="1">
              <a:solidFill>
                <a:schemeClr val="bg1">
                  <a:lumMod val="95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pPr marL="0" marR="0" indent="0">
              <a:spcBef>
                <a:spcPts val="2698"/>
              </a:spcBef>
              <a:defRPr/>
            </a:pPr>
            <a:endParaRPr sz="2800" b="1">
              <a:solidFill>
                <a:schemeClr val="bg1">
                  <a:lumMod val="95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pPr marL="0" marR="0" indent="0">
              <a:spcBef>
                <a:spcPts val="2698"/>
              </a:spcBef>
              <a:buFont typeface="Arial"/>
              <a:buNone/>
              <a:defRPr/>
            </a:pPr>
            <a:endParaRPr sz="2800" b="1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1167736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pic>
        <p:nvPicPr>
          <p:cNvPr id="11623471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16892" y="1233385"/>
            <a:ext cx="3324224" cy="5006690"/>
          </a:xfrm>
          <a:prstGeom prst="rect">
            <a:avLst/>
          </a:prstGeom>
        </p:spPr>
      </p:pic>
      <p:pic>
        <p:nvPicPr>
          <p:cNvPr id="19715625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118574" y="1204912"/>
            <a:ext cx="2943224" cy="2409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948376" name="Title 1"/>
          <p:cNvSpPr>
            <a:spLocks noGrp="1"/>
          </p:cNvSpPr>
          <p:nvPr>
            <p:ph type="title"/>
          </p:nvPr>
        </p:nvSpPr>
        <p:spPr bwMode="auto">
          <a:xfrm>
            <a:off x="758082" y="156101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112099798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255163"/>
            <a:ext cx="10515600" cy="492179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Common Troubleshooting</a:t>
            </a:r>
            <a:endParaRPr sz="2000">
              <a:solidFill>
                <a:schemeClr val="bg1"/>
              </a:solidFill>
            </a:endParaRPr>
          </a:p>
          <a:p>
            <a:pPr marL="0" marR="0" indent="0">
              <a:spcBef>
                <a:spcPts val="8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Robot moves in circles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Check motor polarity (swap IN1/IN2 if needed)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Calibrate motor speeds (add trim values)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marR="0" indent="0">
              <a:spcBef>
                <a:spcPts val="11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Motors don't move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Verify power supply (VM to battery)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Check motor driver connections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Test with higher PWM values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marR="0" indent="0">
              <a:spcBef>
                <a:spcPts val="11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OLED display blank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Confirm I2C address (0x3C or 0x3D)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</a:t>
            </a: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Check SDA/SCL connections</a:t>
            </a:r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7280299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152111" name="Title 1"/>
          <p:cNvSpPr>
            <a:spLocks noGrp="1"/>
          </p:cNvSpPr>
          <p:nvPr>
            <p:ph type="title"/>
          </p:nvPr>
        </p:nvSpPr>
        <p:spPr bwMode="auto">
          <a:xfrm>
            <a:off x="838198" y="126183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Lab Session 1 – Car Basic Movements</a:t>
            </a:r>
            <a:endParaRPr/>
          </a:p>
        </p:txBody>
      </p:sp>
      <p:sp>
        <p:nvSpPr>
          <p:cNvPr id="130323293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22475" y="1175046"/>
            <a:ext cx="10708434" cy="554586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Applications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Line Following Robot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Uses IR sensors + basic movements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Adjusts left/right to stay on the line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Obstacle Avoidance Robot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Ultrasonic sensor detects obstacles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Moves backward + turns to navigate around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Pit Avoidance Robot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 detects edges or pits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Uses simple avoidance or wall-following style logic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Wall-Following Car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Follows a wall or boundary using distance sensors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Continuously corrects path in real time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Autonomous Delivery Robot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Uses basic movements + higher-level navigation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Suitable for warehouse or hospital delivery tasks</a:t>
            </a:r>
            <a:endParaRPr lang="en-GB">
              <a:solidFill>
                <a:schemeClr val="bg1"/>
              </a:solidFill>
            </a:endParaRPr>
          </a:p>
        </p:txBody>
      </p:sp>
      <p:pic>
        <p:nvPicPr>
          <p:cNvPr id="14077002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1550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536884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149622086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81493686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8</cp:revision>
  <dcterms:created xsi:type="dcterms:W3CDTF">2025-11-29T15:09:33Z</dcterms:created>
  <dcterms:modified xsi:type="dcterms:W3CDTF">2025-12-19T19:32:41Z</dcterms:modified>
</cp:coreProperties>
</file>