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7.xml" ContentType="application/vnd.openxmlformats-officedocument.presentationml.notesSlide+xml"/>
  <Override PartName="/ppt/slideLayouts/slideLayout6.xml" ContentType="application/vnd.openxmlformats-officedocument.presentationml.slideLayout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ppt/slides/slide4.xml" ContentType="application/vnd.openxmlformats-officedocument.presentationml.slide+xml"/>
  <Override PartName="/ppt/viewProps.xml" ContentType="application/vnd.openxmlformats-officedocument.presentationml.viewProps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0" d="100"/>
          <a:sy n="70" d="100"/>
        </p:scale>
        <p:origin x="1166" y="27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 /><Relationship Id="rId24" Type="http://schemas.openxmlformats.org/officeDocument/2006/relationships/tableStyles" Target="tableStyles.xml" /><Relationship Id="rId2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07275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1670585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7576952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8910914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02703204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8616382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03699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43742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1916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4628D2-0276-7CE8-68C8-A30FE23A6892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26748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3054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86410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09B419-B9C3-D577-8C19-FD3877D7FA18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96479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3410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56866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9C0424-0107-8205-A89E-0DFEE90973E9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49147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16239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014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C4C05D-FEE3-2DE1-AAAF-8F57CC3DD41F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3397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04173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0167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4A7032-7BA8-886D-1F6D-A068F18C4EB7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7228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34025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63733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E73963-619C-2FB8-BF6E-A87C2F83E9A3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48665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83978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66030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3604FD-3743-78FF-7835-7613054B1B4E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7779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39571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871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C1CF5D-7D7F-2665-E6EE-F656574F2688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68446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53177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584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850318-6ACF-A52B-1EF0-3DCC3E2BA5F8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9199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2368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49325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338BF6-1E0A-899B-B71D-612E876CC103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67756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08470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1651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44A0F5-FCD4-09EB-E64E-0D7A8528F7A7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9425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32089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2658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4E930B-CC78-BCF2-6077-004FA3907EBE}" type="slidenum">
              <a:rPr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603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83032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10952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6AB1F5-0EE7-E8BB-9AE2-4C8F5E569850}" type="slidenum">
              <a:rPr/>
              <a:t/>
            </a:fld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87043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95262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950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FCE9BE-B98C-CBBB-9DE4-F96A40E1FB57}" type="slidenum">
              <a:rPr/>
              <a:t/>
            </a:fld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5865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95383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19766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2FC249-CDC0-C528-02DA-138BEC6A3CAF}" type="slidenum">
              <a:rPr/>
              <a:t/>
            </a:fld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2332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93690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5272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0551AC-64DF-F8F9-D80B-FEFFBCD0CF7A}" type="slidenum">
              <a:rPr/>
              <a:t/>
            </a:fld>
            <a:endParaRPr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70225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45762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991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076D30-61DE-A4E1-0BE8-E3355223D533}" type="slidenum">
              <a:rPr/>
              <a:t/>
            </a:fld>
            <a:endParaRPr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1482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99330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4984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932549-8DF2-14CE-32DE-B4134FF987BE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9308660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1329551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20843437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6069320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6032277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58445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43645154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11135484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58566915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913802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729326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069679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3121704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4959360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7243683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819524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5985115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7029901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56048552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52725293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4832785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729419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9797296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4017040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75126504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3345516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53310898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66836973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9764696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804371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9611925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41617132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2904185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687705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39806740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24870463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81067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40383364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66253163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6184949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48563507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0956105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655840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76380745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104158672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9863915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95180915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36580719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76153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340774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9633381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97369512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1266700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810208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9165401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36972456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9062044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5368319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774804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49532949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79907397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209510426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39019710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75985" name="Title 1"/>
          <p:cNvSpPr>
            <a:spLocks noGrp="1"/>
          </p:cNvSpPr>
          <p:nvPr>
            <p:ph type="ctrTitle"/>
          </p:nvPr>
        </p:nvSpPr>
        <p:spPr bwMode="auto">
          <a:xfrm>
            <a:off x="0" y="1122363"/>
            <a:ext cx="12192000" cy="2387600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ZAS Robotic Products</a:t>
            </a:r>
            <a:endParaRPr/>
          </a:p>
        </p:txBody>
      </p:sp>
      <p:sp>
        <p:nvSpPr>
          <p:cNvPr id="1836907731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3999" y="3602037"/>
            <a:ext cx="9144000" cy="196162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65000" lnSpcReduction="7000"/>
          </a:bodyPr>
          <a:lstStyle/>
          <a:p>
            <a:pPr>
              <a:defRPr/>
            </a:pPr>
            <a:r>
              <a:rPr lang="en-GB" sz="3200">
                <a:solidFill>
                  <a:schemeClr val="accent4"/>
                </a:solidFill>
              </a:rPr>
              <a:t>Navigational Robotic Series</a:t>
            </a:r>
            <a:endParaRPr/>
          </a:p>
          <a:p>
            <a:pPr>
              <a:defRPr/>
            </a:pPr>
            <a:r>
              <a:rPr lang="en-GB" sz="3200">
                <a:solidFill>
                  <a:schemeClr val="accent5"/>
                </a:solidFill>
              </a:rPr>
              <a:t>Robot Car-</a:t>
            </a:r>
            <a:r>
              <a:rPr lang="en-US" sz="3200">
                <a:solidFill>
                  <a:schemeClr val="accent5"/>
                </a:solidFill>
              </a:rPr>
              <a:t>1</a:t>
            </a:r>
            <a:r>
              <a:rPr lang="en-GB" sz="3200">
                <a:solidFill>
                  <a:schemeClr val="accent5"/>
                </a:solidFill>
              </a:rPr>
              <a:t> </a:t>
            </a:r>
            <a:r>
              <a:rPr lang="en-US" sz="3200">
                <a:solidFill>
                  <a:schemeClr val="accent5"/>
                </a:solidFill>
              </a:rPr>
              <a:t>Sensor</a:t>
            </a:r>
            <a:endParaRPr/>
          </a:p>
          <a:p>
            <a:pPr>
              <a:defRPr/>
            </a:pPr>
            <a:endParaRPr lang="en-GB" sz="3200">
              <a:solidFill>
                <a:schemeClr val="accent5"/>
              </a:solidFill>
            </a:endParaRPr>
          </a:p>
          <a:p>
            <a:pPr>
              <a:defRPr/>
            </a:pPr>
            <a:r>
              <a:rPr lang="en-GB" sz="3200">
                <a:solidFill>
                  <a:schemeClr val="bg1"/>
                </a:solidFill>
              </a:rPr>
              <a:t>Lab Session </a:t>
            </a:r>
            <a:r>
              <a:rPr lang="en-US" sz="3200">
                <a:solidFill>
                  <a:schemeClr val="bg1"/>
                </a:solidFill>
              </a:rPr>
              <a:t>4</a:t>
            </a:r>
            <a:r>
              <a:rPr lang="en-GB" sz="3200">
                <a:solidFill>
                  <a:schemeClr val="bg1"/>
                </a:solidFill>
              </a:rPr>
              <a:t> –</a:t>
            </a:r>
            <a:r>
              <a:rPr lang="en-GB" sz="2800">
                <a:solidFill>
                  <a:schemeClr val="bg1"/>
                </a:solidFill>
              </a:rPr>
              <a:t> 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WALL FOLLOWING USING IR SENSORS</a:t>
            </a:r>
            <a:r>
              <a:rPr lang="en-US" sz="32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(External)</a:t>
            </a:r>
            <a:endParaRPr lang="en-US" sz="3200">
              <a:solidFill>
                <a:schemeClr val="accent5"/>
              </a:solidFill>
            </a:endParaRPr>
          </a:p>
          <a:p>
            <a:pPr>
              <a:defRPr/>
            </a:pPr>
            <a:r>
              <a:rPr sz="36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LEFT-HAND WALL FOLLOWING</a:t>
            </a:r>
            <a:endParaRPr lang="en-GB" sz="3200">
              <a:solidFill>
                <a:schemeClr val="accent5"/>
              </a:solidFill>
            </a:endParaRPr>
          </a:p>
        </p:txBody>
      </p:sp>
      <p:pic>
        <p:nvPicPr>
          <p:cNvPr id="147080007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966071" y="156102"/>
            <a:ext cx="4042963" cy="1089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170875" name="Title 1"/>
          <p:cNvSpPr>
            <a:spLocks noGrp="1"/>
          </p:cNvSpPr>
          <p:nvPr>
            <p:ph type="title"/>
          </p:nvPr>
        </p:nvSpPr>
        <p:spPr bwMode="auto">
          <a:xfrm>
            <a:off x="838198" y="240498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4</a:t>
            </a:r>
            <a:r>
              <a:rPr lang="en-GB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WALL FOLLOWING USING IR SENSORS</a:t>
            </a:r>
            <a:r>
              <a:rPr>
                <a:solidFill>
                  <a:schemeClr val="bg1"/>
                </a:solidFill>
              </a:rPr>
              <a:t>(External)</a:t>
            </a:r>
            <a:endParaRPr/>
          </a:p>
        </p:txBody>
      </p:sp>
      <p:sp>
        <p:nvSpPr>
          <p:cNvPr id="127442011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79531" y="1958410"/>
            <a:ext cx="10898892" cy="460226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CONCEPT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What is Left-Hand Wall Following?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Robot keeps wall on its </a:t>
            </a:r>
            <a:r>
              <a:rPr sz="2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LEFT side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Follows </a:t>
            </a:r>
            <a:r>
              <a:rPr sz="2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left-hand rule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 Always turn LEFT when possible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Used for </a:t>
            </a:r>
            <a:r>
              <a:rPr sz="2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maze exit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and </a:t>
            </a:r>
            <a:r>
              <a:rPr sz="2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perimeter navigation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Analogy: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Walking through a maze with your left hand touching the wall</a:t>
            </a:r>
            <a:endParaRPr/>
          </a:p>
        </p:txBody>
      </p:sp>
      <p:pic>
        <p:nvPicPr>
          <p:cNvPr id="529589020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4" y="156102"/>
            <a:ext cx="2037720" cy="5492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968776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74617" y="86631"/>
            <a:ext cx="10515600" cy="1237392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4</a:t>
            </a: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WALL FOLLOWING USING IR SENSORS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(External)</a:t>
            </a:r>
            <a:endParaRPr/>
          </a:p>
        </p:txBody>
      </p:sp>
      <p:sp>
        <p:nvSpPr>
          <p:cNvPr id="75252451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35061" y="1451182"/>
            <a:ext cx="11070870" cy="500266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Robot Car-1 - Assembled view and Creative Board component layout</a:t>
            </a: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45763094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pic>
        <p:nvPicPr>
          <p:cNvPr id="78207668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rot="0" flipH="0" flipV="0">
            <a:off x="525208" y="2266987"/>
            <a:ext cx="5087323" cy="3866576"/>
          </a:xfrm>
          <a:prstGeom prst="rect">
            <a:avLst/>
          </a:prstGeom>
        </p:spPr>
      </p:pic>
      <p:sp>
        <p:nvSpPr>
          <p:cNvPr id="203588709" name=""/>
          <p:cNvSpPr/>
          <p:nvPr/>
        </p:nvSpPr>
        <p:spPr bwMode="auto">
          <a:xfrm flipH="0" flipV="0">
            <a:off x="4567568" y="3009008"/>
            <a:ext cx="1329014" cy="169133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269388270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0" flipH="0" flipV="0">
            <a:off x="5896584" y="1914511"/>
            <a:ext cx="5606709" cy="45715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196193" name="Title 1"/>
          <p:cNvSpPr>
            <a:spLocks noGrp="1"/>
          </p:cNvSpPr>
          <p:nvPr>
            <p:ph type="title"/>
          </p:nvPr>
        </p:nvSpPr>
        <p:spPr bwMode="auto">
          <a:xfrm>
            <a:off x="402004" y="42547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4</a:t>
            </a: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WALL FOLLOWING USING IR SENSORS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(External)</a:t>
            </a:r>
            <a:endParaRPr/>
          </a:p>
        </p:txBody>
      </p:sp>
      <p:sp>
        <p:nvSpPr>
          <p:cNvPr id="90629168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62239" y="1413899"/>
            <a:ext cx="10515600" cy="550135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sz="2800">
                <a:solidFill>
                  <a:schemeClr val="bg1"/>
                </a:solidFill>
              </a:rPr>
              <a:t>Robot Car-1 (Sensors</a:t>
            </a:r>
            <a:r>
              <a:rPr lang="en-US" sz="2800">
                <a:solidFill>
                  <a:schemeClr val="bg1"/>
                </a:solidFill>
              </a:rPr>
              <a:t> edition</a:t>
            </a:r>
            <a:r>
              <a:rPr sz="2800">
                <a:solidFill>
                  <a:schemeClr val="bg1"/>
                </a:solidFill>
              </a:rPr>
              <a:t>)</a:t>
            </a:r>
            <a:r>
              <a:rPr lang="en-US" sz="2800">
                <a:solidFill>
                  <a:schemeClr val="bg1"/>
                </a:solidFill>
              </a:rPr>
              <a:t> - </a:t>
            </a:r>
            <a:r>
              <a:rPr sz="2800" b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downward-facing IR sensors</a:t>
            </a:r>
            <a:endParaRPr/>
          </a:p>
        </p:txBody>
      </p:sp>
      <p:pic>
        <p:nvPicPr>
          <p:cNvPr id="838846097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sp>
        <p:nvSpPr>
          <p:cNvPr id="1832021622" name=""/>
          <p:cNvSpPr/>
          <p:nvPr/>
        </p:nvSpPr>
        <p:spPr bwMode="auto">
          <a:xfrm flipH="0" flipV="0">
            <a:off x="914682" y="3905316"/>
            <a:ext cx="9288488" cy="518518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>
                <a:solidFill>
                  <a:schemeClr val="bg1"/>
                </a:solidFill>
              </a:rPr>
              <a:t>Robot Car-1 (Sensors</a:t>
            </a:r>
            <a:r>
              <a:rPr lang="en-US" sz="2800">
                <a:solidFill>
                  <a:schemeClr val="bg1"/>
                </a:solidFill>
              </a:rPr>
              <a:t> edition</a:t>
            </a:r>
            <a:r>
              <a:rPr sz="2800">
                <a:solidFill>
                  <a:schemeClr val="bg1"/>
                </a:solidFill>
              </a:rPr>
              <a:t>)</a:t>
            </a:r>
            <a:r>
              <a:rPr lang="en-US" sz="2800">
                <a:solidFill>
                  <a:schemeClr val="bg1"/>
                </a:solidFill>
              </a:rPr>
              <a:t> - </a:t>
            </a:r>
            <a:r>
              <a:rPr sz="2800" b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Forward-facing IR sensors</a:t>
            </a:r>
            <a:endParaRPr/>
          </a:p>
        </p:txBody>
      </p:sp>
      <p:pic>
        <p:nvPicPr>
          <p:cNvPr id="10264821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rot="0" flipH="0" flipV="0">
            <a:off x="1442101" y="1940607"/>
            <a:ext cx="4905374" cy="1964709"/>
          </a:xfrm>
          <a:prstGeom prst="rect">
            <a:avLst/>
          </a:prstGeom>
        </p:spPr>
      </p:pic>
      <p:pic>
        <p:nvPicPr>
          <p:cNvPr id="1790387210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0" flipH="0" flipV="0">
            <a:off x="1495512" y="4503953"/>
            <a:ext cx="5143500" cy="22328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472478" name="Title 1"/>
          <p:cNvSpPr>
            <a:spLocks noGrp="1"/>
          </p:cNvSpPr>
          <p:nvPr>
            <p:ph type="title"/>
          </p:nvPr>
        </p:nvSpPr>
        <p:spPr bwMode="auto">
          <a:xfrm>
            <a:off x="579529" y="106968"/>
            <a:ext cx="10515600" cy="1325561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4</a:t>
            </a: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WALL FOLLOWING USING IR SENSORS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(External)</a:t>
            </a:r>
            <a:endParaRPr/>
          </a:p>
        </p:txBody>
      </p:sp>
      <p:sp>
        <p:nvSpPr>
          <p:cNvPr id="126681134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79530" y="1344181"/>
            <a:ext cx="10898892" cy="521649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What do L, LC, RC, R mean?</a:t>
            </a:r>
            <a:endParaRPr sz="2800">
              <a:solidFill>
                <a:schemeClr val="bg1"/>
              </a:solidFill>
            </a:endParaRPr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88801648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1"/>
            <a:ext cx="2037719" cy="549228"/>
          </a:xfrm>
          <a:prstGeom prst="rect">
            <a:avLst/>
          </a:prstGeom>
        </p:spPr>
      </p:pic>
      <p:graphicFrame>
        <p:nvGraphicFramePr>
          <p:cNvPr id="372800999" name=""/>
          <p:cNvGraphicFramePr>
            <a:graphicFrameLocks xmlns:a="http://schemas.openxmlformats.org/drawingml/2006/main"/>
          </p:cNvGraphicFramePr>
          <p:nvPr/>
        </p:nvGraphicFramePr>
        <p:xfrm>
          <a:off x="509779" y="1807790"/>
          <a:ext cx="8140699" cy="4615178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4063999"/>
                <a:gridCol w="4063999"/>
              </a:tblGrid>
              <a:tr h="365760"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400"/>
                        <a:t>Sensor Meanings</a:t>
                      </a:r>
                      <a:endParaRPr sz="1400"/>
                    </a:p>
                  </a:txBody>
                  <a:tcPr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365760">
                <a:tc>
                  <a:txBody>
                    <a:bodyPr/>
                    <a:p>
                      <a:pPr marL="0" marR="0" indent="0"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L – Left Sensor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Positioned on the </a:t>
                      </a: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far left</a:t>
                      </a:r>
                      <a:endParaRPr sz="14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Detects:</a:t>
                      </a:r>
                      <a:endParaRPr sz="1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</a:t>
                      </a: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wall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Left edge of line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Obstacle on left side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Used for: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Wall following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Line correction from left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LC(C1) – Left-Center Sensor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Positioned slightly left of center</a:t>
                      </a:r>
                      <a:endParaRPr sz="1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Detects: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Objects slightly ahead on the left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Used for: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Fine correction when robot drifts left/right</a:t>
                      </a:r>
                      <a:endParaRPr sz="14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marL="0" marR="0" indent="0"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 – Right Sensor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Positioned on the </a:t>
                      </a: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far right</a:t>
                      </a:r>
                      <a:endParaRPr sz="1400" b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Detects: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Right wall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Right edge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Obstacle on right side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Used for: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Avoiding right-side collisions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p>
                      <a:pPr marL="0" marR="0" indent="0">
                        <a:defRPr/>
                      </a:pPr>
                      <a:r>
                        <a:rPr lang="en-US" sz="1400" b="1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RC(C2) – Right-Center Sensor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Positioned slightly right of center</a:t>
                      </a:r>
                      <a:endParaRPr sz="1400" b="0" i="0" u="none" strike="noStrike" cap="none" spc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Detects: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0"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Objects slightly ahead on the right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0" marR="0" indent="0"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Used for:</a:t>
                      </a:r>
                      <a:endParaRPr sz="14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defRPr/>
                      </a:pPr>
                      <a:r>
                        <a:rPr lang="en-US" sz="1400" b="0" i="0" u="none" strike="noStrike" cap="none" spc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Fine correction from the right side</a:t>
                      </a:r>
                      <a:endParaRPr sz="140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28617614" name=""/>
          <p:cNvGraphicFramePr>
            <a:graphicFrameLocks xmlns:a="http://schemas.openxmlformats.org/drawingml/2006/main"/>
          </p:cNvGraphicFramePr>
          <p:nvPr/>
        </p:nvGraphicFramePr>
        <p:xfrm>
          <a:off x="8733774" y="5528772"/>
          <a:ext cx="3328669" cy="83565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605915"/>
                <a:gridCol w="1710054"/>
              </a:tblGrid>
              <a:tr h="165735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Signal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Meaning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(1)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 obstacle / clear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 (0)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Obstacle detected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999713" name="Title 1"/>
          <p:cNvSpPr>
            <a:spLocks noGrp="1"/>
          </p:cNvSpPr>
          <p:nvPr>
            <p:ph type="title"/>
          </p:nvPr>
        </p:nvSpPr>
        <p:spPr bwMode="auto">
          <a:xfrm>
            <a:off x="295035" y="-82368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4</a:t>
            </a: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WALL FOLLOWING USING IR SENSORS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(External)</a:t>
            </a:r>
            <a:endParaRPr/>
          </a:p>
        </p:txBody>
      </p:sp>
      <p:sp>
        <p:nvSpPr>
          <p:cNvPr id="151354766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74571" y="1103827"/>
            <a:ext cx="11196689" cy="557257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Arduino Component–Pin Mapping Table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447837295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graphicFrame>
        <p:nvGraphicFramePr>
          <p:cNvPr id="1767178229" name=""/>
          <p:cNvGraphicFramePr>
            <a:graphicFrameLocks xmlns:a="http://schemas.openxmlformats.org/drawingml/2006/main"/>
          </p:cNvGraphicFramePr>
          <p:nvPr/>
        </p:nvGraphicFramePr>
        <p:xfrm>
          <a:off x="618816" y="1557139"/>
          <a:ext cx="5817984" cy="1747231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2100485"/>
                <a:gridCol w="1891783"/>
                <a:gridCol w="1813015"/>
              </a:tblGrid>
              <a:tr h="3029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Component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Arduino Pin(s)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Function</a:t>
                      </a:r>
                      <a:endParaRPr/>
                    </a:p>
                  </a:txBody>
                  <a:tcPr vert="horz"/>
                </a:tc>
              </a:tr>
              <a:tr h="522773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IR Sensors (Left / LC / RC / Right)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A0, A1, A2, A3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Obstacle detection</a:t>
                      </a:r>
                      <a:endParaRPr/>
                    </a:p>
                  </a:txBody>
                  <a:tcPr vert="horz"/>
                </a:tc>
              </a:tr>
              <a:tr h="3029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Motor Driver (IN1–IN4)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8, 7, 4, 3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Direction control</a:t>
                      </a:r>
                      <a:endParaRPr/>
                    </a:p>
                  </a:txBody>
                  <a:tcPr vert="horz"/>
                </a:tc>
              </a:tr>
              <a:tr h="3029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Motor Driver (ENA, ENB)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6, 5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Speed control (PWM)</a:t>
                      </a:r>
                      <a:endParaRPr/>
                    </a:p>
                  </a:txBody>
                  <a:tcPr vert="horz"/>
                </a:tc>
              </a:tr>
              <a:tr h="3029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OLED Display (SDA, SCL)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A4 (SDA), A5 (SCL)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Display interface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  <p:graphicFrame>
        <p:nvGraphicFramePr>
          <p:cNvPr id="2040625658" name=""/>
          <p:cNvGraphicFramePr>
            <a:graphicFrameLocks xmlns:a="http://schemas.openxmlformats.org/drawingml/2006/main"/>
          </p:cNvGraphicFramePr>
          <p:nvPr/>
        </p:nvGraphicFramePr>
        <p:xfrm>
          <a:off x="609912" y="5372213"/>
          <a:ext cx="5826889" cy="138429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846593"/>
                <a:gridCol w="1203489"/>
                <a:gridCol w="2423300"/>
              </a:tblGrid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Sensor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Arduino Pin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Purpose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(L)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A0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edge detection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Left-Center (LC)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A1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Left-center path detection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Right-Center (RC)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A2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Right-center path detection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 (R)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A3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 edge detection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  <p:sp>
        <p:nvSpPr>
          <p:cNvPr id="1236623804" name=""/>
          <p:cNvSpPr/>
          <p:nvPr/>
        </p:nvSpPr>
        <p:spPr bwMode="auto">
          <a:xfrm flipH="0" flipV="0">
            <a:off x="532222" y="4486541"/>
            <a:ext cx="6749133" cy="7928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endParaRPr/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IR Sensors Pin Configuration</a:t>
            </a:r>
            <a:endParaRPr sz="3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1988405944" name=""/>
          <p:cNvGraphicFramePr>
            <a:graphicFrameLocks xmlns:a="http://schemas.openxmlformats.org/drawingml/2006/main"/>
          </p:cNvGraphicFramePr>
          <p:nvPr/>
        </p:nvGraphicFramePr>
        <p:xfrm>
          <a:off x="618816" y="3871139"/>
          <a:ext cx="4356110" cy="83565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408690"/>
                <a:gridCol w="533356"/>
                <a:gridCol w="711560"/>
                <a:gridCol w="1689800"/>
              </a:tblGrid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Motor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IN1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IN2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PWM (Speed Control)</a:t>
                      </a:r>
                      <a:endParaRPr/>
                    </a:p>
                  </a:txBody>
                  <a:tcPr vert="horz" anchor="ctr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Motor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/>
                    </a:p>
                  </a:txBody>
                  <a:tcPr vert="horz" anchor="ctr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 Motor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/>
                    </a:p>
                  </a:txBody>
                  <a:tcPr vert="horz" anchor="ctr"/>
                </a:tc>
              </a:tr>
            </a:tbl>
          </a:graphicData>
        </a:graphic>
      </p:graphicFrame>
      <p:sp>
        <p:nvSpPr>
          <p:cNvPr id="1576620203" name=""/>
          <p:cNvSpPr txBox="1"/>
          <p:nvPr/>
        </p:nvSpPr>
        <p:spPr bwMode="auto">
          <a:xfrm flipH="0" flipV="0">
            <a:off x="6004379" y="3246120"/>
            <a:ext cx="183240" cy="36575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  <p:sp>
        <p:nvSpPr>
          <p:cNvPr id="618342696" name=""/>
          <p:cNvSpPr/>
          <p:nvPr/>
        </p:nvSpPr>
        <p:spPr bwMode="auto">
          <a:xfrm flipH="0" flipV="0">
            <a:off x="618816" y="3352619"/>
            <a:ext cx="4828223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Motor Driver Pin 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Configuration</a:t>
            </a:r>
            <a:endParaRPr/>
          </a:p>
        </p:txBody>
      </p:sp>
      <p:sp>
        <p:nvSpPr>
          <p:cNvPr id="451528715" name=""/>
          <p:cNvSpPr txBox="1"/>
          <p:nvPr/>
        </p:nvSpPr>
        <p:spPr bwMode="auto">
          <a:xfrm flipH="0" flipV="0">
            <a:off x="6383391" y="3429000"/>
            <a:ext cx="5334995" cy="2926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 i="0" u="none">
                <a:solidFill>
                  <a:schemeClr val="bg1"/>
                </a:solidFill>
                <a:highlight>
                  <a:srgbClr val="FF0000"/>
                </a:highlight>
                <a:latin typeface="Times New Roman"/>
                <a:ea typeface="Times New Roman"/>
                <a:cs typeface="Times New Roman"/>
              </a:rPr>
              <a:t>Note: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394022" indent="-394022">
              <a:buFont typeface="Arial"/>
              <a:buChar char="•"/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Downward IR sensors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detect lines, floor edges, and pits.</a:t>
            </a:r>
            <a:endParaRPr sz="2800">
              <a:solidFill>
                <a:schemeClr val="bg1"/>
              </a:solidFill>
            </a:endParaRPr>
          </a:p>
          <a:p>
            <a:pPr marL="394022" indent="-394022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while 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forward IR sensors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detect walls and nearby obstacles.</a:t>
            </a:r>
            <a:endParaRPr sz="2800">
              <a:solidFill>
                <a:schemeClr val="bg1"/>
              </a:solidFill>
            </a:endParaRPr>
          </a:p>
          <a:p>
            <a:pPr marL="394022" indent="-394022" algn="l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Use the “</a:t>
            </a:r>
            <a:r>
              <a:rPr sz="2800" b="1" i="1" u="none">
                <a:solidFill>
                  <a:srgbClr val="FFC000"/>
                </a:solidFill>
                <a:latin typeface="Times New Roman"/>
                <a:ea typeface="Times New Roman"/>
                <a:cs typeface="Times New Roman"/>
              </a:rPr>
              <a:t>Line/Wall Following Switch(2)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”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to select the mode.</a:t>
            </a: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649468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553338" y="31473"/>
            <a:ext cx="10515600" cy="1214785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4</a:t>
            </a: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WALL FOLLOWING USING IR SENSORS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(External)</a:t>
            </a:r>
            <a:endParaRPr/>
          </a:p>
        </p:txBody>
      </p:sp>
      <p:sp>
        <p:nvSpPr>
          <p:cNvPr id="143704301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7" y="1246259"/>
            <a:ext cx="10515600" cy="550135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Schematics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IR Sensor Modules (4x Forward-Facing)</a:t>
            </a:r>
            <a:endParaRPr sz="2800" b="1" i="0" u="none">
              <a:solidFill>
                <a:schemeClr val="bg1"/>
              </a:solidFill>
              <a:latin typeface="Aptos"/>
              <a:ea typeface="Aptos"/>
              <a:cs typeface="Aptos"/>
            </a:endParaRPr>
          </a:p>
          <a:p>
            <a:pPr marL="0" indent="0">
              <a:buFont typeface="Arial"/>
              <a:buNone/>
              <a:defRPr/>
            </a:pPr>
            <a:r>
              <a:rPr sz="28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   Function:</a:t>
            </a: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Detects obstacles by emitting infrared light and measuring reflection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Range:</a:t>
            </a:r>
            <a:r>
              <a:rPr sz="24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5 cm to 30 cm (adjustable via potentiometer)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Output:</a:t>
            </a:r>
            <a:r>
              <a:rPr sz="24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Digital signal (HIGH = clear, LOW = obstacle detected)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Response Time:</a:t>
            </a:r>
            <a:r>
              <a:rPr sz="24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&lt;10 ms (instant detection)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DC Gear Motors (2x)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marL="0" indent="0">
              <a:buFont typeface="Arial"/>
              <a:buNone/>
              <a:defRPr/>
            </a:pPr>
            <a:r>
              <a:rPr sz="28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     Function:</a:t>
            </a: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Controls movement direction and speed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Voltage:</a:t>
            </a:r>
            <a:r>
              <a:rPr sz="24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6V - 9V DC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Capabilities:</a:t>
            </a:r>
            <a:r>
              <a:rPr sz="24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Forward, backward, left turn, right turn movements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Speed Control:</a:t>
            </a:r>
            <a:r>
              <a:rPr sz="24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PWM (0-255) for smooth navigation</a:t>
            </a:r>
            <a:endParaRPr/>
          </a:p>
        </p:txBody>
      </p:sp>
      <p:pic>
        <p:nvPicPr>
          <p:cNvPr id="1761971061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1"/>
            <a:ext cx="2037719" cy="5492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850698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597845" y="-4132"/>
            <a:ext cx="10515600" cy="115247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4</a:t>
            </a: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WALL FOLLOWING USING IR SENSORS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(External)</a:t>
            </a:r>
            <a:endParaRPr/>
          </a:p>
        </p:txBody>
      </p:sp>
      <p:sp>
        <p:nvSpPr>
          <p:cNvPr id="5335954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97845" y="1148340"/>
            <a:ext cx="10515600" cy="562598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>
              <a:defRPr/>
            </a:pPr>
            <a:r>
              <a:rPr lang="en-US" sz="2800" b="1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Schematics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TB6612 Motor Driver</a:t>
            </a: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  Function: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Interfaces Arduino with DC motors for dual motor control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Features: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PWM speed control, direction control, thermal protection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457200" lvl="1" indent="0">
              <a:buFont typeface="Arial"/>
              <a:buNone/>
              <a:defRPr/>
            </a:pP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Arduino Nano/Uno Microcontroller</a:t>
            </a:r>
            <a:endParaRPr sz="2800">
              <a:solidFill>
                <a:schemeClr val="bg1"/>
              </a:solidFill>
            </a:endParaRPr>
          </a:p>
          <a:p>
            <a:pPr marL="0" indent="0">
              <a:buFont typeface="Arial"/>
              <a:buNone/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   Function: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Acts as the brain of the robot, processing sensor inputs and  controlling motor   outputs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Reads: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4 IR sensors (pins A0-A3)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Executes: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Obstacle avoidance algorithm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Controls: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Motor driver (pins 3-8) with PWM signals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457200" lvl="1" indent="0">
              <a:buFont typeface="Arial"/>
              <a:buNone/>
              <a:defRPr/>
            </a:pP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OLED Display (128x64, I2C)</a:t>
            </a:r>
            <a:endParaRPr sz="2800">
              <a:solidFill>
                <a:schemeClr val="bg1"/>
              </a:solidFill>
            </a:endParaRPr>
          </a:p>
          <a:p>
            <a:pPr marL="0" indent="0">
              <a:buFont typeface="Arial"/>
              <a:buNone/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    Function: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Real-time visual feedback of sensor status and robot actions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Connection: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SDA (A4), SCL (A5)</a:t>
            </a:r>
            <a:endParaRPr/>
          </a:p>
        </p:txBody>
      </p:sp>
      <p:pic>
        <p:nvPicPr>
          <p:cNvPr id="1819504190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7593264" name="Title 1"/>
          <p:cNvSpPr>
            <a:spLocks noGrp="1"/>
          </p:cNvSpPr>
          <p:nvPr>
            <p:ph type="title"/>
          </p:nvPr>
        </p:nvSpPr>
        <p:spPr bwMode="auto">
          <a:xfrm>
            <a:off x="695766" y="156100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4</a:t>
            </a: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WALL FOLLOWING USING IR SENSORS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(External)</a:t>
            </a:r>
            <a:endParaRPr/>
          </a:p>
        </p:txBody>
      </p:sp>
      <p:sp>
        <p:nvSpPr>
          <p:cNvPr id="204408842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766981" y="1424295"/>
            <a:ext cx="10515600" cy="550135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Arduino Component–Pin Mapping Table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916989822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graphicFrame>
        <p:nvGraphicFramePr>
          <p:cNvPr id="738587803" name=""/>
          <p:cNvGraphicFramePr>
            <a:graphicFrameLocks xmlns:a="http://schemas.openxmlformats.org/drawingml/2006/main"/>
          </p:cNvGraphicFramePr>
          <p:nvPr/>
        </p:nvGraphicFramePr>
        <p:xfrm>
          <a:off x="1241946" y="2427739"/>
          <a:ext cx="5817984" cy="1747231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2100485"/>
                <a:gridCol w="1891783"/>
                <a:gridCol w="1813015"/>
              </a:tblGrid>
              <a:tr h="3029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Component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Arduino Pin(s)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Function</a:t>
                      </a:r>
                      <a:endParaRPr/>
                    </a:p>
                  </a:txBody>
                  <a:tcPr vert="horz"/>
                </a:tc>
              </a:tr>
              <a:tr h="522773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IR Sensors (Left / LC / RC / Right)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A0, A1, A2, A3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Obstacle detection</a:t>
                      </a:r>
                      <a:endParaRPr/>
                    </a:p>
                  </a:txBody>
                  <a:tcPr vert="horz"/>
                </a:tc>
              </a:tr>
              <a:tr h="3029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Motor Driver (IN1–IN4)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8, 7, 4, 3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Direction control</a:t>
                      </a:r>
                      <a:endParaRPr/>
                    </a:p>
                  </a:txBody>
                  <a:tcPr vert="horz"/>
                </a:tc>
              </a:tr>
              <a:tr h="3029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Motor Driver (ENA, ENB)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6, 5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Speed control (PWM)</a:t>
                      </a:r>
                      <a:endParaRPr/>
                    </a:p>
                  </a:txBody>
                  <a:tcPr vert="horz"/>
                </a:tc>
              </a:tr>
              <a:tr h="30294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OLED Display (SDA, SCL)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A4 (SDA), A5 (SCL)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Display interface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  <p:graphicFrame>
        <p:nvGraphicFramePr>
          <p:cNvPr id="421680419" name=""/>
          <p:cNvGraphicFramePr>
            <a:graphicFrameLocks xmlns:a="http://schemas.openxmlformats.org/drawingml/2006/main"/>
          </p:cNvGraphicFramePr>
          <p:nvPr/>
        </p:nvGraphicFramePr>
        <p:xfrm>
          <a:off x="1233041" y="5185656"/>
          <a:ext cx="5826889" cy="138429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961572"/>
                <a:gridCol w="1457587"/>
                <a:gridCol w="2395028"/>
              </a:tblGrid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Sensor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Arduino Pin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Purpose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(L)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A0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edge detection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Left-Center (LC)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A1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Left-center path detection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Right-Center (RC)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A2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Right-center path detection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 (R)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A3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 edge detection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  <p:sp>
        <p:nvSpPr>
          <p:cNvPr id="1241705742" name=""/>
          <p:cNvSpPr/>
          <p:nvPr/>
        </p:nvSpPr>
        <p:spPr bwMode="auto">
          <a:xfrm flipH="0" flipV="0">
            <a:off x="897200" y="4290700"/>
            <a:ext cx="6750573" cy="7928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endParaRPr/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IR Sensors Pin Configuration</a:t>
            </a:r>
            <a:endParaRPr sz="3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2310897" name="Title 1"/>
          <p:cNvSpPr>
            <a:spLocks noGrp="1"/>
          </p:cNvSpPr>
          <p:nvPr>
            <p:ph type="title"/>
          </p:nvPr>
        </p:nvSpPr>
        <p:spPr bwMode="auto">
          <a:xfrm>
            <a:off x="357496" y="42547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GB" sz="3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3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4</a:t>
            </a:r>
            <a:r>
              <a:rPr lang="en-GB" sz="3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36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WALL FOLLOWING USING IR SENSORS</a:t>
            </a:r>
            <a:r>
              <a:rPr lang="en-US" sz="36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(External)</a:t>
            </a:r>
            <a:endParaRPr/>
          </a:p>
        </p:txBody>
      </p:sp>
      <p:sp>
        <p:nvSpPr>
          <p:cNvPr id="72587520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74572" y="1368109"/>
            <a:ext cx="10515600" cy="540621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How IR Sensors Work and Distance Measurement Functionality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Working Principle:</a:t>
            </a:r>
            <a:endParaRPr sz="2800">
              <a:solidFill>
                <a:schemeClr val="bg1"/>
              </a:solidFill>
            </a:endParaRPr>
          </a:p>
          <a:p>
            <a:pPr marL="0" indent="0">
              <a:buFont typeface="Arial"/>
              <a:buNone/>
              <a:defRPr/>
            </a:pPr>
            <a:r>
              <a:rPr sz="2800">
                <a:solidFill>
                  <a:schemeClr val="bg1"/>
                </a:solidFill>
              </a:rPr>
              <a:t>	</a:t>
            </a:r>
            <a:r>
              <a:rPr sz="1600" b="0" i="0" u="none">
                <a:solidFill>
                  <a:schemeClr val="bg1"/>
                </a:solidFill>
                <a:latin typeface="Courier New"/>
                <a:ea typeface="Courier New"/>
                <a:cs typeface="Courier New"/>
              </a:rPr>
              <a:t>[IR LED] → Emits Infrared Light → [Obstacle] → Reflects Back → [IR Receiver]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Digital Output: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US" sz="28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Robot Car-1 Setup:</a:t>
            </a:r>
            <a:endParaRPr lang="en-US" sz="2800" b="1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lvl="1">
              <a:defRPr/>
            </a:pPr>
            <a:r>
              <a:rPr lang="en-US" sz="24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4 Forward-Facing IR Sensors</a:t>
            </a:r>
            <a:endParaRPr lang="en-US" sz="2800" b="1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lvl="1">
              <a:defRPr/>
            </a:pPr>
            <a:r>
              <a:rPr lang="en-US" sz="24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Detection Range: 5-30 cm (adjustable)</a:t>
            </a:r>
            <a:endParaRPr lang="en-US" sz="2800" b="1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lvl="1">
              <a:defRPr/>
            </a:pPr>
            <a:r>
              <a:rPr lang="en-US" sz="24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Fast Response: &lt;10ms</a:t>
            </a:r>
            <a:endParaRPr lang="en-US" sz="2800" b="1" i="0" u="none" strike="noStrike" cap="none" spc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US" sz="28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Key Advantage: </a:t>
            </a:r>
            <a:endParaRPr lang="en-US" sz="2800" b="1" i="0" u="none" strike="noStrike" cap="none" spc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US" sz="28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	Simple digital interface, no distance calculation needed</a:t>
            </a:r>
            <a:endParaRPr sz="2800">
              <a:solidFill>
                <a:schemeClr val="bg1"/>
              </a:solidFill>
            </a:endParaRPr>
          </a:p>
        </p:txBody>
      </p:sp>
      <p:pic>
        <p:nvPicPr>
          <p:cNvPr id="1525481879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1"/>
            <a:ext cx="2037719" cy="549228"/>
          </a:xfrm>
          <a:prstGeom prst="rect">
            <a:avLst/>
          </a:prstGeom>
        </p:spPr>
      </p:pic>
      <p:graphicFrame>
        <p:nvGraphicFramePr>
          <p:cNvPr id="1255388573" name=""/>
          <p:cNvGraphicFramePr>
            <a:graphicFrameLocks xmlns:a="http://schemas.openxmlformats.org/drawingml/2006/main"/>
          </p:cNvGraphicFramePr>
          <p:nvPr/>
        </p:nvGraphicFramePr>
        <p:xfrm>
          <a:off x="1852234" y="3235556"/>
          <a:ext cx="6320589" cy="83565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2213802"/>
                <a:gridCol w="1985331"/>
                <a:gridCol w="2108757"/>
              </a:tblGrid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Condition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Output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Robot Action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 Detected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 (LOW)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STOP</a:t>
                      </a: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/ </a:t>
                      </a: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TURN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Path Clear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 (HIGH)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FORWARD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639632" name="Title 1"/>
          <p:cNvSpPr>
            <a:spLocks noGrp="1"/>
          </p:cNvSpPr>
          <p:nvPr>
            <p:ph type="title"/>
          </p:nvPr>
        </p:nvSpPr>
        <p:spPr bwMode="auto">
          <a:xfrm>
            <a:off x="474570" y="42545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GB" sz="3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3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4</a:t>
            </a:r>
            <a:r>
              <a:rPr lang="en-GB" sz="3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36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WALL FOLLOWING USING IR SENSORS</a:t>
            </a:r>
            <a:r>
              <a:rPr lang="en-US" sz="36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(External)</a:t>
            </a:r>
            <a:endParaRPr/>
          </a:p>
        </p:txBody>
      </p:sp>
      <p:sp>
        <p:nvSpPr>
          <p:cNvPr id="48478078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74570" y="1281867"/>
            <a:ext cx="10515600" cy="543904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Obstacle Detection 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,Decision Logic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ALGORITHM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14514010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099"/>
            <a:ext cx="2037717" cy="549226"/>
          </a:xfrm>
          <a:prstGeom prst="rect">
            <a:avLst/>
          </a:prstGeom>
        </p:spPr>
      </p:pic>
      <p:graphicFrame>
        <p:nvGraphicFramePr>
          <p:cNvPr id="297047030" name=""/>
          <p:cNvGraphicFramePr>
            <a:graphicFrameLocks xmlns:a="http://schemas.openxmlformats.org/drawingml/2006/main"/>
          </p:cNvGraphicFramePr>
          <p:nvPr/>
        </p:nvGraphicFramePr>
        <p:xfrm>
          <a:off x="1675747" y="2553969"/>
          <a:ext cx="5956299" cy="175005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340565"/>
                <a:gridCol w="1743009"/>
                <a:gridCol w="1645985"/>
                <a:gridCol w="1665800"/>
              </a:tblGrid>
              <a:tr h="609487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 Sensor (L)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Left-Center Sensor (LC)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Wall Position / Condition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Robot Action</a:t>
                      </a:r>
                      <a:endParaRPr/>
                    </a:p>
                  </a:txBody>
                  <a:tcPr vert="horz"/>
                </a:tc>
              </a:tr>
              <a:tr h="405226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Too close to left wall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Steer </a:t>
                      </a: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</a:t>
                      </a: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(away)</a:t>
                      </a:r>
                      <a:endParaRPr/>
                    </a:p>
                  </a:txBody>
                  <a:tcPr vert="horz"/>
                </a:tc>
              </a:tr>
              <a:tr h="372281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Too far from left wall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Steer </a:t>
                      </a: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LEFT</a:t>
                      </a: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(toward)</a:t>
                      </a:r>
                      <a:endParaRPr/>
                    </a:p>
                  </a:txBody>
                  <a:tcPr vert="horz"/>
                </a:tc>
              </a:tr>
              <a:tr h="372281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Obstacle ahead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Turn </a:t>
                      </a: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RIGHT</a:t>
                      </a:r>
                      <a:endParaRPr/>
                    </a:p>
                  </a:txBody>
                  <a:tcPr vert="horz"/>
                </a:tc>
              </a:tr>
              <a:tr h="609487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Clear path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Move </a:t>
                      </a: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FORWARD</a:t>
                      </a: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(seek left wall)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  <p:sp>
        <p:nvSpPr>
          <p:cNvPr id="1685807395" name=""/>
          <p:cNvSpPr txBox="1"/>
          <p:nvPr/>
        </p:nvSpPr>
        <p:spPr bwMode="auto">
          <a:xfrm flipH="0" flipV="0">
            <a:off x="6004379" y="3246120"/>
            <a:ext cx="183240" cy="365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6706061" name="Title 1"/>
          <p:cNvSpPr>
            <a:spLocks noGrp="1"/>
          </p:cNvSpPr>
          <p:nvPr>
            <p:ph type="title"/>
          </p:nvPr>
        </p:nvSpPr>
        <p:spPr bwMode="auto">
          <a:xfrm>
            <a:off x="474570" y="42546"/>
            <a:ext cx="10515600" cy="1325561"/>
          </a:xfrm>
        </p:spPr>
        <p:txBody>
          <a:bodyPr/>
          <a:lstStyle/>
          <a:p>
            <a:pPr>
              <a:defRPr/>
            </a:pPr>
            <a:r>
              <a:rPr lang="en-GB" sz="3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3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4</a:t>
            </a:r>
            <a:r>
              <a:rPr lang="en-GB" sz="3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36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WALL FOLLOWING USING IR SENSORS</a:t>
            </a:r>
            <a:r>
              <a:rPr lang="en-US" sz="36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(External)</a:t>
            </a:r>
            <a:endParaRPr/>
          </a:p>
        </p:txBody>
      </p:sp>
      <p:sp>
        <p:nvSpPr>
          <p:cNvPr id="158002290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74570" y="1281868"/>
            <a:ext cx="10515600" cy="543904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Obstacle Detection 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Decision Logic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60357467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100"/>
            <a:ext cx="2037718" cy="549227"/>
          </a:xfrm>
          <a:prstGeom prst="rect">
            <a:avLst/>
          </a:prstGeom>
        </p:spPr>
      </p:pic>
      <p:pic>
        <p:nvPicPr>
          <p:cNvPr id="168401572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407336" y="1976214"/>
            <a:ext cx="5563975" cy="46518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1030138" name="Title 1"/>
          <p:cNvSpPr>
            <a:spLocks noGrp="1"/>
          </p:cNvSpPr>
          <p:nvPr>
            <p:ph type="title"/>
          </p:nvPr>
        </p:nvSpPr>
        <p:spPr bwMode="auto">
          <a:xfrm>
            <a:off x="474570" y="42546"/>
            <a:ext cx="10515600" cy="1325560"/>
          </a:xfrm>
        </p:spPr>
        <p:txBody>
          <a:bodyPr/>
          <a:lstStyle/>
          <a:p>
            <a:pPr>
              <a:defRPr/>
            </a:pPr>
            <a:r>
              <a:rPr lang="en-GB" sz="3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3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4</a:t>
            </a:r>
            <a:r>
              <a:rPr lang="en-GB" sz="3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36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WALL FOLLOWING USING IR SENSORS</a:t>
            </a:r>
            <a:r>
              <a:rPr lang="en-US" sz="36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(External)</a:t>
            </a:r>
            <a:endParaRPr/>
          </a:p>
        </p:txBody>
      </p:sp>
      <p:sp>
        <p:nvSpPr>
          <p:cNvPr id="70914231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74570" y="1281868"/>
            <a:ext cx="10515600" cy="543904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CODE HIGHLIGHTS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41614063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63200282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226041" y="1807079"/>
            <a:ext cx="6181724" cy="47053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0488258" name="Title 1"/>
          <p:cNvSpPr>
            <a:spLocks noGrp="1"/>
          </p:cNvSpPr>
          <p:nvPr>
            <p:ph type="title"/>
          </p:nvPr>
        </p:nvSpPr>
        <p:spPr bwMode="auto">
          <a:xfrm>
            <a:off x="838197" y="42546"/>
            <a:ext cx="10515600" cy="1325561"/>
          </a:xfrm>
        </p:spPr>
        <p:txBody>
          <a:bodyPr/>
          <a:lstStyle/>
          <a:p>
            <a:pPr>
              <a:defRPr/>
            </a:pPr>
            <a:r>
              <a:rPr lang="en-GB" sz="3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3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4</a:t>
            </a:r>
            <a:r>
              <a:rPr lang="en-GB" sz="3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36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WALL FOLLOWING USING IR SENSORS</a:t>
            </a:r>
            <a:r>
              <a:rPr lang="en-US" sz="36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(External)</a:t>
            </a:r>
            <a:endParaRPr/>
          </a:p>
        </p:txBody>
      </p:sp>
      <p:sp>
        <p:nvSpPr>
          <p:cNvPr id="206868319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7" y="1424297"/>
            <a:ext cx="10515600" cy="518978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Movement Control Functions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Function Descriptions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forward()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 Set pins to move forward.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backward()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 Set pins to move backward.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turnLeft()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2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turnRight()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 Define how the wheels are activated to turn.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Stop()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 Explain how all motors are disabled.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Execute Motor Commands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FORWARD: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Both motors move forward at set speed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TURN RIGHT: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Left motor forward + Right motor backward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TURN LEFT: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Right motor forward + Left motor backward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BACKWARD: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Both motors reverse + random turn</a:t>
            </a:r>
            <a:endParaRPr sz="2800">
              <a:solidFill>
                <a:schemeClr val="bg1"/>
              </a:solidFill>
            </a:endParaRPr>
          </a:p>
        </p:txBody>
      </p:sp>
      <p:pic>
        <p:nvPicPr>
          <p:cNvPr id="1526719169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100"/>
            <a:ext cx="2037718" cy="5492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1933766" name="Title 1"/>
          <p:cNvSpPr>
            <a:spLocks noGrp="1"/>
          </p:cNvSpPr>
          <p:nvPr>
            <p:ph type="title"/>
          </p:nvPr>
        </p:nvSpPr>
        <p:spPr bwMode="auto">
          <a:xfrm>
            <a:off x="838197" y="42546"/>
            <a:ext cx="10515600" cy="1325561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GB" sz="4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4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4</a:t>
            </a:r>
            <a:r>
              <a:rPr lang="en-GB" sz="4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4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WALL FOLLOWING USING IR SENSORS</a:t>
            </a:r>
            <a:r>
              <a:rPr lang="en-US" sz="48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(External)</a:t>
            </a:r>
            <a:endParaRPr/>
          </a:p>
        </p:txBody>
      </p:sp>
      <p:sp>
        <p:nvSpPr>
          <p:cNvPr id="87262837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766982" y="1368107"/>
            <a:ext cx="10515600" cy="518978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Safety Guidelines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Troubleshooting Guide — Common Issues &amp; Quick Fixes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Emergency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Press the reset button or disconnect the battery immediately.</a:t>
            </a:r>
            <a:endParaRPr/>
          </a:p>
        </p:txBody>
      </p:sp>
      <p:pic>
        <p:nvPicPr>
          <p:cNvPr id="233331222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100"/>
            <a:ext cx="2037718" cy="549227"/>
          </a:xfrm>
          <a:prstGeom prst="rect">
            <a:avLst/>
          </a:prstGeom>
        </p:spPr>
      </p:pic>
      <p:graphicFrame>
        <p:nvGraphicFramePr>
          <p:cNvPr id="1269841883" name=""/>
          <p:cNvGraphicFramePr>
            <a:graphicFrameLocks xmlns:a="http://schemas.openxmlformats.org/drawingml/2006/main"/>
          </p:cNvGraphicFramePr>
          <p:nvPr/>
        </p:nvGraphicFramePr>
        <p:xfrm>
          <a:off x="1301867" y="2449845"/>
          <a:ext cx="5956299" cy="2678837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981199"/>
                <a:gridCol w="1694179"/>
                <a:gridCol w="2268219"/>
              </a:tblGrid>
              <a:tr h="28270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Problem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Cause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Solution</a:t>
                      </a:r>
                      <a:endParaRPr/>
                    </a:p>
                  </a:txBody>
                  <a:tcPr vert="horz"/>
                </a:tc>
              </a:tr>
              <a:tr h="45720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Sensors always show blocked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Sensitivity too high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Turn potentiometer </a:t>
                      </a: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clockwise</a:t>
                      </a:r>
                      <a:endParaRPr/>
                    </a:p>
                  </a:txBody>
                  <a:tcPr vert="horz"/>
                </a:tc>
              </a:tr>
              <a:tr h="45720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Robot ignores obstacles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Sensitivity too 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Turn potentiometer </a:t>
                      </a: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counter-clockwise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Motors don’t move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Battery low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Charge/replace battery (</a:t>
                      </a: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6–9V</a:t>
                      </a: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endParaRPr/>
                    </a:p>
                  </a:txBody>
                  <a:tcPr vert="horz"/>
                </a:tc>
              </a:tr>
              <a:tr h="463197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Robot turns randomly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Sensor noise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Add </a:t>
                      </a:r>
                      <a:r>
                        <a:rPr sz="10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if (confidence &gt;= 2)</a:t>
                      </a: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filtering logic</a:t>
                      </a:r>
                      <a:endParaRPr/>
                    </a:p>
                  </a:txBody>
                  <a:tcPr vert="horz"/>
                </a:tc>
              </a:tr>
              <a:tr h="45720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Gets stuck in corners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 backup logic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Implement </a:t>
                      </a: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backward movement</a:t>
                      </a: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routine</a:t>
                      </a:r>
                      <a:endParaRPr/>
                    </a:p>
                  </a:txBody>
                  <a:tcPr vert="horz"/>
                </a:tc>
              </a:tr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Erratic Serial Monitor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Wrong baud rate</a:t>
                      </a:r>
                      <a:endParaRPr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Set to </a:t>
                      </a:r>
                      <a:r>
                        <a:rPr sz="12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115200 baud</a:t>
                      </a:r>
                      <a:endParaRPr/>
                    </a:p>
                  </a:txBody>
                  <a:tcPr vert="horz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6619280" name="Title 1"/>
          <p:cNvSpPr>
            <a:spLocks noGrp="1"/>
          </p:cNvSpPr>
          <p:nvPr>
            <p:ph type="title"/>
          </p:nvPr>
        </p:nvSpPr>
        <p:spPr bwMode="auto">
          <a:xfrm>
            <a:off x="758081" y="42547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GB" sz="3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3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4</a:t>
            </a:r>
            <a:r>
              <a:rPr lang="en-GB" sz="3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36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WALL FOLLOWING USING IR SENSORS</a:t>
            </a:r>
            <a:r>
              <a:rPr lang="en-US" sz="36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(External)</a:t>
            </a:r>
            <a:endParaRPr/>
          </a:p>
        </p:txBody>
      </p:sp>
      <p:sp>
        <p:nvSpPr>
          <p:cNvPr id="62395218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758081" y="1477710"/>
            <a:ext cx="10515600" cy="526990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Common Troubleshooting</a:t>
            </a:r>
            <a:endParaRPr sz="2800">
              <a:solidFill>
                <a:schemeClr val="bg1"/>
              </a:solidFill>
            </a:endParaRPr>
          </a:p>
          <a:p>
            <a:pPr marL="0" marR="0" indent="0">
              <a:spcBef>
                <a:spcPts val="899"/>
              </a:spcBef>
              <a:defRPr/>
            </a:pPr>
            <a:r>
              <a:rPr sz="2800" b="1">
                <a:solidFill>
                  <a:schemeClr val="bg1"/>
                </a:solidFill>
                <a:latin typeface="Aptos"/>
                <a:ea typeface="Aptos"/>
                <a:cs typeface="Aptos"/>
              </a:rPr>
              <a:t>Problem: Robot moves in circles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marR="0" lvl="1">
              <a:defRPr/>
            </a:pPr>
            <a:r>
              <a:rPr sz="2800">
                <a:solidFill>
                  <a:schemeClr val="bg1"/>
                </a:solidFill>
                <a:latin typeface="Aptos"/>
                <a:ea typeface="Aptos"/>
                <a:cs typeface="Aptos"/>
              </a:rPr>
              <a:t> Check motor polarity (swap IN1/IN2 if needed)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marR="0" lvl="1">
              <a:spcBef>
                <a:spcPts val="599"/>
              </a:spcBef>
              <a:defRPr/>
            </a:pPr>
            <a:r>
              <a:rPr sz="2800">
                <a:solidFill>
                  <a:schemeClr val="bg1"/>
                </a:solidFill>
                <a:latin typeface="Aptos"/>
                <a:ea typeface="Aptos"/>
                <a:cs typeface="Aptos"/>
              </a:rPr>
              <a:t>Calibrate motor speeds (add trim values)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marL="0" marR="0" indent="0">
              <a:spcBef>
                <a:spcPts val="1199"/>
              </a:spcBef>
              <a:defRPr/>
            </a:pPr>
            <a:r>
              <a:rPr sz="2800" b="1">
                <a:solidFill>
                  <a:schemeClr val="bg1"/>
                </a:solidFill>
                <a:latin typeface="Aptos"/>
                <a:ea typeface="Aptos"/>
                <a:cs typeface="Aptos"/>
              </a:rPr>
              <a:t>Problem: Motors don't move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marR="0" lvl="1">
              <a:defRPr/>
            </a:pPr>
            <a:r>
              <a:rPr sz="2800">
                <a:solidFill>
                  <a:schemeClr val="bg1"/>
                </a:solidFill>
                <a:latin typeface="Aptos"/>
                <a:ea typeface="Aptos"/>
                <a:cs typeface="Aptos"/>
              </a:rPr>
              <a:t>Verify power supply (VM to battery)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marR="0" lvl="1">
              <a:spcBef>
                <a:spcPts val="599"/>
              </a:spcBef>
              <a:defRPr/>
            </a:pPr>
            <a:r>
              <a:rPr sz="2800">
                <a:solidFill>
                  <a:schemeClr val="bg1"/>
                </a:solidFill>
                <a:latin typeface="Aptos"/>
                <a:ea typeface="Aptos"/>
                <a:cs typeface="Aptos"/>
              </a:rPr>
              <a:t>Check motor driver connections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marR="0" lvl="1">
              <a:spcBef>
                <a:spcPts val="599"/>
              </a:spcBef>
              <a:defRPr/>
            </a:pPr>
            <a:r>
              <a:rPr sz="2800">
                <a:solidFill>
                  <a:schemeClr val="bg1"/>
                </a:solidFill>
                <a:latin typeface="Aptos"/>
                <a:ea typeface="Aptos"/>
                <a:cs typeface="Aptos"/>
              </a:rPr>
              <a:t> Test with higher PWM values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marL="0" marR="0" indent="0">
              <a:spcBef>
                <a:spcPts val="1199"/>
              </a:spcBef>
              <a:defRPr/>
            </a:pPr>
            <a:r>
              <a:rPr sz="2800" b="1">
                <a:solidFill>
                  <a:schemeClr val="bg1"/>
                </a:solidFill>
                <a:latin typeface="Aptos"/>
                <a:ea typeface="Aptos"/>
                <a:cs typeface="Aptos"/>
              </a:rPr>
              <a:t>Problem: OLED display blank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marR="0" lvl="1">
              <a:defRPr/>
            </a:pPr>
            <a:r>
              <a:rPr sz="2800">
                <a:solidFill>
                  <a:schemeClr val="bg1"/>
                </a:solidFill>
                <a:latin typeface="Aptos"/>
                <a:ea typeface="Aptos"/>
                <a:cs typeface="Aptos"/>
              </a:rPr>
              <a:t> Confirm I2C address (0x3C or 0x3D)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marR="0" lvl="1">
              <a:defRPr/>
            </a:pPr>
            <a:r>
              <a:rPr sz="2800">
                <a:solidFill>
                  <a:schemeClr val="bg1"/>
                </a:solidFill>
                <a:latin typeface="Aptos"/>
                <a:ea typeface="Aptos"/>
                <a:cs typeface="Aptos"/>
              </a:rPr>
              <a:t> </a:t>
            </a:r>
            <a:r>
              <a:rPr sz="2800">
                <a:solidFill>
                  <a:schemeClr val="bg1"/>
                </a:solidFill>
                <a:latin typeface="Aptos"/>
                <a:ea typeface="Aptos"/>
                <a:cs typeface="Aptos"/>
              </a:rPr>
              <a:t>Check SDA/SCL connections</a:t>
            </a:r>
            <a:endParaRPr sz="120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069307465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1"/>
            <a:ext cx="2037719" cy="5492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6246305" name="Title 1"/>
          <p:cNvSpPr>
            <a:spLocks noGrp="1"/>
          </p:cNvSpPr>
          <p:nvPr>
            <p:ph type="title"/>
          </p:nvPr>
        </p:nvSpPr>
        <p:spPr bwMode="auto">
          <a:xfrm>
            <a:off x="722474" y="42549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GB" sz="3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3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4</a:t>
            </a:r>
            <a:r>
              <a:rPr lang="en-GB" sz="3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36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WALL FOLLOWING USING IR SENSORS</a:t>
            </a:r>
            <a:r>
              <a:rPr lang="en-US" sz="36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(External)</a:t>
            </a:r>
            <a:endParaRPr/>
          </a:p>
        </p:txBody>
      </p:sp>
      <p:sp>
        <p:nvSpPr>
          <p:cNvPr id="182633113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722475" y="1272967"/>
            <a:ext cx="10708434" cy="544794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ADVANTAGES &amp; APPLICATIONS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Advantages:</a:t>
            </a:r>
            <a:endParaRPr sz="2800" b="1" i="0" u="none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Simple and reliable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Follows perimeter systematically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Mirror strategy to left-hand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Applications: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Warehouse navigation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Maze-solving competitions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Room cleaning robots</a:t>
            </a:r>
            <a:endParaRPr sz="28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Perimeter security patrol</a:t>
            </a:r>
            <a:endParaRPr/>
          </a:p>
        </p:txBody>
      </p:sp>
      <p:pic>
        <p:nvPicPr>
          <p:cNvPr id="82066865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4" y="156102"/>
            <a:ext cx="2037720" cy="5492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4752847" name="Title 1"/>
          <p:cNvSpPr>
            <a:spLocks noGrp="1"/>
          </p:cNvSpPr>
          <p:nvPr>
            <p:ph type="title"/>
          </p:nvPr>
        </p:nvSpPr>
        <p:spPr bwMode="auto">
          <a:xfrm>
            <a:off x="731377" y="156101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Lab Session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4</a:t>
            </a:r>
            <a:r>
              <a:rPr lang="en-GB" sz="4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– 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WALL FOLLOWING USING IR SENSORS</a:t>
            </a:r>
            <a:r>
              <a:rPr lang="en-US" sz="4400" b="0" i="0" u="none" strike="noStrike" cap="none" spc="0">
                <a:solidFill>
                  <a:schemeClr val="bg1"/>
                </a:solidFill>
                <a:latin typeface="Aptos Display"/>
                <a:ea typeface="Arial"/>
                <a:cs typeface="Arial"/>
              </a:rPr>
              <a:t>(External)</a:t>
            </a:r>
            <a:endParaRPr/>
          </a:p>
        </p:txBody>
      </p:sp>
      <p:sp>
        <p:nvSpPr>
          <p:cNvPr id="5195587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1825624"/>
            <a:ext cx="10515600" cy="458372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GB" sz="2800" b="0" i="0" u="none" strike="noStrike" cap="none" spc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Q&amp;A</a:t>
            </a:r>
            <a:endParaRPr sz="2800"/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Common Questions: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"Why does my robot turn when no obstacle is present?"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→ Check sensor sensitivity and add confidence threshold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"Can IR sensors work in sunlight?"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→ Yes, but may need sensitivity adjustment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"How to make robot faster while staying safe?"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→ Use adaptive speed based on obstacle distance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"What if both left and right sensors detect obstacles?"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→ Implement backup + 180° turn logic</a:t>
            </a:r>
            <a:endParaRPr lang="en-GB">
              <a:solidFill>
                <a:schemeClr val="bg1"/>
              </a:solidFill>
            </a:endParaRPr>
          </a:p>
        </p:txBody>
      </p:sp>
      <p:pic>
        <p:nvPicPr>
          <p:cNvPr id="1180042344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4" y="156102"/>
            <a:ext cx="2037720" cy="5492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ONLYOFFICE/8.3.3.21</Application>
  <PresentationFormat>On-screen Show (4:3)</PresentationFormat>
  <Paragraphs>0</Paragraphs>
  <Slides>18</Slides>
  <Notes>18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/>
  <cp:revision>9</cp:revision>
  <dcterms:created xsi:type="dcterms:W3CDTF">2025-11-29T15:09:33Z</dcterms:created>
  <dcterms:modified xsi:type="dcterms:W3CDTF">2025-12-17T17:44:27Z</dcterms:modified>
</cp:coreProperties>
</file>