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7.xml" ContentType="application/vnd.openxmlformats-officedocument.presentationml.notesSlide+xml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notesSlides/notesSlide19.xml" ContentType="application/vnd.openxmlformats-officedocument.presentationml.notes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1166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 /><Relationship Id="rId25" Type="http://schemas.openxmlformats.org/officeDocument/2006/relationships/tableStyles" Target="tableStyles.xml" /><Relationship Id="rId2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72661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75382775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5196315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33590387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98313977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49312443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26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78285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054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4628D2-0276-7CE8-68C8-A30FE23A6892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1254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47751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544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09B419-B9C3-D577-8C19-FD3877D7FA18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32438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6311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591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18BF93-9F91-6B90-31DE-F6F60EF11C94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42679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70692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7847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80B79D-1545-BF60-5A96-2E81DC9D877A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5762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4440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4813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AACFA0-8DA5-7224-5123-4C646C7DA890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24174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8423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7048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D0B90A-827E-9FA7-D005-A7643B8DF415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56083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65003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742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F5FBB-66D7-9EF0-C7B5-5C7D211EACA4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4384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090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707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D5617A-E65C-B151-71D5-37FE2C93EEB3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30301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33375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4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338BF6-1E0A-899B-B71D-612E876CC103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8822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59922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6033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4E930B-CC78-BCF2-6077-004FA3907EBE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9779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77757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1758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B6CC6B-8C65-038C-1B7D-F6B7CB1BCAA6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55882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1447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849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E1838-2F58-04D8-2A5A-90A472F8DAE6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46073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50563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7131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217655-8D67-4EBF-F3CC-C98034D4D4F5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27947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8122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1374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FCE9BE-B98C-CBBB-9DE4-F96A40E1FB57}" type="slidenum">
              <a:rPr/>
              <a:t/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5962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0809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7663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4B77C5-AC81-4A4A-4A0B-A27F253CE313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52034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687701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3791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2FC249-CDC0-C528-02DA-138BEC6A3CAF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79950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6121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317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0551AC-64DF-F8F9-D80B-FEFFBCD0CF7A}" type="slidenum">
              <a:rPr/>
              <a:t/>
            </a:fld>
            <a:endParaRPr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83308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9579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04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076D30-61DE-A4E1-0BE8-E3355223D533}" type="slidenum">
              <a:rPr/>
              <a:t/>
            </a:fld>
            <a:endParaRPr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24100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163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7298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32549-8DF2-14CE-32DE-B4134FF987BE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7547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575449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2583489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21393070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7736329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7375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8864670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399005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0078341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3474866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503220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185172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235189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9613337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0573239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20739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2555392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066649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298649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76219585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0026478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061191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233484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2693179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0470910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114512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66828532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29697355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91329008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092067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8279505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93478277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1673059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123947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93389003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0515208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114678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48558490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3780984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114080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82069451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672038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787659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0067611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56385715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478465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11411392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7751591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32191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5531646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859361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18948679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79023191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998046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965538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4359940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8512820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9568573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4494719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4348995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7003965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36829958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96437905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437452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600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ZAS Robotic Products</a:t>
            </a:r>
            <a:endParaRPr/>
          </a:p>
        </p:txBody>
      </p:sp>
      <p:sp>
        <p:nvSpPr>
          <p:cNvPr id="784748513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8" y="3602036"/>
            <a:ext cx="9144000" cy="231770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Navigational Robotic Series</a:t>
            </a:r>
            <a:endParaRPr/>
          </a:p>
          <a:p>
            <a:pPr>
              <a:defRPr/>
            </a:pPr>
            <a:r>
              <a:rPr lang="en-GB" sz="3200">
                <a:solidFill>
                  <a:schemeClr val="accent5"/>
                </a:solidFill>
              </a:rPr>
              <a:t>Robot Car-</a:t>
            </a:r>
            <a:r>
              <a:rPr lang="en-US" sz="3200">
                <a:solidFill>
                  <a:schemeClr val="accent5"/>
                </a:solidFill>
              </a:rPr>
              <a:t>1</a:t>
            </a:r>
            <a:r>
              <a:rPr lang="en-GB" sz="3200">
                <a:solidFill>
                  <a:schemeClr val="accent5"/>
                </a:solidFill>
              </a:rPr>
              <a:t> </a:t>
            </a:r>
            <a:r>
              <a:rPr lang="en-US" sz="3200">
                <a:solidFill>
                  <a:schemeClr val="accent5"/>
                </a:solidFill>
              </a:rPr>
              <a:t>Sensor</a:t>
            </a:r>
            <a:endParaRPr/>
          </a:p>
          <a:p>
            <a:pPr>
              <a:defRPr/>
            </a:pPr>
            <a:endParaRPr lang="en-GB" sz="3200">
              <a:solidFill>
                <a:schemeClr val="accent5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 lang="en-GB" sz="3200">
              <a:solidFill>
                <a:schemeClr val="accent5"/>
              </a:solidFill>
            </a:endParaRPr>
          </a:p>
        </p:txBody>
      </p:sp>
      <p:pic>
        <p:nvPicPr>
          <p:cNvPr id="150620396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966071" y="156102"/>
            <a:ext cx="4042963" cy="1089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119317" name="Title 1"/>
          <p:cNvSpPr>
            <a:spLocks noGrp="1"/>
          </p:cNvSpPr>
          <p:nvPr>
            <p:ph type="title"/>
          </p:nvPr>
        </p:nvSpPr>
        <p:spPr bwMode="auto">
          <a:xfrm>
            <a:off x="642356" y="89165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59884872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79531" y="1958410"/>
            <a:ext cx="10898892" cy="460226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L</a:t>
            </a: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EARNING OBJECTIVES &amp; AGENDA</a:t>
            </a:r>
            <a:endParaRPr>
              <a:latin typeface="Aptos"/>
              <a:cs typeface="Aptos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Understand IR sensor working principle (forward-facing obstacle detection)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Program 4-sensor IR array for collision avoidance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Implement intelligent decision-making algorithms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Test autonomous navigation in obstacle course</a:t>
            </a:r>
            <a:endParaRPr/>
          </a:p>
        </p:txBody>
      </p:sp>
      <p:pic>
        <p:nvPicPr>
          <p:cNvPr id="169465727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611907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74617" y="86632"/>
            <a:ext cx="10515600" cy="1237392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35131156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35061" y="1451181"/>
            <a:ext cx="11070870" cy="500266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Car-1 - Assembled view and Creative Board component layout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63812499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pic>
        <p:nvPicPr>
          <p:cNvPr id="129078902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525208" y="2266987"/>
            <a:ext cx="5087323" cy="3866576"/>
          </a:xfrm>
          <a:prstGeom prst="rect">
            <a:avLst/>
          </a:prstGeom>
        </p:spPr>
      </p:pic>
      <p:sp>
        <p:nvSpPr>
          <p:cNvPr id="125295344" name=""/>
          <p:cNvSpPr/>
          <p:nvPr/>
        </p:nvSpPr>
        <p:spPr bwMode="auto">
          <a:xfrm flipH="0" flipV="0">
            <a:off x="4567568" y="3009007"/>
            <a:ext cx="1329014" cy="169133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558441761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5896584" y="1914511"/>
            <a:ext cx="5606709" cy="4571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836677" name="Title 1"/>
          <p:cNvSpPr>
            <a:spLocks noGrp="1"/>
          </p:cNvSpPr>
          <p:nvPr>
            <p:ph type="title"/>
          </p:nvPr>
        </p:nvSpPr>
        <p:spPr bwMode="auto">
          <a:xfrm>
            <a:off x="136717" y="-84413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15430813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5438" y="1070289"/>
            <a:ext cx="10515600" cy="550135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>
                <a:solidFill>
                  <a:schemeClr val="bg1"/>
                </a:solidFill>
              </a:rPr>
              <a:t>Robot Car-1 </a:t>
            </a:r>
            <a:r>
              <a:rPr lang="en-US" sz="2800">
                <a:solidFill>
                  <a:schemeClr val="bg1"/>
                </a:solidFill>
              </a:rPr>
              <a:t> – Forward &amp; </a:t>
            </a:r>
            <a:r>
              <a:rPr sz="2800" b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downward-facing IR sensors</a:t>
            </a:r>
            <a:endParaRPr/>
          </a:p>
        </p:txBody>
      </p:sp>
      <p:pic>
        <p:nvPicPr>
          <p:cNvPr id="84752461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pic>
        <p:nvPicPr>
          <p:cNvPr id="70291079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5643783" y="1498117"/>
            <a:ext cx="4905374" cy="1848983"/>
          </a:xfrm>
          <a:prstGeom prst="rect">
            <a:avLst/>
          </a:prstGeom>
        </p:spPr>
      </p:pic>
      <p:pic>
        <p:nvPicPr>
          <p:cNvPr id="953765244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299738" y="1486611"/>
            <a:ext cx="5143500" cy="1860490"/>
          </a:xfrm>
          <a:prstGeom prst="rect">
            <a:avLst/>
          </a:prstGeom>
        </p:spPr>
      </p:pic>
      <p:graphicFrame>
        <p:nvGraphicFramePr>
          <p:cNvPr id="1791867934" name=""/>
          <p:cNvGraphicFramePr>
            <a:graphicFrameLocks xmlns:a="http://schemas.openxmlformats.org/drawingml/2006/main"/>
          </p:cNvGraphicFramePr>
          <p:nvPr/>
        </p:nvGraphicFramePr>
        <p:xfrm>
          <a:off x="302664" y="3429000"/>
          <a:ext cx="10281147" cy="2350286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053688"/>
                <a:gridCol w="2053688"/>
                <a:gridCol w="2053688"/>
                <a:gridCol w="2053688"/>
                <a:gridCol w="2053688"/>
              </a:tblGrid>
              <a:tr h="31302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Sensor Type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Mounting Position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What It Detects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Working Principle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Main Purpose / Benefit</a:t>
                      </a:r>
                      <a:endParaRPr/>
                    </a:p>
                  </a:txBody>
                  <a:tcPr vert="horz"/>
                </a:tc>
              </a:tr>
              <a:tr h="104942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Downward-Facing IR Sensors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Mounted underneath the robot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Edges, pits, stairs, floor color changes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Light surface → high reflection → sensor ONDark surface / no floor → low or no reflection → sensor OFF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Prevents falling and unsafe movement; ensures floor safety</a:t>
                      </a:r>
                      <a:endParaRPr/>
                    </a:p>
                  </a:txBody>
                  <a:tcPr vert="horz"/>
                </a:tc>
              </a:tr>
              <a:tr h="97514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Forward-Facing IR Sensors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Mounted facing forward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Nearby obstacles, walls, objects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Object close → strong IR reflection → sensor ONObject far → weak or no reflection → sensor OFF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Quick detection of obstacles for collision avoidance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129619792" name=""/>
          <p:cNvSpPr/>
          <p:nvPr/>
        </p:nvSpPr>
        <p:spPr bwMode="auto">
          <a:xfrm flipH="0" flipV="0">
            <a:off x="136717" y="5779287"/>
            <a:ext cx="11967034" cy="10061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000" b="1" i="0" u="none">
                <a:solidFill>
                  <a:schemeClr val="bg1"/>
                </a:solidFill>
                <a:highlight>
                  <a:srgbClr val="FF0000"/>
                </a:highlight>
                <a:latin typeface="Times New Roman"/>
                <a:ea typeface="Times New Roman"/>
                <a:cs typeface="Times New Roman"/>
              </a:rPr>
              <a:t>Note:</a:t>
            </a:r>
            <a:r>
              <a:rPr sz="20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Always keep the </a:t>
            </a:r>
            <a:r>
              <a:rPr sz="2000" b="1" i="1" u="sng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“Motor Driver Standby/ON switch”</a:t>
            </a:r>
            <a:r>
              <a:rPr sz="20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in Standby mode</a:t>
            </a:r>
            <a:r>
              <a:rPr sz="20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during programming and IR sensor calibration. IR sensors are sensitive and require careful calibration to accurately understand the environment.</a:t>
            </a:r>
            <a:endParaRPr sz="28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888561" name="Title 1"/>
          <p:cNvSpPr>
            <a:spLocks noGrp="1"/>
          </p:cNvSpPr>
          <p:nvPr>
            <p:ph type="title"/>
          </p:nvPr>
        </p:nvSpPr>
        <p:spPr bwMode="auto">
          <a:xfrm>
            <a:off x="332207" y="-80408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95646837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09778" y="1094927"/>
            <a:ext cx="10898892" cy="562598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What do L, LC(C1), RC(C2), R mean?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22798859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graphicFrame>
        <p:nvGraphicFramePr>
          <p:cNvPr id="2085524353" name=""/>
          <p:cNvGraphicFramePr>
            <a:graphicFrameLocks xmlns:a="http://schemas.openxmlformats.org/drawingml/2006/main"/>
          </p:cNvGraphicFramePr>
          <p:nvPr/>
        </p:nvGraphicFramePr>
        <p:xfrm>
          <a:off x="525081" y="1600328"/>
          <a:ext cx="8140698" cy="460171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8"/>
                <a:gridCol w="4063998"/>
              </a:tblGrid>
              <a:tr h="372700">
                <a:tc gridSpan="2">
                  <a:txBody>
                    <a:bodyPr/>
                    <a:p>
                      <a:pPr>
                        <a:defRPr/>
                      </a:pPr>
                      <a:r>
                        <a:rPr sz="1400"/>
                        <a:t>Sensor Meanings</a:t>
                      </a:r>
                      <a:endParaRPr sz="1400"/>
                    </a:p>
                  </a:txBody>
                  <a:tcPr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</a:tr>
              <a:tr h="2100832"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L – Left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on the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far left</a:t>
                      </a:r>
                      <a:endParaRPr sz="1200" b="1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wall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Left edge of line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Obstacle on left side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Wall following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Line correction from left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LC(C1) – Left-Center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slightly left of center</a:t>
                      </a:r>
                      <a:endParaRPr sz="120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Objects slightly ahead on the left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Fine correction when robot drifts left/right</a:t>
                      </a:r>
                      <a:endParaRPr sz="1200"/>
                    </a:p>
                  </a:txBody>
                  <a:tcPr/>
                </a:tc>
              </a:tr>
              <a:tr h="1879195"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 – Right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on the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far right</a:t>
                      </a:r>
                      <a:endParaRPr sz="1200" b="1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Right wall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Right edge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Obstacle on right side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Avoiding right-side collisions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lang="en-US" sz="1200" b="1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RC(C2) – Right-Center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slightly right of center</a:t>
                      </a:r>
                      <a:endParaRPr sz="1200" b="0" i="0" u="none" strike="noStrike" cap="none" spc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  Objects slightly ahead on the right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   Fine correction from the right side</a:t>
                      </a:r>
                      <a:endParaRPr sz="120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75306086" name=""/>
          <p:cNvGraphicFramePr>
            <a:graphicFrameLocks xmlns:a="http://schemas.openxmlformats.org/drawingml/2006/main"/>
          </p:cNvGraphicFramePr>
          <p:nvPr/>
        </p:nvGraphicFramePr>
        <p:xfrm>
          <a:off x="8742675" y="5103486"/>
          <a:ext cx="2414764" cy="8356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912735"/>
                <a:gridCol w="1489329"/>
              </a:tblGrid>
              <a:tr h="16573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Signal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Meaning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 (1)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obstacle / clear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 (0)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detected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510305760" name=""/>
          <p:cNvSpPr/>
          <p:nvPr/>
        </p:nvSpPr>
        <p:spPr bwMode="auto">
          <a:xfrm flipH="0" flipV="0">
            <a:off x="267049" y="5965755"/>
            <a:ext cx="11805473" cy="8842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highlight>
                  <a:srgbClr val="FF0000"/>
                </a:highlight>
              </a:rPr>
              <a:t>Note:</a:t>
            </a:r>
            <a:r>
              <a:rPr sz="2800">
                <a:solidFill>
                  <a:schemeClr val="bg1"/>
                </a:solidFill>
              </a:rPr>
              <a:t> 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sensors must be calibrated before each experiment due to surface and lighting variations</a:t>
            </a:r>
            <a:endParaRPr sz="28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9338379" name="Title 1"/>
          <p:cNvSpPr>
            <a:spLocks noGrp="1"/>
          </p:cNvSpPr>
          <p:nvPr>
            <p:ph type="title"/>
          </p:nvPr>
        </p:nvSpPr>
        <p:spPr bwMode="auto">
          <a:xfrm>
            <a:off x="295036" y="-82369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207080393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74571" y="1103827"/>
            <a:ext cx="11196689" cy="557257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Arduino Component–Pin Mapping Table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46256716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graphicFrame>
        <p:nvGraphicFramePr>
          <p:cNvPr id="2054709766" name=""/>
          <p:cNvGraphicFramePr>
            <a:graphicFrameLocks xmlns:a="http://schemas.openxmlformats.org/drawingml/2006/main"/>
          </p:cNvGraphicFramePr>
          <p:nvPr/>
        </p:nvGraphicFramePr>
        <p:xfrm>
          <a:off x="618816" y="1557139"/>
          <a:ext cx="5817984" cy="1747231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100485"/>
                <a:gridCol w="1891783"/>
                <a:gridCol w="1813015"/>
              </a:tblGrid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Pin(s)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Function</a:t>
                      </a:r>
                      <a:endParaRPr/>
                    </a:p>
                  </a:txBody>
                  <a:tcPr vert="horz"/>
                </a:tc>
              </a:tr>
              <a:tr h="52277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Sensors (Left / LC / RC / Right)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A0, A1, A2, A3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detection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(IN1–IN4)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8, 7, 4, 3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Direction control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(ENA, ENB)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6, 5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control (PWM)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 (SDA, SCL)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A4 (SDA), A5 (SCL)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Display interface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graphicFrame>
        <p:nvGraphicFramePr>
          <p:cNvPr id="1031881045" name=""/>
          <p:cNvGraphicFramePr>
            <a:graphicFrameLocks xmlns:a="http://schemas.openxmlformats.org/drawingml/2006/main"/>
          </p:cNvGraphicFramePr>
          <p:nvPr/>
        </p:nvGraphicFramePr>
        <p:xfrm>
          <a:off x="609912" y="5372213"/>
          <a:ext cx="5826889" cy="138429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846593"/>
                <a:gridCol w="1203489"/>
                <a:gridCol w="2423300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Purpose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(L)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edge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(LC)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path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(RC)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path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(R)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edge detection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186414703" name=""/>
          <p:cNvSpPr/>
          <p:nvPr/>
        </p:nvSpPr>
        <p:spPr bwMode="auto">
          <a:xfrm flipH="0" flipV="0">
            <a:off x="532222" y="4486541"/>
            <a:ext cx="6749133" cy="7928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endParaRPr/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Sensors Pin Configuration</a:t>
            </a:r>
            <a:endParaRPr sz="36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78782717" name=""/>
          <p:cNvGraphicFramePr>
            <a:graphicFrameLocks xmlns:a="http://schemas.openxmlformats.org/drawingml/2006/main"/>
          </p:cNvGraphicFramePr>
          <p:nvPr/>
        </p:nvGraphicFramePr>
        <p:xfrm>
          <a:off x="618816" y="3871139"/>
          <a:ext cx="4356110" cy="8356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408690"/>
                <a:gridCol w="533356"/>
                <a:gridCol w="711560"/>
                <a:gridCol w="1689800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(Speed Control)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endParaRPr/>
                    </a:p>
                  </a:txBody>
                  <a:tcPr vert="horz" anchor="ctr"/>
                </a:tc>
              </a:tr>
            </a:tbl>
          </a:graphicData>
        </a:graphic>
      </p:graphicFrame>
      <p:sp>
        <p:nvSpPr>
          <p:cNvPr id="142737587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sp>
        <p:nvSpPr>
          <p:cNvPr id="41332919" name=""/>
          <p:cNvSpPr/>
          <p:nvPr/>
        </p:nvSpPr>
        <p:spPr bwMode="auto">
          <a:xfrm flipH="0" flipV="0">
            <a:off x="618816" y="3352619"/>
            <a:ext cx="4828223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Motor Driver Pin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Configuration</a:t>
            </a:r>
            <a:endParaRPr/>
          </a:p>
        </p:txBody>
      </p:sp>
      <p:sp>
        <p:nvSpPr>
          <p:cNvPr id="1133918285" name=""/>
          <p:cNvSpPr txBox="1"/>
          <p:nvPr/>
        </p:nvSpPr>
        <p:spPr bwMode="auto">
          <a:xfrm flipH="0" flipV="0">
            <a:off x="6383391" y="3429000"/>
            <a:ext cx="5334995" cy="2926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b="1" i="0" u="none">
                <a:solidFill>
                  <a:schemeClr val="bg1"/>
                </a:solidFill>
                <a:highlight>
                  <a:srgbClr val="FF0000"/>
                </a:highlight>
                <a:latin typeface="Times New Roman"/>
                <a:ea typeface="Times New Roman"/>
                <a:cs typeface="Times New Roman"/>
              </a:rPr>
              <a:t>Note: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394022" indent="-394022">
              <a:buFont typeface="Arial"/>
              <a:buChar char="•"/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Downward IR sensors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detect lines, floor edges, and pits.</a:t>
            </a:r>
            <a:endParaRPr sz="2800">
              <a:solidFill>
                <a:schemeClr val="bg1"/>
              </a:solidFill>
            </a:endParaRPr>
          </a:p>
          <a:p>
            <a:pPr marL="394022" indent="-394022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while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forward IR sensors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detect walls and nearby obstacles.</a:t>
            </a:r>
            <a:endParaRPr sz="2800">
              <a:solidFill>
                <a:schemeClr val="bg1"/>
              </a:solidFill>
            </a:endParaRPr>
          </a:p>
          <a:p>
            <a:pPr marL="394022" indent="-394022" algn="l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Use the “</a:t>
            </a:r>
            <a:r>
              <a:rPr sz="2800" b="1" i="1" u="none">
                <a:solidFill>
                  <a:srgbClr val="FFC000"/>
                </a:solidFill>
                <a:latin typeface="Times New Roman"/>
                <a:ea typeface="Times New Roman"/>
                <a:cs typeface="Times New Roman"/>
              </a:rPr>
              <a:t>Line/Wall Following Switch(2)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”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to select the mode.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57399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553338" y="31473"/>
            <a:ext cx="10515600" cy="121478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28333413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246260"/>
            <a:ext cx="10515600" cy="550135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Schematics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IR Sensor Modules (4x Forward-Facing)</a:t>
            </a:r>
            <a:endParaRPr sz="2800" b="1" i="0" u="none">
              <a:solidFill>
                <a:schemeClr val="bg1"/>
              </a:solidFill>
              <a:latin typeface="Aptos"/>
              <a:ea typeface="Aptos"/>
              <a:cs typeface="Aptos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   Function:</a:t>
            </a: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Detects obstacles by emitting infrared light and measuring reflection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Range: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5 cm to 30 cm (adjustable via potentiometer)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Output: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Digital signal (HIGH = clear, LOW = obstacle detected)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Response Time: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&lt;10 ms (instant detection)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DC Gear Motors (2x)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     Function:</a:t>
            </a: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Controls movement direction and speed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Voltage: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6V - 9V DC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Capabilities: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Forward, backward, left turn, right turn movements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Speed Control: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PWM (0-255) for smooth navigation</a:t>
            </a:r>
            <a:endParaRPr/>
          </a:p>
        </p:txBody>
      </p:sp>
      <p:pic>
        <p:nvPicPr>
          <p:cNvPr id="72139432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71139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70556" y="-4132"/>
            <a:ext cx="10515600" cy="115247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12104369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97846" y="1148340"/>
            <a:ext cx="10515600" cy="562598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Schematics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TB6612 Motor Driver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   Function: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Interfaces Arduino with DC motors for dual motor control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Features: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PWM speed control, direction control, thermal protection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457200" lvl="1" indent="0">
              <a:buFont typeface="Arial"/>
              <a:buNone/>
              <a:defRPr/>
            </a:pP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Arduino Nano/Uno Microcontroller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    Function: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Acts as the brain of the robot, processing sensor inputs and  controlling motor   outputs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Reads: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4 IR sensors (pins A0-A3)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Executes: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Obstacle avoidance algorithm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Controls: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Motor driver (pins 3-8) with PWM signals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457200" lvl="1" indent="0">
              <a:buFont typeface="Arial"/>
              <a:buNone/>
              <a:defRPr/>
            </a:pP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OLED Display (128x64, I2C)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     Function: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Real-time visual feedback of sensor status and robot actions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Connection: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SDA (A4), SCL (A5)</a:t>
            </a:r>
            <a:endParaRPr/>
          </a:p>
        </p:txBody>
      </p:sp>
      <p:pic>
        <p:nvPicPr>
          <p:cNvPr id="25189724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6734454" name="Title 1"/>
          <p:cNvSpPr>
            <a:spLocks noGrp="1"/>
          </p:cNvSpPr>
          <p:nvPr>
            <p:ph type="title"/>
          </p:nvPr>
        </p:nvSpPr>
        <p:spPr bwMode="auto">
          <a:xfrm>
            <a:off x="348594" y="-79300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76866921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19298" y="1246260"/>
            <a:ext cx="10934498" cy="518978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How IR Sensors Work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Working Principle: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2800">
                <a:solidFill>
                  <a:schemeClr val="bg1"/>
                </a:solidFill>
              </a:rPr>
              <a:t>	</a:t>
            </a:r>
            <a:r>
              <a:rPr sz="1600" b="0" i="0" u="none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[IR LED] → Emits Infrared Light → [Obstacle] → Reflects Back → [IR Receiver]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Digital Output: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Car-1 Setup: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4 Forward-Facing IR Sensors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Detection Range: 5-30 cm (adjustable)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Fast Response: &lt;10ms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Key Advantage: 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	Simple digital interface, no distance calculation needed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142560686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  <p:graphicFrame>
        <p:nvGraphicFramePr>
          <p:cNvPr id="709802497" name=""/>
          <p:cNvGraphicFramePr>
            <a:graphicFrameLocks xmlns:a="http://schemas.openxmlformats.org/drawingml/2006/main"/>
          </p:cNvGraphicFramePr>
          <p:nvPr/>
        </p:nvGraphicFramePr>
        <p:xfrm>
          <a:off x="1852235" y="2859838"/>
          <a:ext cx="4588509" cy="8356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213802"/>
                <a:gridCol w="1985331"/>
                <a:gridCol w="2108757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Condition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Output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Robot Action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Object Detected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 (LOW)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/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Path Clear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 (HIGH)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7010906" name="Title 1"/>
          <p:cNvSpPr>
            <a:spLocks noGrp="1"/>
          </p:cNvSpPr>
          <p:nvPr>
            <p:ph type="title"/>
          </p:nvPr>
        </p:nvSpPr>
        <p:spPr bwMode="auto">
          <a:xfrm>
            <a:off x="244837" y="-232066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44264248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28770" y="834105"/>
            <a:ext cx="10515600" cy="518978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ALGORITHM – IR OBSTACLE AVOIDANCE</a:t>
            </a:r>
            <a:endParaRPr/>
          </a:p>
        </p:txBody>
      </p:sp>
      <p:pic>
        <p:nvPicPr>
          <p:cNvPr id="71423828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graphicFrame>
        <p:nvGraphicFramePr>
          <p:cNvPr id="34525972" name=""/>
          <p:cNvGraphicFramePr>
            <a:graphicFrameLocks xmlns:a="http://schemas.openxmlformats.org/drawingml/2006/main"/>
          </p:cNvGraphicFramePr>
          <p:nvPr/>
        </p:nvGraphicFramePr>
        <p:xfrm>
          <a:off x="562991" y="1274418"/>
          <a:ext cx="11534458" cy="5374551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810000"/>
                <a:gridCol w="1620000"/>
                <a:gridCol w="900000"/>
                <a:gridCol w="720000"/>
                <a:gridCol w="1260000"/>
                <a:gridCol w="450000"/>
                <a:gridCol w="1530000"/>
                <a:gridCol w="4231758"/>
              </a:tblGrid>
              <a:tr h="30881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Priority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Condition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LC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RC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Situation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Robot Action</a:t>
                      </a:r>
                      <a:endParaRPr sz="1400" b="1"/>
                    </a:p>
                  </a:txBody>
                  <a:tcPr vert="horz"/>
                </a:tc>
              </a:tr>
              <a:tr h="71123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All Clear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Safe path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 (slow, 100 PWM)</a:t>
                      </a:r>
                      <a:endParaRPr sz="1400" b="1"/>
                    </a:p>
                  </a:txBody>
                  <a:tcPr vert="horz"/>
                </a:tc>
              </a:tr>
              <a:tr h="106204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Side Blocked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X/✓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on left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 → BACKUP → TURN RIGHT → VERIFY</a:t>
                      </a:r>
                      <a:endParaRPr sz="1400" b="1"/>
                    </a:p>
                  </a:txBody>
                  <a:tcPr vert="horz"/>
                </a:tc>
              </a:tr>
              <a:tr h="106204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Side Blocked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X/✓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on right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 → BACKUP → TURN LEFT → VERIFY</a:t>
                      </a:r>
                      <a:endParaRPr sz="1400" b="1"/>
                    </a:p>
                  </a:txBody>
                  <a:tcPr vert="horz"/>
                </a:tc>
              </a:tr>
              <a:tr h="116965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Sides Blocked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X/✓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X/✓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safe side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 → LONG BACKUP → 180° TURN → VERIFY</a:t>
                      </a:r>
                      <a:endParaRPr sz="1400" b="1"/>
                    </a:p>
                  </a:txBody>
                  <a:tcPr vert="horz"/>
                </a:tc>
              </a:tr>
              <a:tr h="52402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Center Clear (fallback)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X/✓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X/✓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Only center open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 (slow)</a:t>
                      </a:r>
                      <a:endParaRPr sz="1400" b="1"/>
                    </a:p>
                  </a:txBody>
                  <a:tcPr vert="horz"/>
                </a:tc>
              </a:tr>
              <a:tr h="52402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Default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Uncertain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Reassess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 → RECHECK</a:t>
                      </a:r>
                      <a:endParaRPr sz="1400" b="1"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610100" name="Title 1"/>
          <p:cNvSpPr>
            <a:spLocks noGrp="1"/>
          </p:cNvSpPr>
          <p:nvPr>
            <p:ph type="title"/>
          </p:nvPr>
        </p:nvSpPr>
        <p:spPr bwMode="auto">
          <a:xfrm>
            <a:off x="135533" y="-232066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22576313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29222" y="827581"/>
            <a:ext cx="11530285" cy="595148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Flowchart   </a:t>
            </a:r>
            <a:endParaRPr lang="en-US" sz="1400" b="1" i="0" u="none" strike="noStrike" cap="none" spc="0">
              <a:solidFill>
                <a:schemeClr val="bg1"/>
              </a:solidFill>
              <a:latin typeface="Aptos"/>
              <a:ea typeface="Aptos"/>
              <a:cs typeface="Aptos"/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88048085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60333782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184753" y="827581"/>
            <a:ext cx="4779712" cy="57774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3239780" name="Title 1"/>
          <p:cNvSpPr>
            <a:spLocks noGrp="1"/>
          </p:cNvSpPr>
          <p:nvPr>
            <p:ph type="title"/>
          </p:nvPr>
        </p:nvSpPr>
        <p:spPr bwMode="auto">
          <a:xfrm>
            <a:off x="119919" y="-347822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77064017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74570" y="705326"/>
            <a:ext cx="10515600" cy="553900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Main Decision Function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endParaRPr/>
          </a:p>
        </p:txBody>
      </p:sp>
      <p:pic>
        <p:nvPicPr>
          <p:cNvPr id="88906467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69360918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340900" y="977737"/>
            <a:ext cx="4829175" cy="57012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2042836" name="Title 1"/>
          <p:cNvSpPr>
            <a:spLocks noGrp="1"/>
          </p:cNvSpPr>
          <p:nvPr>
            <p:ph type="title"/>
          </p:nvPr>
        </p:nvSpPr>
        <p:spPr bwMode="auto">
          <a:xfrm>
            <a:off x="366397" y="42544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88065709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749179" y="1379787"/>
            <a:ext cx="10515600" cy="518978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Decision Logic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IF</a:t>
            </a: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all sensors are CLEAR </a:t>
            </a: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THEN</a:t>
            </a:r>
            <a:endParaRPr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Action: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Move FORWARD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ELSE IF</a:t>
            </a: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Left side blocked AND Right-Center clear </a:t>
            </a: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THEN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Action: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Turn RIGHT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ELSE IF</a:t>
            </a: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Right side blocked AND Left-Center clear </a:t>
            </a: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THEN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Action: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Turn LEFT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ELSE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Action: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Move BACKWARD (then turn)</a:t>
            </a:r>
            <a:r>
              <a:rPr lang="en-US" sz="24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Main Loop Explanation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2400" b="0" i="0" u="none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50044418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1010213" name="Title 1"/>
          <p:cNvSpPr>
            <a:spLocks noGrp="1"/>
          </p:cNvSpPr>
          <p:nvPr>
            <p:ph type="title"/>
          </p:nvPr>
        </p:nvSpPr>
        <p:spPr bwMode="auto">
          <a:xfrm>
            <a:off x="366398" y="-4133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25460096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246260"/>
            <a:ext cx="10515600" cy="518978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Movement Control Functions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Function Descriptions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forward()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Set pins to move forward.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backward()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Set pins to move backward.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turnLeft()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/ </a:t>
            </a: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turnRight()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Define how the wheels are activated to turn.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Stop()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Explain how all motors are disabled.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Execute Motor Commands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FORWARD: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Both motors move forward at set speed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TURN RIGHT: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Left motor forward + Right motor backward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TURN LEFT: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Right motor forward + Left motor backward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BACKWARD: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Both motors reverse + random turn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140566358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546245" name="Title 1"/>
          <p:cNvSpPr>
            <a:spLocks noGrp="1"/>
          </p:cNvSpPr>
          <p:nvPr>
            <p:ph type="title"/>
          </p:nvPr>
        </p:nvSpPr>
        <p:spPr bwMode="auto">
          <a:xfrm>
            <a:off x="170556" y="42544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78640575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749179" y="1397591"/>
            <a:ext cx="10515600" cy="518978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Repeat Loop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REPEAT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continuously: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Read sensors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Make decision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Execute action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Wait 15ms</a:t>
            </a:r>
            <a:endParaRPr sz="2400">
              <a:solidFill>
                <a:schemeClr val="bg1"/>
              </a:solidFill>
            </a:endParaRPr>
          </a:p>
          <a:p>
            <a:pPr lvl="1">
              <a:defRPr/>
            </a:pPr>
            <a:endParaRPr/>
          </a:p>
          <a:p>
            <a:pPr marL="457200" lvl="1" indent="0">
              <a:buFont typeface="Arial"/>
              <a:buNone/>
              <a:defRPr/>
            </a:pPr>
            <a:endParaRPr/>
          </a:p>
        </p:txBody>
      </p:sp>
      <p:pic>
        <p:nvPicPr>
          <p:cNvPr id="204115625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graphicFrame>
        <p:nvGraphicFramePr>
          <p:cNvPr id="1688621975" name=""/>
          <p:cNvGraphicFramePr>
            <a:graphicFrameLocks xmlns:a="http://schemas.openxmlformats.org/drawingml/2006/main"/>
          </p:cNvGraphicFramePr>
          <p:nvPr/>
        </p:nvGraphicFramePr>
        <p:xfrm>
          <a:off x="1418346" y="3707153"/>
          <a:ext cx="4227829" cy="138429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705484"/>
                <a:gridCol w="720089"/>
                <a:gridCol w="720089"/>
                <a:gridCol w="539749"/>
                <a:gridCol w="1529714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LC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RC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Action</a:t>
                      </a:r>
                      <a:endParaRPr/>
                    </a:p>
                  </a:txBody>
                  <a:tcPr vert="horz"/>
                </a:tc>
              </a:tr>
              <a:tr h="1390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RIGHT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LEFT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99800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45931" y="-90981"/>
            <a:ext cx="10515600" cy="99897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27713266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10907" y="1166142"/>
            <a:ext cx="10663927" cy="548355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Safety Guidelines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Troubleshooting Guide — Common Issues &amp; Quick Fixes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Emergency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Press the reset button or disconnect the battery immediately.</a:t>
            </a:r>
            <a:endParaRPr/>
          </a:p>
        </p:txBody>
      </p:sp>
      <p:pic>
        <p:nvPicPr>
          <p:cNvPr id="53049753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graphicFrame>
        <p:nvGraphicFramePr>
          <p:cNvPr id="773441438" name=""/>
          <p:cNvGraphicFramePr>
            <a:graphicFrameLocks xmlns:a="http://schemas.openxmlformats.org/drawingml/2006/main"/>
          </p:cNvGraphicFramePr>
          <p:nvPr/>
        </p:nvGraphicFramePr>
        <p:xfrm>
          <a:off x="1159437" y="2505925"/>
          <a:ext cx="5956299" cy="2670457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981199"/>
                <a:gridCol w="1694179"/>
                <a:gridCol w="2268219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Problem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Cause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Solution</a:t>
                      </a:r>
                      <a:endParaRPr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Sensors always show blocked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Sensitivity too 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potentiometer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clockwise</a:t>
                      </a:r>
                      <a:endParaRPr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Robot ignores obstacles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Sensitivity too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potentiometer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counter-clockwise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Motors don’t move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Battery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Charge/replace battery (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6–9V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)</a:t>
                      </a:r>
                      <a:endParaRPr/>
                    </a:p>
                  </a:txBody>
                  <a:tcPr vert="horz"/>
                </a:tc>
              </a:tr>
              <a:tr h="46319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Robot turns randomly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Sensor noise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Add </a:t>
                      </a:r>
                      <a:r>
                        <a:rPr sz="1000">
                          <a:solidFill>
                            <a:srgbClr val="000000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if (confidence &gt;= 2)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filtering logic</a:t>
                      </a:r>
                      <a:endParaRPr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Gets stuck in corners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backup logic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Implement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 movement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routine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Erratic Serial Monitor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Wrong baud rate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Set to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115200 baud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8273910" name="Title 1"/>
          <p:cNvSpPr>
            <a:spLocks noGrp="1"/>
          </p:cNvSpPr>
          <p:nvPr>
            <p:ph type="title"/>
          </p:nvPr>
        </p:nvSpPr>
        <p:spPr bwMode="auto">
          <a:xfrm>
            <a:off x="161656" y="-39740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96913267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56985" y="1285821"/>
            <a:ext cx="10916695" cy="540838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Common Troubleshooting</a:t>
            </a:r>
            <a:endParaRPr sz="2000">
              <a:solidFill>
                <a:schemeClr val="bg1"/>
              </a:solidFill>
            </a:endParaRPr>
          </a:p>
          <a:p>
            <a:pPr marL="400050" marR="0" lvl="1" indent="0">
              <a:spcBef>
                <a:spcPts val="899"/>
              </a:spcBef>
              <a:defRPr/>
            </a:pPr>
            <a:r>
              <a:rPr sz="24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Robot moves in circles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 Check motor polarity (swap IN1/IN2 if needed)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spcBef>
                <a:spcPts val="599"/>
              </a:spcBef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Calibrate motor speeds (add trim values)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L="400050" marR="0" lvl="1" indent="0">
              <a:spcBef>
                <a:spcPts val="1199"/>
              </a:spcBef>
              <a:defRPr/>
            </a:pPr>
            <a:r>
              <a:rPr sz="24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Motors don't move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Verify power supply (VM to battery)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spcBef>
                <a:spcPts val="599"/>
              </a:spcBef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Check motor driver connections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spcBef>
                <a:spcPts val="599"/>
              </a:spcBef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 Test with higher PWM values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L="400050" marR="0" lvl="1" indent="0">
              <a:spcBef>
                <a:spcPts val="1199"/>
              </a:spcBef>
              <a:defRPr/>
            </a:pPr>
            <a:r>
              <a:rPr sz="24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OLED display blank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 Confirm I2C address (0x3C or 0x3D)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 </a:t>
            </a: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Check SDA/SCL connections</a:t>
            </a:r>
            <a:endParaRPr sz="120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55626964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3604" name="Title 1"/>
          <p:cNvSpPr>
            <a:spLocks noGrp="1"/>
          </p:cNvSpPr>
          <p:nvPr>
            <p:ph type="title"/>
          </p:nvPr>
        </p:nvSpPr>
        <p:spPr bwMode="auto">
          <a:xfrm>
            <a:off x="838198" y="12618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Applications</a:t>
            </a:r>
            <a:endParaRPr/>
          </a:p>
        </p:txBody>
      </p:sp>
      <p:sp>
        <p:nvSpPr>
          <p:cNvPr id="127413306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722475" y="1272967"/>
            <a:ext cx="10708434" cy="544794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Industrial Robotics: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Warehouse AGVs (Automated Guided Vehicles)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Assembly line robots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Material handling systems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Consumer Products: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Robotic vacuum cleaners 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Lawn mowing robots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Floor cleaning machines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Education &amp; Research: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STEM learning platforms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Robotics competitions (line following, maze solving)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AI/ML training datasets</a:t>
            </a:r>
            <a:endParaRPr/>
          </a:p>
        </p:txBody>
      </p:sp>
      <p:pic>
        <p:nvPicPr>
          <p:cNvPr id="188193801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43890" name="Title 1"/>
          <p:cNvSpPr>
            <a:spLocks noGrp="1"/>
          </p:cNvSpPr>
          <p:nvPr>
            <p:ph type="title"/>
          </p:nvPr>
        </p:nvSpPr>
        <p:spPr bwMode="auto">
          <a:xfrm>
            <a:off x="669064" y="4254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Q&amp;A</a:t>
            </a:r>
            <a:endParaRPr/>
          </a:p>
        </p:txBody>
      </p:sp>
      <p:sp>
        <p:nvSpPr>
          <p:cNvPr id="17498873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69064" y="1290771"/>
            <a:ext cx="10515600" cy="494053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 lang="en-GB"/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Questions &amp; Discussion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Common Questions: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"Why does my robot turn when no obstacle is present?"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→ Check sensor sensitivity and add confidence threshold</a:t>
            </a:r>
            <a:r>
              <a:rPr sz="2800">
                <a:solidFill>
                  <a:schemeClr val="bg1"/>
                </a:solidFill>
              </a:rPr>
              <a:t>, Calibrate 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"Can IR sensors work in sunlight?"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→ Yes, but may need sensitivity adjustment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"How to make robot faster while staying safe?"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→ Use adaptive speed based on obstacle distance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"What if both left and right sensors detect obstacles?"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→ Implement backup + 180° turn logic</a:t>
            </a:r>
            <a:endParaRPr lang="en-GB">
              <a:solidFill>
                <a:schemeClr val="bg1"/>
              </a:solidFill>
            </a:endParaRPr>
          </a:p>
        </p:txBody>
      </p:sp>
      <p:pic>
        <p:nvPicPr>
          <p:cNvPr id="59203206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19</Slides>
  <Notes>19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11</cp:revision>
  <dcterms:created xsi:type="dcterms:W3CDTF">2025-11-29T15:09:33Z</dcterms:created>
  <dcterms:modified xsi:type="dcterms:W3CDTF">2025-12-31T18:08:21Z</dcterms:modified>
</cp:coreProperties>
</file>