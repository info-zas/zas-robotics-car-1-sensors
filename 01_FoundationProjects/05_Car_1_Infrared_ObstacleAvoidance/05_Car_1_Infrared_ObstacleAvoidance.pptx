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0029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9333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07967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6246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728584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458949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064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312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635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370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6951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229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755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0327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08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18BF93-9F91-6B90-31DE-F6F60EF11C9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434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9472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80B79D-1545-BF60-5A96-2E81DC9D877A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70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471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576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ACFA0-8DA5-7224-5123-4C646C7DA890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392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017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133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0B90A-827E-9FA7-D005-A7643B8DF415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46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759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311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F5FBB-66D7-9EF0-C7B5-5C7D211EACA4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412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793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885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D5617A-E65C-B151-71D5-37FE2C93EEB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886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27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774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38BF6-1E0A-899B-B71D-612E876CC103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78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4195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0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E930B-CC78-BCF2-6077-004FA3907EBE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29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99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700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B6CC6B-8C65-038C-1B7D-F6B7CB1BCAA6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214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775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682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E1838-2F58-04D8-2A5A-90A472F8DAE6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056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405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808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17655-8D67-4EBF-F3CC-C98034D4D4F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682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564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23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FCE9BE-B98C-CBBB-9DE4-F96A40E1FB5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883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115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919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B77C5-AC81-4A4A-4A0B-A27F253CE313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1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526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204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FC249-CDC0-C528-02DA-138BEC6A3CAF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744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885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64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551AC-64DF-F8F9-D80B-FEFFBCD0CF7A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811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77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299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76D30-61DE-A4E1-0BE8-E3355223D533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977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729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746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68048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0923453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307782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431603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950570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5278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872512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28059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117457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45450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82610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070660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5156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257318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102617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0464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2377269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49517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841272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449554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599744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012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95827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50117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7362449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091939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482493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4183893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1875202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9418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3143595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159354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685120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9470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408737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103527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46075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5686173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036022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880676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145286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2666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5555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062695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8871467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04475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340130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089509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0580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038351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349522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334819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2017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4029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932998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77237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882225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135596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3247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21645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165424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4616348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2238891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321933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11109149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</a:rPr>
              <a:t>Lab Session </a:t>
            </a:r>
            <a:r>
              <a:rPr lang="en-US" sz="3200">
                <a:solidFill>
                  <a:schemeClr val="bg1"/>
                </a:solidFill>
              </a:rPr>
              <a:t>3</a:t>
            </a:r>
            <a:r>
              <a:rPr lang="en-GB" sz="3200">
                <a:solidFill>
                  <a:schemeClr val="bg1"/>
                </a:solidFill>
              </a:rPr>
              <a:t> –</a:t>
            </a:r>
            <a:r>
              <a:rPr lang="en-GB" sz="2800">
                <a:solidFill>
                  <a:schemeClr val="bg1"/>
                </a:solidFill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 OBSTACLE AVOIDANCE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69589682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225174" name="Title 1"/>
          <p:cNvSpPr>
            <a:spLocks noGrp="1"/>
          </p:cNvSpPr>
          <p:nvPr>
            <p:ph type="title"/>
          </p:nvPr>
        </p:nvSpPr>
        <p:spPr bwMode="auto">
          <a:xfrm>
            <a:off x="642356" y="89165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2868027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9531" y="1958410"/>
            <a:ext cx="10898892" cy="46022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EARNING OBJECTIVES &amp; AGENDA</a:t>
            </a:r>
            <a:endParaRPr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Understand IR sensor working principle (forward-facing obstacle detection)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Program 4-sensor IR array for collision avoidance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Implement intelligent decision-making algorithms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Test autonomous navigation in obstacle course</a:t>
            </a:r>
            <a:endParaRPr/>
          </a:p>
        </p:txBody>
      </p:sp>
      <p:pic>
        <p:nvPicPr>
          <p:cNvPr id="153826374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2262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4617" y="86632"/>
            <a:ext cx="10515600" cy="123739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95338381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35061" y="1451181"/>
            <a:ext cx="11070870" cy="50026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4966486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16281087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1073954455" name=""/>
          <p:cNvSpPr/>
          <p:nvPr/>
        </p:nvSpPr>
        <p:spPr bwMode="auto">
          <a:xfrm flipH="0" flipV="0">
            <a:off x="4567568" y="3009007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9322202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156175" name="Title 1"/>
          <p:cNvSpPr>
            <a:spLocks noGrp="1"/>
          </p:cNvSpPr>
          <p:nvPr>
            <p:ph type="title"/>
          </p:nvPr>
        </p:nvSpPr>
        <p:spPr bwMode="auto">
          <a:xfrm>
            <a:off x="136717" y="-84413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6686985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8" y="1070289"/>
            <a:ext cx="10515600" cy="55013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</a:t>
            </a:r>
            <a:r>
              <a:rPr lang="en-US" sz="2800">
                <a:solidFill>
                  <a:schemeClr val="bg1"/>
                </a:solidFill>
              </a:rPr>
              <a:t> – Forward &amp;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84848712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pic>
        <p:nvPicPr>
          <p:cNvPr id="1067230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643783" y="1498117"/>
            <a:ext cx="4905374" cy="1848983"/>
          </a:xfrm>
          <a:prstGeom prst="rect">
            <a:avLst/>
          </a:prstGeom>
        </p:spPr>
      </p:pic>
      <p:pic>
        <p:nvPicPr>
          <p:cNvPr id="180246350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99738" y="1486611"/>
            <a:ext cx="5143500" cy="1860490"/>
          </a:xfrm>
          <a:prstGeom prst="rect">
            <a:avLst/>
          </a:prstGeom>
        </p:spPr>
      </p:pic>
      <p:graphicFrame>
        <p:nvGraphicFramePr>
          <p:cNvPr id="516159354" name=""/>
          <p:cNvGraphicFramePr>
            <a:graphicFrameLocks xmlns:a="http://schemas.openxmlformats.org/drawingml/2006/main"/>
          </p:cNvGraphicFramePr>
          <p:nvPr/>
        </p:nvGraphicFramePr>
        <p:xfrm>
          <a:off x="302664" y="3429000"/>
          <a:ext cx="10281147" cy="235028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53688"/>
                <a:gridCol w="2053688"/>
                <a:gridCol w="2053688"/>
                <a:gridCol w="2053688"/>
                <a:gridCol w="2053688"/>
              </a:tblGrid>
              <a:tr h="31302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 Type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Mounting Position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Detects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Working Principle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Purpose / Benefit</a:t>
                      </a:r>
                      <a:endParaRPr/>
                    </a:p>
                  </a:txBody>
                  <a:tcPr vert="horz"/>
                </a:tc>
              </a:tr>
              <a:tr h="104942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Downward-Facing IR Sensors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underneath the robot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Edges, pits, stairs, floor color changes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 surface → high reflection → sensor ONDark surface / no floor → low or no reflection → sensor OFF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Prevents falling and unsafe movement; ensures floor safety</a:t>
                      </a:r>
                      <a:endParaRPr/>
                    </a:p>
                  </a:txBody>
                  <a:tcPr vert="horz"/>
                </a:tc>
              </a:tr>
              <a:tr h="97514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Forward-Facing IR Sensors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facing forward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Nearby obstacles, walls, objects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 close → strong IR reflection → sensor ONObject far → weak or no reflection → sensor OFF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Quick detection of obstacles for collision avoidance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837484687" name=""/>
          <p:cNvSpPr/>
          <p:nvPr/>
        </p:nvSpPr>
        <p:spPr bwMode="auto">
          <a:xfrm flipH="0" flipV="0">
            <a:off x="136717" y="5779287"/>
            <a:ext cx="11967034" cy="1006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0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Always keep the </a:t>
            </a:r>
            <a:r>
              <a:rPr sz="2000" b="1" i="1" u="sng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“Motor Driver Standby/ON switch”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 Standby mode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during programming and IR sensor calibration. IR sensors are sensitive and require careful calibration to accurately understand the environment.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311252" name="Title 1"/>
          <p:cNvSpPr>
            <a:spLocks noGrp="1"/>
          </p:cNvSpPr>
          <p:nvPr>
            <p:ph type="title"/>
          </p:nvPr>
        </p:nvSpPr>
        <p:spPr bwMode="auto">
          <a:xfrm>
            <a:off x="332207" y="-80408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1281171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09778" y="1094927"/>
            <a:ext cx="10898892" cy="562598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do L, LC(C1), RC(C2), R mean?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294081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1464966070" name=""/>
          <p:cNvGraphicFramePr>
            <a:graphicFrameLocks xmlns:a="http://schemas.openxmlformats.org/drawingml/2006/main"/>
          </p:cNvGraphicFramePr>
          <p:nvPr/>
        </p:nvGraphicFramePr>
        <p:xfrm>
          <a:off x="525081" y="1600328"/>
          <a:ext cx="8140698" cy="460171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8"/>
                <a:gridCol w="4063998"/>
              </a:tblGrid>
              <a:tr h="3727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Sensor Meanings</a:t>
                      </a:r>
                      <a:endParaRPr sz="1400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100832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 – Left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left</a:t>
                      </a:r>
                      <a:endParaRPr sz="12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Left edge of line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Obstacle on left side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Wall following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Line correction from left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 – Left-Center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left of center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Objects slightly ahead on the left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Fine correction when robot drifts left/right</a:t>
                      </a:r>
                      <a:endParaRPr sz="1200"/>
                    </a:p>
                  </a:txBody>
                  <a:tcPr/>
                </a:tc>
              </a:tr>
              <a:tr h="1879195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– Right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right</a:t>
                      </a:r>
                      <a:endParaRPr sz="12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wall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edge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Obstacle on right side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Avoiding right-side collisions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 – Right-Center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right of center</a:t>
                      </a:r>
                      <a:endParaRPr sz="1200" b="0" i="0" u="none" strike="noStrike" cap="none" spc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Objects slightly ahead on the right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Fine correction from the right side</a:t>
                      </a:r>
                      <a:endParaRPr sz="12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48239756" name=""/>
          <p:cNvGraphicFramePr>
            <a:graphicFrameLocks xmlns:a="http://schemas.openxmlformats.org/drawingml/2006/main"/>
          </p:cNvGraphicFramePr>
          <p:nvPr/>
        </p:nvGraphicFramePr>
        <p:xfrm>
          <a:off x="8742675" y="5103486"/>
          <a:ext cx="2414764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912735"/>
                <a:gridCol w="1489329"/>
              </a:tblGrid>
              <a:tr h="16573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(1)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 / clear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(0)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545321589" name=""/>
          <p:cNvSpPr/>
          <p:nvPr/>
        </p:nvSpPr>
        <p:spPr bwMode="auto">
          <a:xfrm flipH="0" flipV="0">
            <a:off x="267049" y="5965755"/>
            <a:ext cx="11805473" cy="8842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  <a:highlight>
                  <a:srgbClr val="FF0000"/>
                </a:highlight>
              </a:rPr>
              <a:t>Note:</a:t>
            </a:r>
            <a:r>
              <a:rPr sz="2800">
                <a:solidFill>
                  <a:schemeClr val="bg1"/>
                </a:solidFill>
              </a:rPr>
              <a:t> 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must be calibrated before each experiment due to surface and lighting variations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368260" name="Title 1"/>
          <p:cNvSpPr>
            <a:spLocks noGrp="1"/>
          </p:cNvSpPr>
          <p:nvPr>
            <p:ph type="title"/>
          </p:nvPr>
        </p:nvSpPr>
        <p:spPr bwMode="auto">
          <a:xfrm>
            <a:off x="295036" y="-82369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7625777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1103827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56058990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530727152" name=""/>
          <p:cNvGraphicFramePr>
            <a:graphicFrameLocks xmlns:a="http://schemas.openxmlformats.org/drawingml/2006/main"/>
          </p:cNvGraphicFramePr>
          <p:nvPr/>
        </p:nvGraphicFramePr>
        <p:xfrm>
          <a:off x="618816" y="1557139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1066548450" name=""/>
          <p:cNvGraphicFramePr>
            <a:graphicFrameLocks xmlns:a="http://schemas.openxmlformats.org/drawingml/2006/main"/>
          </p:cNvGraphicFramePr>
          <p:nvPr/>
        </p:nvGraphicFramePr>
        <p:xfrm>
          <a:off x="609912" y="5372213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89"/>
                <a:gridCol w="24233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89865158" name=""/>
          <p:cNvSpPr/>
          <p:nvPr/>
        </p:nvSpPr>
        <p:spPr bwMode="auto">
          <a:xfrm flipH="0" flipV="0">
            <a:off x="532222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9576899" name=""/>
          <p:cNvGraphicFramePr>
            <a:graphicFrameLocks xmlns:a="http://schemas.openxmlformats.org/drawingml/2006/main"/>
          </p:cNvGraphicFramePr>
          <p:nvPr/>
        </p:nvGraphicFramePr>
        <p:xfrm>
          <a:off x="618816" y="3871139"/>
          <a:ext cx="4356110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6"/>
                <a:gridCol w="711560"/>
                <a:gridCol w="16898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1036052116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330268569" name=""/>
          <p:cNvSpPr/>
          <p:nvPr/>
        </p:nvSpPr>
        <p:spPr bwMode="auto">
          <a:xfrm flipH="0" flipV="0">
            <a:off x="618816" y="3352619"/>
            <a:ext cx="482822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208441742" name=""/>
          <p:cNvSpPr txBox="1"/>
          <p:nvPr/>
        </p:nvSpPr>
        <p:spPr bwMode="auto">
          <a:xfrm flipH="0" flipV="0">
            <a:off x="6383391" y="3429000"/>
            <a:ext cx="5334995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2" indent="-394022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1015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53338" y="31473"/>
            <a:ext cx="10515600" cy="12147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2904089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0"/>
            <a:ext cx="10515600" cy="55013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Schematics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IR Sensor Modules (4x Forward-Facing)</a:t>
            </a:r>
            <a:endParaRPr sz="2800" b="1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   Function: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Detects obstacles by emitting infrared light and measuring reflection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Range: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5 cm to 30 cm (adjustable via potentiometer)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Output: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Digital signal (HIGH = clear, LOW = obstacle detected)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Response Time: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&lt;10 ms (instant detection)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DC Gear Motors (2x)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     Function: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Controls movement direction and speed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Voltage: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6V - 9V DC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Capabilities: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Forward, backward, left turn, right turn movements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Speed Control: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PWM (0-255) for smooth navigation</a:t>
            </a:r>
            <a:endParaRPr/>
          </a:p>
        </p:txBody>
      </p:sp>
      <p:pic>
        <p:nvPicPr>
          <p:cNvPr id="8917838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6892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97846" y="-4133"/>
            <a:ext cx="10515600" cy="11524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4516770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97846" y="1148340"/>
            <a:ext cx="10515600" cy="562598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Schematics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TB6612 Motor Driver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Interfaces Arduino with DC motors for dual motor control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Features: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PWM speed control, direction control, thermal protection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Nano/Uno Microcontroller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Acts as the brain of the robot, processing sensor inputs and  controlling motor   outputs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Reads: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4 IR sensors (pins A0-A3)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Executes: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Obstacle avoidance algorithm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Controls: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Motor driver (pins 3-8) with PWM signals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Display (128x64, I2C)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Real-time visual feedback of sensor status and robot actions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Connection: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SDA (A4), SCL (A5)</a:t>
            </a:r>
            <a:endParaRPr/>
          </a:p>
        </p:txBody>
      </p:sp>
      <p:pic>
        <p:nvPicPr>
          <p:cNvPr id="18061506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031855" name="Title 1"/>
          <p:cNvSpPr>
            <a:spLocks noGrp="1"/>
          </p:cNvSpPr>
          <p:nvPr>
            <p:ph type="title"/>
          </p:nvPr>
        </p:nvSpPr>
        <p:spPr bwMode="auto">
          <a:xfrm>
            <a:off x="838198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Measurement Functionality</a:t>
            </a:r>
            <a:endParaRPr/>
          </a:p>
        </p:txBody>
      </p:sp>
      <p:sp>
        <p:nvSpPr>
          <p:cNvPr id="16738032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1"/>
            <a:ext cx="10515600" cy="518978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How IR Sensors Work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Working Principle: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	</a:t>
            </a:r>
            <a:r>
              <a:rPr sz="16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[IR LED] → Emits Infrared Light → [Obstacle] → Reflects Back → [IR Receiver]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Digital Output: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Setup: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 Forward-Facing IR Sensors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Detection Range: 5-30 cm (adjustable)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Fast Response: &lt;10ms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Advantage: 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Simple digital interface, no distance calculation needed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7261068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021417294" name=""/>
          <p:cNvGraphicFramePr>
            <a:graphicFrameLocks xmlns:a="http://schemas.openxmlformats.org/drawingml/2006/main"/>
          </p:cNvGraphicFramePr>
          <p:nvPr/>
        </p:nvGraphicFramePr>
        <p:xfrm>
          <a:off x="1852235" y="2859838"/>
          <a:ext cx="4588509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213802"/>
                <a:gridCol w="1985331"/>
                <a:gridCol w="2108757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 (LOW)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Path Clear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(HIGH)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454775" name="Title 1"/>
          <p:cNvSpPr>
            <a:spLocks noGrp="1"/>
          </p:cNvSpPr>
          <p:nvPr>
            <p:ph type="title"/>
          </p:nvPr>
        </p:nvSpPr>
        <p:spPr bwMode="auto">
          <a:xfrm>
            <a:off x="244837" y="-232066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5017129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28770" y="834105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ALGORITHM – IR OBSTACLE AVOIDANCE</a:t>
            </a:r>
            <a:endParaRPr/>
          </a:p>
        </p:txBody>
      </p:sp>
      <p:pic>
        <p:nvPicPr>
          <p:cNvPr id="7821436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868202039" name=""/>
          <p:cNvGraphicFramePr>
            <a:graphicFrameLocks xmlns:a="http://schemas.openxmlformats.org/drawingml/2006/main"/>
          </p:cNvGraphicFramePr>
          <p:nvPr/>
        </p:nvGraphicFramePr>
        <p:xfrm>
          <a:off x="562991" y="1274418"/>
          <a:ext cx="11534458" cy="537455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810000"/>
                <a:gridCol w="1620000"/>
                <a:gridCol w="900000"/>
                <a:gridCol w="720000"/>
                <a:gridCol w="1260000"/>
                <a:gridCol w="450000"/>
                <a:gridCol w="1530000"/>
                <a:gridCol w="4231758"/>
              </a:tblGrid>
              <a:tr h="30881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Priority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Situation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 sz="1400" b="1"/>
                    </a:p>
                  </a:txBody>
                  <a:tcPr vert="horz"/>
                </a:tc>
              </a:tr>
              <a:tr h="71123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Clear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 path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 (slow, 100 PWM)</a:t>
                      </a:r>
                      <a:endParaRPr sz="1400" b="1"/>
                    </a:p>
                  </a:txBody>
                  <a:tcPr vert="horz"/>
                </a:tc>
              </a:tr>
              <a:tr h="106204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Side Blocked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on left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 → BACKUP → TURN RIGHT → VERIFY</a:t>
                      </a:r>
                      <a:endParaRPr sz="1400" b="1"/>
                    </a:p>
                  </a:txBody>
                  <a:tcPr vert="horz"/>
                </a:tc>
              </a:tr>
              <a:tr h="106204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Side Blocked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on right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 → BACKUP → TURN LEFT → VERIFY</a:t>
                      </a:r>
                      <a:endParaRPr sz="1400" b="1"/>
                    </a:p>
                  </a:txBody>
                  <a:tcPr vert="horz"/>
                </a:tc>
              </a:tr>
              <a:tr h="11696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Sides Blocked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safe side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 → LONG BACKUP → 180° TURN → VERIFY</a:t>
                      </a:r>
                      <a:endParaRPr sz="1400" b="1"/>
                    </a:p>
                  </a:txBody>
                  <a:tcPr vert="horz"/>
                </a:tc>
              </a:tr>
              <a:tr h="52402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Center Clear (fallback)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X/✓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Only center open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 (slow)</a:t>
                      </a:r>
                      <a:endParaRPr sz="1400" b="1"/>
                    </a:p>
                  </a:txBody>
                  <a:tcPr vert="horz"/>
                </a:tc>
              </a:tr>
              <a:tr h="52402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Uncertain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Reassess</a:t>
                      </a:r>
                      <a:endParaRPr sz="1400" b="1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 → RECHECK</a:t>
                      </a:r>
                      <a:endParaRPr sz="1400" b="1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39044" name="Title 1"/>
          <p:cNvSpPr>
            <a:spLocks noGrp="1"/>
          </p:cNvSpPr>
          <p:nvPr>
            <p:ph type="title"/>
          </p:nvPr>
        </p:nvSpPr>
        <p:spPr bwMode="auto">
          <a:xfrm>
            <a:off x="135533" y="-232066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212953472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29222" y="827581"/>
            <a:ext cx="11530285" cy="595148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Flowchart   </a:t>
            </a:r>
            <a:endParaRPr lang="en-US" sz="1400" b="1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7587326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229105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184753" y="827581"/>
            <a:ext cx="4779712" cy="5777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217020" name="Title 1"/>
          <p:cNvSpPr>
            <a:spLocks noGrp="1"/>
          </p:cNvSpPr>
          <p:nvPr>
            <p:ph type="title"/>
          </p:nvPr>
        </p:nvSpPr>
        <p:spPr bwMode="auto">
          <a:xfrm>
            <a:off x="119919" y="-347822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 OBSTACLE AVOIDANCE</a:t>
            </a:r>
            <a:endParaRPr/>
          </a:p>
        </p:txBody>
      </p:sp>
      <p:sp>
        <p:nvSpPr>
          <p:cNvPr id="14894706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0" y="705326"/>
            <a:ext cx="10515600" cy="55390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Main Decision Function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</p:txBody>
      </p:sp>
      <p:pic>
        <p:nvPicPr>
          <p:cNvPr id="128766614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9315764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340901" y="564793"/>
            <a:ext cx="4829175" cy="6114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16695" name="Title 1"/>
          <p:cNvSpPr>
            <a:spLocks noGrp="1"/>
          </p:cNvSpPr>
          <p:nvPr>
            <p:ph type="title"/>
          </p:nvPr>
        </p:nvSpPr>
        <p:spPr bwMode="auto">
          <a:xfrm>
            <a:off x="838197" y="156099"/>
            <a:ext cx="10515600" cy="1325560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Obstacle Detection Logic</a:t>
            </a:r>
            <a:endParaRPr/>
          </a:p>
        </p:txBody>
      </p:sp>
      <p:sp>
        <p:nvSpPr>
          <p:cNvPr id="4272322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49179" y="1379787"/>
            <a:ext cx="10515600" cy="51897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Decision Logic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IF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all sensors are CLEAR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THEN</a:t>
            </a:r>
            <a:endParaRPr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Action: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Move FORWARD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ELSE IF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Left side blocked AND Right-Center clear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THEN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Action: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Turn RIGHT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ELSE IF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Right side blocked AND Left-Center clear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THEN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Action: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Turn LEFT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ELSE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Action: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Move BACKWARD (then turn)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Main Loop Explanation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400" b="0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03489931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448451" name="Title 1"/>
          <p:cNvSpPr>
            <a:spLocks noGrp="1"/>
          </p:cNvSpPr>
          <p:nvPr>
            <p:ph type="title"/>
          </p:nvPr>
        </p:nvSpPr>
        <p:spPr bwMode="auto">
          <a:xfrm>
            <a:off x="838198" y="156100"/>
            <a:ext cx="10515600" cy="1325561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Movement Control Functions</a:t>
            </a:r>
            <a:endParaRPr/>
          </a:p>
        </p:txBody>
      </p:sp>
      <p:sp>
        <p:nvSpPr>
          <p:cNvPr id="155415121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0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Function Descriptions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Set pins to move forward.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Set pins to move backward.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turnLeft()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turnRight()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Define how the wheels are activated to turn.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Stop()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Explain how all motors are disabled.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Execute Motor Commands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Both motors move forward at set speed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 RIGHT: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Left motor forward + Right motor backward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 LEFT: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Right motor forward + Left motor backward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Both motors reverse + random turn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7829378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450315" name="Title 1"/>
          <p:cNvSpPr>
            <a:spLocks noGrp="1"/>
          </p:cNvSpPr>
          <p:nvPr>
            <p:ph type="title"/>
          </p:nvPr>
        </p:nvSpPr>
        <p:spPr bwMode="auto">
          <a:xfrm>
            <a:off x="838197" y="156099"/>
            <a:ext cx="10515600" cy="1325560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Repeat Loop</a:t>
            </a:r>
            <a:endParaRPr/>
          </a:p>
        </p:txBody>
      </p:sp>
      <p:sp>
        <p:nvSpPr>
          <p:cNvPr id="11173270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49179" y="1397591"/>
            <a:ext cx="10515600" cy="51897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REPEAT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continuously: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Read sensors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Make decision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Execute action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Wait 15ms</a:t>
            </a:r>
            <a:endParaRPr sz="2400">
              <a:solidFill>
                <a:schemeClr val="bg1"/>
              </a:solidFill>
            </a:endParaRPr>
          </a:p>
          <a:p>
            <a:pPr lvl="1"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</p:txBody>
      </p:sp>
      <p:pic>
        <p:nvPicPr>
          <p:cNvPr id="129218745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2059160869" name=""/>
          <p:cNvGraphicFramePr>
            <a:graphicFrameLocks xmlns:a="http://schemas.openxmlformats.org/drawingml/2006/main"/>
          </p:cNvGraphicFramePr>
          <p:nvPr/>
        </p:nvGraphicFramePr>
        <p:xfrm>
          <a:off x="1418346" y="3707153"/>
          <a:ext cx="422782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05484"/>
                <a:gridCol w="720089"/>
                <a:gridCol w="720089"/>
                <a:gridCol w="539749"/>
                <a:gridCol w="152971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Action</a:t>
                      </a:r>
                      <a:endParaRPr/>
                    </a:p>
                  </a:txBody>
                  <a:tcPr vert="horz"/>
                </a:tc>
              </a:tr>
              <a:tr h="1390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RIGHT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✓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LEFT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✗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772929" name="Title 1"/>
          <p:cNvSpPr>
            <a:spLocks noGrp="1"/>
          </p:cNvSpPr>
          <p:nvPr>
            <p:ph type="title"/>
          </p:nvPr>
        </p:nvSpPr>
        <p:spPr bwMode="auto">
          <a:xfrm>
            <a:off x="838198" y="156100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Safety Guidelines</a:t>
            </a:r>
            <a:endParaRPr/>
          </a:p>
        </p:txBody>
      </p:sp>
      <p:sp>
        <p:nvSpPr>
          <p:cNvPr id="9400347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0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Troubleshooting Guide — Common Issues &amp; Quick Fixes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Emergency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Press the reset button or disconnect the battery immediately.</a:t>
            </a:r>
            <a:endParaRPr/>
          </a:p>
        </p:txBody>
      </p:sp>
      <p:pic>
        <p:nvPicPr>
          <p:cNvPr id="3806629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1955838944" name=""/>
          <p:cNvGraphicFramePr>
            <a:graphicFrameLocks xmlns:a="http://schemas.openxmlformats.org/drawingml/2006/main"/>
          </p:cNvGraphicFramePr>
          <p:nvPr/>
        </p:nvGraphicFramePr>
        <p:xfrm>
          <a:off x="1017008" y="1978046"/>
          <a:ext cx="5956299" cy="2670457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81199"/>
                <a:gridCol w="1694179"/>
                <a:gridCol w="2268219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Cause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Solution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Sensors always show blocked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Sensitivity too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potentiometer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clockwise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ignores obstacles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Sensitivity too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potentiometer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counter-clockwise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Motors don’t move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Battery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Charge/replace battery (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6–9V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 vert="horz"/>
                </a:tc>
              </a:tr>
              <a:tr h="46319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turns randomly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 noise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</a:t>
                      </a:r>
                      <a:r>
                        <a:rPr sz="10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 (confidence &gt;= 2)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filtering logic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Gets stuck in corners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backup logic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 movement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routine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Erratic Serial Monitor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Wrong baud rate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 to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115200 baud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11485" name="Title 1"/>
          <p:cNvSpPr>
            <a:spLocks noGrp="1"/>
          </p:cNvSpPr>
          <p:nvPr>
            <p:ph type="title"/>
          </p:nvPr>
        </p:nvSpPr>
        <p:spPr bwMode="auto">
          <a:xfrm>
            <a:off x="758082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Common Troubleshooting</a:t>
            </a:r>
            <a:endParaRPr/>
          </a:p>
        </p:txBody>
      </p:sp>
      <p:sp>
        <p:nvSpPr>
          <p:cNvPr id="3891506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01751"/>
            <a:ext cx="10515600" cy="47348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endParaRPr sz="2000">
              <a:solidFill>
                <a:schemeClr val="bg1"/>
              </a:solidFill>
            </a:endParaRPr>
          </a:p>
          <a:p>
            <a:pPr marL="0" marR="0" indent="0">
              <a:spcBef>
                <a:spcPts val="8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Robot moves in circles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Check motor polarity (swap IN1/IN2 if needed)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Calibrate motor speeds (add trim values)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Motors don't move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Verify power supply (VM to battery)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motor driver connections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Test with higher PWM values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OLED display blank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Confirm I2C address (0x3C or 0x3D)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SDA/SCL connections</a:t>
            </a:r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577731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432983" name="Title 1"/>
          <p:cNvSpPr>
            <a:spLocks noGrp="1"/>
          </p:cNvSpPr>
          <p:nvPr>
            <p:ph type="title"/>
          </p:nvPr>
        </p:nvSpPr>
        <p:spPr bwMode="auto">
          <a:xfrm>
            <a:off x="838198" y="126183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Applications</a:t>
            </a:r>
            <a:endParaRPr/>
          </a:p>
        </p:txBody>
      </p:sp>
      <p:sp>
        <p:nvSpPr>
          <p:cNvPr id="27525233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22475" y="1272967"/>
            <a:ext cx="10708434" cy="54479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Industrial Robotics: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Warehouse AGVs (Automated Guided Vehicles)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Assembly line robots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Material handling systems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Consumer Products: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Robotic vacuum cleaners 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Lawn mowing robots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Floor cleaning machines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Education &amp; Research: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STEM learning platforms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Robotics competitions (line following, maze solving)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AI/ML training datasets</a:t>
            </a:r>
            <a:endParaRPr/>
          </a:p>
        </p:txBody>
      </p:sp>
      <p:pic>
        <p:nvPicPr>
          <p:cNvPr id="21457351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202311" name="Title 1"/>
          <p:cNvSpPr>
            <a:spLocks noGrp="1"/>
          </p:cNvSpPr>
          <p:nvPr>
            <p:ph type="title"/>
          </p:nvPr>
        </p:nvSpPr>
        <p:spPr bwMode="auto">
          <a:xfrm>
            <a:off x="669064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5788225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69064" y="1290771"/>
            <a:ext cx="10515600" cy="49405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GB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Questions &amp; Discussion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Questions: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"Why does my robot turn when no obstacle is present?"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Check sensor sensitivity and add confidence threshold</a:t>
            </a:r>
            <a:r>
              <a:rPr sz="2800">
                <a:solidFill>
                  <a:schemeClr val="bg1"/>
                </a:solidFill>
              </a:rPr>
              <a:t>, Calibrate 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"Can IR sensors work in sunlight?"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Yes, but may need sensitivity adjustment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"How to make robot faster while staying safe?"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Use adaptive speed based on obstacle distance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"What if both left and right sensors detect obstacles?"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Implement backup + 180° turn logic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78122899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10</cp:revision>
  <dcterms:created xsi:type="dcterms:W3CDTF">2025-11-29T15:09:33Z</dcterms:created>
  <dcterms:modified xsi:type="dcterms:W3CDTF">2025-12-19T21:05:39Z</dcterms:modified>
</cp:coreProperties>
</file>