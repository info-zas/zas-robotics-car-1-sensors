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5.xml" ContentType="application/vnd.openxmlformats-officedocument.presentationml.notesSlide+xml"/>
  <Override PartName="/ppt/slides/slide17.xml" ContentType="application/vnd.openxmlformats-officedocument.presentationml.slide+xml"/>
  <Override PartName="/ppt/slides/slide16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20.xml" ContentType="application/vnd.openxmlformats-officedocument.presentationml.slide+xml"/>
  <Override PartName="/ppt/slides/slide9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3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1.xml" ContentType="application/vnd.openxmlformats-officedocument.presentationml.notesSlide+xml"/>
  <Override PartName="/ppt/slideLayouts/slideLayout1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7.xml" ContentType="application/vnd.openxmlformats-officedocument.presentationml.notesSlide+xml"/>
  <Override PartName="/ppt/slideLayouts/slideLayout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17.xml" ContentType="application/vnd.openxmlformats-officedocument.presentationml.notesSlide+xml"/>
  <Override PartName="/ppt/slideLayouts/slideLayout6.xml" ContentType="application/vnd.openxmlformats-officedocument.presentationml.slideLayout+xml"/>
  <Override PartName="/docProps/app.xml" ContentType="application/vnd.openxmlformats-officedocument.extended-properties+xml"/>
  <Override PartName="/ppt/slides/slide8.xml" ContentType="application/vnd.openxmlformats-officedocument.presentationml.slide+xml"/>
  <Override PartName="/ppt/slideLayouts/slideLayout5.xml" ContentType="application/vnd.openxmlformats-officedocument.presentationml.slideLayout+xml"/>
  <Override PartName="/ppt/slides/slide21.xml" ContentType="application/vnd.openxmlformats-officedocument.presentationml.slide+xml"/>
  <Override PartName="/docProps/core.xml" ContentType="application/vnd.openxmlformats-package.core-properties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viewProps.xml" ContentType="application/vnd.openxmlformats-officedocument.presentationml.viewProps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5.xml" ContentType="application/vnd.openxmlformats-officedocument.presentationml.slide+xml"/>
  <Override PartName="/ppt/notesSlides/notesSlide19.xml" ContentType="application/vnd.openxmlformats-officedocument.presentationml.notesSlide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70" d="100"/>
          <a:sy n="70" d="100"/>
        </p:scale>
        <p:origin x="1166" y="278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 /><Relationship Id="rId27" Type="http://schemas.openxmlformats.org/officeDocument/2006/relationships/tableStyles" Target="tableStyles.xml" /><Relationship Id="rId28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918764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382568052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79342452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012083050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289884715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423925880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 ?>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 ?>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 ?>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 ?>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 ?>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 ?>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 ?>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85547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1583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05391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4628D2-0276-7CE8-68C8-A30FE23A6892}" type="slidenum">
              <a:rPr/>
              <a:t/>
            </a:fld>
            <a:endParaRPr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58482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02091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6173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09B419-B9C3-D577-8C19-FD3877D7FA18}" type="slidenum">
              <a:rPr/>
              <a:t/>
            </a:fld>
            <a:endParaRPr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767968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4935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3974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18BF93-9F91-6B90-31DE-F6F60EF11C94}" type="slidenum">
              <a:rPr/>
              <a:t/>
            </a:fld>
            <a:endParaRPr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817430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0390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9422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D80B79D-1545-BF60-5A96-2E81DC9D877A}" type="slidenum">
              <a:rPr/>
              <a:t/>
            </a:fld>
            <a:endParaRPr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3749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0657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4502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0AACFA0-8DA5-7224-5123-4C646C7DA890}" type="slidenum">
              <a:rPr/>
              <a:t/>
            </a:fld>
            <a:endParaRPr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64690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67156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288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D0B90A-827E-9FA7-D005-A7643B8DF415}" type="slidenum">
              <a:rPr/>
              <a:t/>
            </a:fld>
            <a:endParaRPr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987269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5957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90225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F5FBB-66D7-9EF0-C7B5-5C7D211EACA4}" type="slidenum">
              <a:rPr/>
              <a:t/>
            </a:fld>
            <a:endParaRPr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283028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61317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8390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D5617A-E65C-B151-71D5-37FE2C93EEB3}" type="slidenum">
              <a:rPr/>
              <a:t/>
            </a:fld>
            <a:endParaRPr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25574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744106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84714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338BF6-1E0A-899B-B71D-612E876CC103}" type="slidenum">
              <a:rPr/>
              <a:t/>
            </a:fld>
            <a:endParaRPr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097325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2482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25563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78DEF8-87C7-9CFA-F0CD-1C9BD8F5DD39}" type="slidenum">
              <a:rPr/>
              <a:t/>
            </a:fld>
            <a:endParaRPr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41489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8195463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3261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8F32864-7AD8-700C-E73F-6A787DFA0C73}" type="slidenum">
              <a:rPr/>
              <a:t/>
            </a:fld>
            <a:endParaRPr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60984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803377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60444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4E930B-CC78-BCF2-6077-004FA3907EBE}" type="slidenum">
              <a:rPr/>
              <a:t/>
            </a:fld>
            <a:endParaRPr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53436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77498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35830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B6CC6B-8C65-038C-1B7D-F6B7CB1BCAA6}" type="slidenum">
              <a:rPr/>
              <a:t/>
            </a:fld>
            <a:endParaRPr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392689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93690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08933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E1838-2F58-04D8-2A5A-90A472F8DAE6}" type="slidenum">
              <a:rPr/>
              <a:t/>
            </a:fld>
            <a:endParaRPr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183772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114872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023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217655-8D67-4EBF-F3CC-C98034D4D4F5}" type="slidenum">
              <a:rPr/>
              <a:t/>
            </a:fld>
            <a:endParaRPr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515167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6931181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0508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FCE9BE-B98C-CBBB-9DE4-F96A40E1FB57}" type="slidenum">
              <a:rPr/>
              <a:t/>
            </a:fld>
            <a:endParaRPr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570038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3662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079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4B77C5-AC81-4A4A-4A0B-A27F253CE313}" type="slidenum">
              <a:rPr/>
              <a:t/>
            </a:fld>
            <a:endParaRPr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909481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172412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1897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2FC249-CDC0-C528-02DA-138BEC6A3CAF}" type="slidenum">
              <a:rPr/>
              <a:t/>
            </a:fld>
            <a:endParaRPr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2120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894804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972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0551AC-64DF-F8F9-D80B-FEFFBCD0CF7A}" type="slidenum">
              <a:rPr/>
              <a:t/>
            </a:fld>
            <a:endParaRPr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523899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051491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276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076D30-61DE-A4E1-0BE8-E3355223D533}" type="slidenum">
              <a:rPr/>
              <a:t/>
            </a:fld>
            <a:endParaRPr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88135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119361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213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932549-8DF2-14CE-32DE-B4134FF987BE}" type="slidenum">
              <a:rPr/>
              <a:t/>
            </a:fld>
            <a:endParaRPr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4937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6370397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461959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79106828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079692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97192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0834428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6922022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028931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6496452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8371593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209806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5704729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52866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44563591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8706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1191976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7403435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666506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47482012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85907311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016266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74362930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0240478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1126169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5287486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8225779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55059158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75107282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302517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1072148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41003028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8673219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302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212631248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06180777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4512097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716585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45048652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1382119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127705458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0415610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84086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34350665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72837806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537554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74308830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7773423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14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24212672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3589657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51166759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751163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192109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42464096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55628746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19177177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371235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2583013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343851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10080630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A1D51BA1-F58B-40DF-9C13-73BC69DE2A80}" type="datetimeFigureOut">
              <a:rPr lang="en-GB"/>
              <a:t>29/11/2025</a:t>
            </a:fld>
            <a:endParaRPr lang="en-GB"/>
          </a:p>
        </p:txBody>
      </p:sp>
      <p:sp>
        <p:nvSpPr>
          <p:cNvPr id="333964371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7955475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8.png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.png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.png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7179914" name="Title 1"/>
          <p:cNvSpPr>
            <a:spLocks noGrp="1"/>
          </p:cNvSpPr>
          <p:nvPr>
            <p:ph type="ctrTitle"/>
          </p:nvPr>
        </p:nvSpPr>
        <p:spPr bwMode="auto">
          <a:xfrm>
            <a:off x="0" y="1122363"/>
            <a:ext cx="12192000" cy="2387600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ZAS Robotic Products</a:t>
            </a:r>
            <a:endParaRPr/>
          </a:p>
        </p:txBody>
      </p:sp>
      <p:sp>
        <p:nvSpPr>
          <p:cNvPr id="1455878467" name="Subtitle 2"/>
          <p:cNvSpPr>
            <a:spLocks noGrp="1"/>
          </p:cNvSpPr>
          <p:nvPr>
            <p:ph type="subTitle" idx="1"/>
          </p:nvPr>
        </p:nvSpPr>
        <p:spPr bwMode="auto">
          <a:xfrm flipH="0" flipV="0">
            <a:off x="1523998" y="3602036"/>
            <a:ext cx="9144000" cy="231770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GB" sz="3200">
                <a:solidFill>
                  <a:schemeClr val="accent4"/>
                </a:solidFill>
              </a:rPr>
              <a:t>Navigational Robotic Series</a:t>
            </a:r>
            <a:endParaRPr/>
          </a:p>
          <a:p>
            <a:pPr>
              <a:defRPr/>
            </a:pPr>
            <a:r>
              <a:rPr lang="en-GB" sz="3200">
                <a:solidFill>
                  <a:schemeClr val="accent5"/>
                </a:solidFill>
              </a:rPr>
              <a:t>Robot Car-</a:t>
            </a:r>
            <a:r>
              <a:rPr lang="en-US" sz="3200">
                <a:solidFill>
                  <a:schemeClr val="accent5"/>
                </a:solidFill>
              </a:rPr>
              <a:t>1</a:t>
            </a:r>
            <a:r>
              <a:rPr lang="en-GB" sz="3200">
                <a:solidFill>
                  <a:schemeClr val="accent5"/>
                </a:solidFill>
              </a:rPr>
              <a:t> </a:t>
            </a:r>
            <a:r>
              <a:rPr lang="en-US" sz="3200">
                <a:solidFill>
                  <a:schemeClr val="accent5"/>
                </a:solidFill>
              </a:rPr>
              <a:t>Sensor</a:t>
            </a:r>
            <a:endParaRPr/>
          </a:p>
          <a:p>
            <a:pPr>
              <a:defRPr/>
            </a:pPr>
            <a:endParaRPr lang="en-GB" sz="3200">
              <a:solidFill>
                <a:schemeClr val="accent5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 lang="en-GB" sz="3200">
              <a:solidFill>
                <a:schemeClr val="accent5"/>
              </a:solidFill>
            </a:endParaRPr>
          </a:p>
        </p:txBody>
      </p:sp>
      <p:pic>
        <p:nvPicPr>
          <p:cNvPr id="42375098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966071" y="156102"/>
            <a:ext cx="4042963" cy="10897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4803605" name="Title 1"/>
          <p:cNvSpPr>
            <a:spLocks noGrp="1"/>
          </p:cNvSpPr>
          <p:nvPr>
            <p:ph type="title"/>
          </p:nvPr>
        </p:nvSpPr>
        <p:spPr bwMode="auto">
          <a:xfrm>
            <a:off x="642356" y="89165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71502785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79531" y="1958410"/>
            <a:ext cx="10898892" cy="460226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L</a:t>
            </a:r>
            <a:r>
              <a:rPr lang="en-US" sz="28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EARNING OBJECTIVES &amp; AGENDA</a:t>
            </a:r>
            <a:endParaRPr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Understand IR sensor working principle (forward-facing obstacle detection)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Program 4-sensor IR array for collision avoidance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Implement intelligent decision-making algorithms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Test autonomous navigation in obstacle course</a:t>
            </a:r>
            <a:endParaRPr/>
          </a:p>
        </p:txBody>
      </p:sp>
      <p:pic>
        <p:nvPicPr>
          <p:cNvPr id="17731031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0256724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274617" y="86632"/>
            <a:ext cx="10515600" cy="1237392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1848832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35061" y="1451181"/>
            <a:ext cx="11070870" cy="500266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Car-1 - Assembled view and Creative Board component layout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33047119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pic>
        <p:nvPicPr>
          <p:cNvPr id="2143531567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25208" y="2266987"/>
            <a:ext cx="5087323" cy="3866576"/>
          </a:xfrm>
          <a:prstGeom prst="rect">
            <a:avLst/>
          </a:prstGeom>
        </p:spPr>
      </p:pic>
      <p:sp>
        <p:nvSpPr>
          <p:cNvPr id="1408787189" name=""/>
          <p:cNvSpPr/>
          <p:nvPr/>
        </p:nvSpPr>
        <p:spPr bwMode="auto">
          <a:xfrm flipH="0" flipV="0">
            <a:off x="4567568" y="3009007"/>
            <a:ext cx="1329014" cy="169133"/>
          </a:xfrm>
          <a:prstGeom prst="rightArrow">
            <a:avLst>
              <a:gd name="adj1" fmla="val 50000"/>
              <a:gd name="adj2" fmla="val 5000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654554178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5896584" y="1914511"/>
            <a:ext cx="5606709" cy="45715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921343" name="Title 1"/>
          <p:cNvSpPr>
            <a:spLocks noGrp="1"/>
          </p:cNvSpPr>
          <p:nvPr>
            <p:ph type="title"/>
          </p:nvPr>
        </p:nvSpPr>
        <p:spPr bwMode="auto">
          <a:xfrm>
            <a:off x="136717" y="-84413"/>
            <a:ext cx="10515600" cy="1325559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80534939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85438" y="1070289"/>
            <a:ext cx="10515600" cy="55013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Robot Car-1 </a:t>
            </a:r>
            <a:r>
              <a:rPr lang="en-US" sz="2800">
                <a:solidFill>
                  <a:schemeClr val="bg1"/>
                </a:solidFill>
              </a:rPr>
              <a:t> – Forward &amp; </a:t>
            </a:r>
            <a:r>
              <a:rPr sz="2800" b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downward-facing IR sensors</a:t>
            </a:r>
            <a:endParaRPr/>
          </a:p>
        </p:txBody>
      </p:sp>
      <p:pic>
        <p:nvPicPr>
          <p:cNvPr id="163694279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9"/>
            <a:ext cx="2037717" cy="549226"/>
          </a:xfrm>
          <a:prstGeom prst="rect">
            <a:avLst/>
          </a:prstGeom>
        </p:spPr>
      </p:pic>
      <p:pic>
        <p:nvPicPr>
          <p:cNvPr id="153451817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0" flipH="0" flipV="0">
            <a:off x="5643783" y="1498117"/>
            <a:ext cx="4905374" cy="1848983"/>
          </a:xfrm>
          <a:prstGeom prst="rect">
            <a:avLst/>
          </a:prstGeom>
        </p:spPr>
      </p:pic>
      <p:pic>
        <p:nvPicPr>
          <p:cNvPr id="2042213214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0" flipH="0" flipV="0">
            <a:off x="299738" y="1486611"/>
            <a:ext cx="5143500" cy="1860490"/>
          </a:xfrm>
          <a:prstGeom prst="rect">
            <a:avLst/>
          </a:prstGeom>
        </p:spPr>
      </p:pic>
      <p:graphicFrame>
        <p:nvGraphicFramePr>
          <p:cNvPr id="953392714" name=""/>
          <p:cNvGraphicFramePr>
            <a:graphicFrameLocks xmlns:a="http://schemas.openxmlformats.org/drawingml/2006/main"/>
          </p:cNvGraphicFramePr>
          <p:nvPr/>
        </p:nvGraphicFramePr>
        <p:xfrm>
          <a:off x="302664" y="3429000"/>
          <a:ext cx="10281147" cy="2350286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053688"/>
                <a:gridCol w="2053688"/>
                <a:gridCol w="2053688"/>
                <a:gridCol w="2053688"/>
                <a:gridCol w="2053688"/>
              </a:tblGrid>
              <a:tr h="31302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 Type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Mounting Position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What It Detects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Working Principle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Main Purpose / Benefit</a:t>
                      </a:r>
                      <a:endParaRPr/>
                    </a:p>
                  </a:txBody>
                  <a:tcPr vert="horz"/>
                </a:tc>
              </a:tr>
              <a:tr h="1049421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Downward-Facing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underneath the robot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Edges, pits, stairs, floor color changes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Light surface → high reflection → sensor ONDark surface / no floor → low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Prevents falling and unsafe movement; ensures floor safety</a:t>
                      </a:r>
                      <a:endParaRPr/>
                    </a:p>
                  </a:txBody>
                  <a:tcPr vert="horz"/>
                </a:tc>
              </a:tr>
              <a:tr h="975144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Forward-Facing IR Sensors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Mounted facing forward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Nearby obstacles, walls, objects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close → strong IR reflection → sensor ONObject far → weak or no reflection → sensor OFF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Quick detection of obstacles for collision avoidance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229473463" name=""/>
          <p:cNvSpPr/>
          <p:nvPr/>
        </p:nvSpPr>
        <p:spPr bwMode="auto">
          <a:xfrm flipH="0" flipV="0">
            <a:off x="136717" y="5779287"/>
            <a:ext cx="11967034" cy="100619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000"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Always keep the </a:t>
            </a:r>
            <a:r>
              <a:rPr sz="2000" b="1" i="1" u="sng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“Motor Driver Standby/ON switch”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in Standby mode</a:t>
            </a:r>
            <a:r>
              <a:rPr sz="20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during programming and IR sensor calibration. IR sensors are sensitive and require careful calibration to accurately understand the environment.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9129458" name="Title 1"/>
          <p:cNvSpPr>
            <a:spLocks noGrp="1"/>
          </p:cNvSpPr>
          <p:nvPr>
            <p:ph type="title"/>
          </p:nvPr>
        </p:nvSpPr>
        <p:spPr bwMode="auto">
          <a:xfrm>
            <a:off x="332207" y="-80408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34410896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09778" y="1094927"/>
            <a:ext cx="10898892" cy="56259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What do L, LC(C1), RC(C2), R mean?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459661797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281658910" name=""/>
          <p:cNvGraphicFramePr>
            <a:graphicFrameLocks xmlns:a="http://schemas.openxmlformats.org/drawingml/2006/main"/>
          </p:cNvGraphicFramePr>
          <p:nvPr/>
        </p:nvGraphicFramePr>
        <p:xfrm>
          <a:off x="525081" y="1600328"/>
          <a:ext cx="8140698" cy="4601714"/>
        </p:xfrm>
        <a:graphic>
          <a:graphicData uri="http://schemas.openxmlformats.org/drawingml/2006/table">
            <a:tbl>
              <a:tblPr firstRow="1" firstCol="0" lastRow="0" lastCol="0" bandRow="1" bandCol="0">
                <a:tableStyleId>{5C22544A-7EE6-4342-B048-85BDC9FD1C3A}</a:tableStyleId>
              </a:tblPr>
              <a:tblGrid>
                <a:gridCol w="4063998"/>
                <a:gridCol w="4063998"/>
              </a:tblGrid>
              <a:tr h="372700">
                <a:tc gridSpan="2">
                  <a:txBody>
                    <a:bodyPr/>
                    <a:p>
                      <a:pPr>
                        <a:defRPr/>
                      </a:pPr>
                      <a:r>
                        <a:rPr sz="1400"/>
                        <a:t>Sensor Meanings</a:t>
                      </a:r>
                      <a:endParaRPr sz="1400"/>
                    </a:p>
                  </a:txBody>
                  <a:tcPr/>
                </a:tc>
                <a:tc hMerge="1">
                  <a:txBody>
                    <a:bodyPr/>
                    <a:p>
                      <a:endParaRPr/>
                    </a:p>
                  </a:txBody>
                </a:tc>
              </a:tr>
              <a:tr h="2100832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L – Left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left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Left edge of line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Obstacle on left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Wall following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Line correction from left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LC(C1) – Left-Center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left of center</a:t>
                      </a:r>
                      <a:endParaRPr sz="1200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Objects slightly ahead on the left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Fine correction when robot drifts left/right</a:t>
                      </a:r>
                      <a:endParaRPr sz="1200"/>
                    </a:p>
                  </a:txBody>
                  <a:tcPr/>
                </a:tc>
              </a:tr>
              <a:tr h="1879195"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 – Right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on the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far right</a:t>
                      </a:r>
                      <a:endParaRPr sz="1200" b="1">
                        <a:solidFill>
                          <a:srgbClr val="000000"/>
                        </a:solidFill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wall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Right edge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Obstacle on right side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Avoiding right-side collisions</a:t>
                      </a:r>
                      <a:endParaRPr sz="1200"/>
                    </a:p>
                  </a:txBody>
                  <a:tcPr/>
                </a:tc>
                <a:tc>
                  <a:txBody>
                    <a:bodyPr/>
                    <a:p>
                      <a:pPr marL="0" marR="0" indent="0">
                        <a:defRPr/>
                      </a:pPr>
                      <a:r>
                        <a:rPr lang="en-US" sz="1200" b="1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RC(C2) – Right-Center Sensor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Positioned slightly right of center</a:t>
                      </a:r>
                      <a:endParaRPr sz="1200" b="0" i="0" u="none" strike="noStrike" cap="none" spc="0">
                        <a:solidFill>
                          <a:srgbClr val="000000"/>
                        </a:solidFill>
                        <a:latin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Detects: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R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Objects slightly ahead on the right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 marL="0" marR="0" indent="0"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Used for:</a:t>
                      </a:r>
                      <a:endParaRPr sz="1200">
                        <a:latin typeface="Times New Roman"/>
                        <a:ea typeface="Times New Roman"/>
                        <a:cs typeface="Times New Roman"/>
                      </a:endParaRPr>
                    </a:p>
                    <a:p>
                      <a:pPr>
                        <a:defRPr/>
                      </a:pPr>
                      <a:r>
                        <a:rPr lang="en-US" sz="1200" b="0" i="0" u="none" strike="noStrike" cap="none" spc="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              Fine correction from the right side</a:t>
                      </a:r>
                      <a:endParaRPr sz="1200"/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84387815" name=""/>
          <p:cNvGraphicFramePr>
            <a:graphicFrameLocks xmlns:a="http://schemas.openxmlformats.org/drawingml/2006/main"/>
          </p:cNvGraphicFramePr>
          <p:nvPr/>
        </p:nvGraphicFramePr>
        <p:xfrm>
          <a:off x="8742675" y="5103486"/>
          <a:ext cx="2414764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912735"/>
                <a:gridCol w="1489329"/>
              </a:tblGrid>
              <a:tr h="16573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Signal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Meaning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HIGH (1)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obstacle / clear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LOW (0)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detected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953963249" name=""/>
          <p:cNvSpPr/>
          <p:nvPr/>
        </p:nvSpPr>
        <p:spPr bwMode="auto">
          <a:xfrm flipH="0" flipV="0">
            <a:off x="267049" y="5965755"/>
            <a:ext cx="11805473" cy="88427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>
                <a:solidFill>
                  <a:schemeClr val="bg1"/>
                </a:solidFill>
                <a:highlight>
                  <a:srgbClr val="FF0000"/>
                </a:highlight>
              </a:rPr>
              <a:t>Note:</a:t>
            </a:r>
            <a:r>
              <a:rPr sz="2800">
                <a:solidFill>
                  <a:schemeClr val="bg1"/>
                </a:solidFill>
              </a:rPr>
              <a:t> 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must be calibrated before each experiment due to surface and lighting variations</a:t>
            </a:r>
            <a:endParaRPr sz="280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4428225" name="Title 1"/>
          <p:cNvSpPr>
            <a:spLocks noGrp="1"/>
          </p:cNvSpPr>
          <p:nvPr>
            <p:ph type="title"/>
          </p:nvPr>
        </p:nvSpPr>
        <p:spPr bwMode="auto">
          <a:xfrm>
            <a:off x="295036" y="-82369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26378289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1" y="1103827"/>
            <a:ext cx="11196689" cy="557257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Component–Pin Mapping Table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7510948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0"/>
            <a:ext cx="2037718" cy="549227"/>
          </a:xfrm>
          <a:prstGeom prst="rect">
            <a:avLst/>
          </a:prstGeom>
        </p:spPr>
      </p:pic>
      <p:graphicFrame>
        <p:nvGraphicFramePr>
          <p:cNvPr id="1458745901" name=""/>
          <p:cNvGraphicFramePr>
            <a:graphicFrameLocks xmlns:a="http://schemas.openxmlformats.org/drawingml/2006/main"/>
          </p:cNvGraphicFramePr>
          <p:nvPr/>
        </p:nvGraphicFramePr>
        <p:xfrm>
          <a:off x="618816" y="1557139"/>
          <a:ext cx="5817984" cy="174723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100485"/>
                <a:gridCol w="1891783"/>
                <a:gridCol w="1813015"/>
              </a:tblGrid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Component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Pin(s)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Function</a:t>
                      </a:r>
                      <a:endParaRPr/>
                    </a:p>
                  </a:txBody>
                  <a:tcPr vert="horz"/>
                </a:tc>
              </a:tr>
              <a:tr h="52277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IR Sensors (Left / LC / RC / Right)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A0, A1, A2, 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detection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(IN1–IN4)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8, 7, 4, 3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Direction control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 Driver (ENA, ENB)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6, 5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Speed control (PWM)</a:t>
                      </a:r>
                      <a:endParaRPr/>
                    </a:p>
                  </a:txBody>
                  <a:tcPr vert="horz"/>
                </a:tc>
              </a:tr>
              <a:tr h="30294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OLED Display (SDA, 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A4 (SDA), A5 (SCL)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Display interface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graphicFrame>
        <p:nvGraphicFramePr>
          <p:cNvPr id="1429642851" name=""/>
          <p:cNvGraphicFramePr>
            <a:graphicFrameLocks xmlns:a="http://schemas.openxmlformats.org/drawingml/2006/main"/>
          </p:cNvGraphicFramePr>
          <p:nvPr/>
        </p:nvGraphicFramePr>
        <p:xfrm>
          <a:off x="609912" y="5372213"/>
          <a:ext cx="582688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846593"/>
                <a:gridCol w="1203489"/>
                <a:gridCol w="24233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Arduino Pin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Purpose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(L)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A0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edge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(LC)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(RC)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Right-center path detection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(R)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edge detection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  <p:sp>
        <p:nvSpPr>
          <p:cNvPr id="1339300563" name=""/>
          <p:cNvSpPr/>
          <p:nvPr/>
        </p:nvSpPr>
        <p:spPr bwMode="auto">
          <a:xfrm flipH="0" flipV="0">
            <a:off x="532222" y="4486541"/>
            <a:ext cx="6749133" cy="79283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endParaRPr/>
          </a:p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Sensors Pin Configuration</a:t>
            </a:r>
            <a:endParaRPr sz="3600" b="0" i="0" u="none">
              <a:solidFill>
                <a:srgbClr val="000000"/>
              </a:solidFill>
              <a:latin typeface="Times New Roman"/>
              <a:ea typeface="Times New Roman"/>
              <a:cs typeface="Times New Roman"/>
            </a:endParaRPr>
          </a:p>
        </p:txBody>
      </p:sp>
      <p:graphicFrame>
        <p:nvGraphicFramePr>
          <p:cNvPr id="1671622312" name=""/>
          <p:cNvGraphicFramePr>
            <a:graphicFrameLocks xmlns:a="http://schemas.openxmlformats.org/drawingml/2006/main"/>
          </p:cNvGraphicFramePr>
          <p:nvPr/>
        </p:nvGraphicFramePr>
        <p:xfrm>
          <a:off x="618816" y="3871139"/>
          <a:ext cx="4356110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408690"/>
                <a:gridCol w="533356"/>
                <a:gridCol w="711560"/>
                <a:gridCol w="1689800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IN1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IN2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PWM (Speed Control)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7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8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</a:t>
                      </a:r>
                      <a:endParaRPr/>
                    </a:p>
                  </a:txBody>
                  <a:tcPr vert="horz" anchor="ctr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Motor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/>
                    </a:p>
                  </a:txBody>
                  <a:tcPr vert="horz" anchor="ctr"/>
                </a:tc>
              </a:tr>
            </a:tbl>
          </a:graphicData>
        </a:graphic>
      </p:graphicFrame>
      <p:sp>
        <p:nvSpPr>
          <p:cNvPr id="1023347355" name=""/>
          <p:cNvSpPr txBox="1"/>
          <p:nvPr/>
        </p:nvSpPr>
        <p:spPr bwMode="auto">
          <a:xfrm flipH="0" flipV="0">
            <a:off x="6004379" y="3246120"/>
            <a:ext cx="183240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  <p:sp>
        <p:nvSpPr>
          <p:cNvPr id="1270972538" name=""/>
          <p:cNvSpPr/>
          <p:nvPr/>
        </p:nvSpPr>
        <p:spPr bwMode="auto">
          <a:xfrm flipH="0" flipV="0">
            <a:off x="618816" y="3352619"/>
            <a:ext cx="4828223" cy="518519"/>
          </a:xfrm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upright="0" compatLnSpc="1">
            <a:prstTxWarp prst="textNoShape"/>
            <a:spAutoFit/>
          </a:bodyPr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Motor Driver Pin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Configuration</a:t>
            </a:r>
            <a:endParaRPr/>
          </a:p>
        </p:txBody>
      </p:sp>
      <p:sp>
        <p:nvSpPr>
          <p:cNvPr id="1726966617" name=""/>
          <p:cNvSpPr txBox="1"/>
          <p:nvPr/>
        </p:nvSpPr>
        <p:spPr bwMode="auto">
          <a:xfrm flipH="0" flipV="0">
            <a:off x="6383391" y="3429000"/>
            <a:ext cx="5334995" cy="292644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b="1" i="0" u="none">
                <a:solidFill>
                  <a:schemeClr val="bg1"/>
                </a:solidFill>
                <a:highlight>
                  <a:srgbClr val="FF0000"/>
                </a:highlight>
                <a:latin typeface="Times New Roman"/>
                <a:ea typeface="Times New Roman"/>
                <a:cs typeface="Times New Roman"/>
              </a:rPr>
              <a:t>Note: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Downward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lines, floor edges, and pits.</a:t>
            </a:r>
            <a:endParaRPr sz="2800">
              <a:solidFill>
                <a:schemeClr val="bg1"/>
              </a:solidFill>
            </a:endParaRPr>
          </a:p>
          <a:p>
            <a:pPr marL="394022" indent="-394022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while 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 IR sensors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detect walls and nearby obstacles.</a:t>
            </a:r>
            <a:endParaRPr sz="2800">
              <a:solidFill>
                <a:schemeClr val="bg1"/>
              </a:solidFill>
            </a:endParaRPr>
          </a:p>
          <a:p>
            <a:pPr marL="394022" indent="-394022" algn="l">
              <a:buFont typeface="Arial"/>
              <a:buChar char="•"/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Use the “</a:t>
            </a:r>
            <a:r>
              <a:rPr sz="2800" b="1" i="1" u="none">
                <a:solidFill>
                  <a:srgbClr val="FFC000"/>
                </a:solidFill>
                <a:latin typeface="Times New Roman"/>
                <a:ea typeface="Times New Roman"/>
                <a:cs typeface="Times New Roman"/>
              </a:rPr>
              <a:t>Line/Wall Following Switch(2)</a:t>
            </a: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”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to select the mode.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30597693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553338" y="31473"/>
            <a:ext cx="10515600" cy="1214786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3231846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501355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Schematics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IR Sensor Modules (4x Forward-Facing)</a:t>
            </a:r>
            <a:endParaRPr sz="2800" b="1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   Function: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Detects obstacles by emitting infrared light and measuring reflection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Range: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5 cm to 30 cm (adjustable via potentiometer)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Output: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Digital signal (HIGH = clear, LOW = obstacle detected)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Response Time: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&lt;10 ms (instant detection)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DC Gear Motors (2x)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     Function: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Controls movement direction and speed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Voltage: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6V - 9V DC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Capabilities: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Forward, backward, left turn, right turn movements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Speed Control: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PWM (0-255) for smooth navigation</a:t>
            </a:r>
            <a:endParaRPr/>
          </a:p>
        </p:txBody>
      </p:sp>
      <p:pic>
        <p:nvPicPr>
          <p:cNvPr id="8314608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3073875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170556" y="-4132"/>
            <a:ext cx="10515600" cy="1152473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9994654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597846" y="1148340"/>
            <a:ext cx="10515600" cy="56259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Schematics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TB6612 Motor Driver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Interfaces Arduino with DC motors for dual motor control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Features: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PWM speed control, direction control, thermal protection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Arduino Nano/Uno Microcontroller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Acts as the brain of the robot, processing sensor inputs and  controlling motor   outputs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4 IR sensors (pins A0-A3)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Obstacle avoidance algorithm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Controls: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Motor driver (pins 3-8) with PWM signals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457200" lvl="1" indent="0">
              <a:buFont typeface="Arial"/>
              <a:buNone/>
              <a:defRPr/>
            </a:pP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OLED Display (128x64, I2C)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     Function: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Real-time visual feedback of sensor status and robot actions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Connection: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SDA (A4), SCL (A5)</a:t>
            </a:r>
            <a:endParaRPr/>
          </a:p>
        </p:txBody>
      </p:sp>
      <p:pic>
        <p:nvPicPr>
          <p:cNvPr id="199444568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8204989" name="Title 1"/>
          <p:cNvSpPr>
            <a:spLocks noGrp="1"/>
          </p:cNvSpPr>
          <p:nvPr>
            <p:ph type="title"/>
          </p:nvPr>
        </p:nvSpPr>
        <p:spPr bwMode="auto">
          <a:xfrm>
            <a:off x="348594" y="-7930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83536886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9298" y="1246260"/>
            <a:ext cx="10934498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How IR Sensors Work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Working Principle:</a:t>
            </a:r>
            <a:endParaRPr sz="2800">
              <a:solidFill>
                <a:schemeClr val="bg1"/>
              </a:solidFill>
            </a:endParaRPr>
          </a:p>
          <a:p>
            <a:pPr marL="0" indent="0">
              <a:buFont typeface="Arial"/>
              <a:buNone/>
              <a:defRPr/>
            </a:pPr>
            <a:r>
              <a:rPr sz="2800">
                <a:solidFill>
                  <a:schemeClr val="bg1"/>
                </a:solidFill>
              </a:rPr>
              <a:t>	</a:t>
            </a:r>
            <a:r>
              <a:rPr sz="1600" b="0" i="0" u="none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[IR LED] → Emits Infrared Light → [Obstacle] → Reflects Back → [IR Receiver]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Digital Output: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 Car-1 Setup: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4 Forward-Facing IR Sensors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Detection Range: 5-30 cm (adjustable)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lvl="1">
              <a:defRPr/>
            </a:pP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Fast Response: &lt;10ms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Key Advantage: </a:t>
            </a:r>
            <a:endParaRPr lang="en-US" sz="2800" b="1" i="0" u="none" strike="noStrike" cap="none" spc="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marL="0" indent="0">
              <a:buFont typeface="Arial"/>
              <a:buNone/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	Simple digital interface, no distance calculation needed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23672531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  <p:graphicFrame>
        <p:nvGraphicFramePr>
          <p:cNvPr id="1147608814" name=""/>
          <p:cNvGraphicFramePr>
            <a:graphicFrameLocks xmlns:a="http://schemas.openxmlformats.org/drawingml/2006/main"/>
          </p:cNvGraphicFramePr>
          <p:nvPr/>
        </p:nvGraphicFramePr>
        <p:xfrm>
          <a:off x="1852235" y="2859838"/>
          <a:ext cx="4588509" cy="83565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2213802"/>
                <a:gridCol w="1985331"/>
                <a:gridCol w="2108757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Output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Object Detected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0 (LOW)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/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Path Clear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 (HIGH)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5673246" name="Title 1"/>
          <p:cNvSpPr>
            <a:spLocks noGrp="1"/>
          </p:cNvSpPr>
          <p:nvPr>
            <p:ph type="title"/>
          </p:nvPr>
        </p:nvSpPr>
        <p:spPr bwMode="auto">
          <a:xfrm>
            <a:off x="295033" y="-91531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1110477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48189" y="1061802"/>
            <a:ext cx="11196689" cy="59827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0000" lnSpcReduction="4000"/>
          </a:bodyPr>
          <a:lstStyle/>
          <a:p>
            <a:pPr>
              <a:defRPr/>
            </a:pPr>
            <a:r>
              <a:rPr sz="2800" b="1" i="0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Critical Programming Setup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MANDATORY Switch Settings Before Uploading Code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connecting USB and uploading program: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STANDBY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Prevents motors from running during code upload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Avoids car moving unexpectedly on desk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Protects USB connection from power surges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Safety first during programming!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 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2">
              <a:defRPr/>
            </a:pPr>
            <a:r>
              <a:rPr sz="2400" b="0" i="0" u="none">
                <a:solidFill>
                  <a:schemeClr val="accent4">
                    <a:lumMod val="75000"/>
                  </a:schemeClr>
                </a:solidFill>
                <a:latin typeface="Aptos Display"/>
                <a:ea typeface="Aptos Display"/>
                <a:cs typeface="Aptos Display"/>
              </a:rPr>
              <a:t>⚠️ MUST BE SET TO: WALL FOLLOWING MODE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Why?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Pit avoidance uses the same sensor array as line following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Switch must be in "Line Following" position for downward sensors to work</a:t>
            </a:r>
            <a:endParaRPr sz="28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8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Wrong position = sensors won't be read correctly</a:t>
            </a:r>
            <a:endParaRPr/>
          </a:p>
        </p:txBody>
      </p:sp>
      <p:pic>
        <p:nvPicPr>
          <p:cNvPr id="95853118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8"/>
            <a:ext cx="2037717" cy="549225"/>
          </a:xfrm>
          <a:prstGeom prst="rect">
            <a:avLst/>
          </a:prstGeom>
        </p:spPr>
      </p:pic>
      <p:sp>
        <p:nvSpPr>
          <p:cNvPr id="2145766955" name=""/>
          <p:cNvSpPr txBox="1"/>
          <p:nvPr/>
        </p:nvSpPr>
        <p:spPr bwMode="auto">
          <a:xfrm flipH="0" flipV="0">
            <a:off x="6004378" y="3246120"/>
            <a:ext cx="183240" cy="365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0281300" name="Title 1"/>
          <p:cNvSpPr>
            <a:spLocks noGrp="1"/>
          </p:cNvSpPr>
          <p:nvPr>
            <p:ph type="title"/>
          </p:nvPr>
        </p:nvSpPr>
        <p:spPr bwMode="auto">
          <a:xfrm>
            <a:off x="295033" y="-91531"/>
            <a:ext cx="10515600" cy="1325558"/>
          </a:xfrm>
        </p:spPr>
        <p:txBody>
          <a:bodyPr/>
          <a:lstStyle/>
          <a:p>
            <a:pPr>
              <a:defRPr/>
            </a:pPr>
            <a:r>
              <a:rPr lang="en-US" sz="4400" b="0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Ultrasonic Obstacle Avoidance</a:t>
            </a:r>
            <a:endParaRPr/>
          </a:p>
        </p:txBody>
      </p:sp>
      <p:sp>
        <p:nvSpPr>
          <p:cNvPr id="66445895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147224" y="1093030"/>
            <a:ext cx="11620618" cy="5982710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During Programming (Code Upload):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Connect USB cable to computer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</a:t>
            </a:r>
            <a:r>
              <a:rPr lang="en-US" sz="2600" b="1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STANDBY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WALL FOLLOWING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OFF -&gt;for batter power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Upload the respective program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Wait for "Upload Complete" message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7: Disconnect USB cable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>
              <a:defRPr/>
            </a:pPr>
            <a:r>
              <a:rPr sz="2600" b="1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Before Testing (Running the Robot):</a:t>
            </a:r>
            <a:endParaRPr sz="2600">
              <a:solidFill>
                <a:schemeClr val="bg1"/>
              </a:solidFill>
              <a:latin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1: Place robot on the ground. No obstacle as this test for basic movements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2: Verify Switch 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Line/Wall Following Switch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-&gt;  WALL FOLLOWING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3: Set Switch 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“</a:t>
            </a:r>
            <a:r>
              <a:rPr lang="en-US" sz="2600" b="1" i="0" u="none" strike="noStrike" cap="none" spc="0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Motor Driver Standby/On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-&gt;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activate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(  motor driver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 ON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)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4: Set Switch “</a:t>
            </a:r>
            <a:r>
              <a:rPr sz="2600" b="1">
                <a:solidFill>
                  <a:schemeClr val="accent5"/>
                </a:solidFill>
                <a:latin typeface="Times New Roman"/>
                <a:ea typeface="Times New Roman"/>
                <a:cs typeface="Times New Roman"/>
              </a:rPr>
              <a:t>ON/OFF Switch</a:t>
            </a:r>
            <a:r>
              <a:rPr lang="en-US" sz="26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” → ON -&gt;for batter power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5: Press </a:t>
            </a:r>
            <a:r>
              <a:rPr sz="2600" b="0" i="1" u="none">
                <a:solidFill>
                  <a:schemeClr val="accent5"/>
                </a:solidFill>
                <a:latin typeface="Aptos Display"/>
                <a:ea typeface="Aptos Display"/>
                <a:cs typeface="Aptos Display"/>
              </a:rPr>
              <a:t>RESET </a:t>
            </a: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button </a:t>
            </a:r>
            <a:endParaRPr sz="2600" b="0" i="0" u="none">
              <a:solidFill>
                <a:schemeClr val="bg1"/>
              </a:solidFill>
              <a:latin typeface="Aptos Display"/>
              <a:ea typeface="Aptos Display"/>
              <a:cs typeface="Aptos Display"/>
            </a:endParaRPr>
          </a:p>
          <a:p>
            <a:pPr lvl="1">
              <a:defRPr/>
            </a:pPr>
            <a:r>
              <a:rPr sz="2600" b="0" i="0" u="none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Step 6: Robot car-1 starts pit avoidance program</a:t>
            </a:r>
            <a:endParaRPr/>
          </a:p>
        </p:txBody>
      </p:sp>
      <p:pic>
        <p:nvPicPr>
          <p:cNvPr id="2003699876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098"/>
            <a:ext cx="2037717" cy="549225"/>
          </a:xfrm>
          <a:prstGeom prst="rect">
            <a:avLst/>
          </a:prstGeom>
        </p:spPr>
      </p:pic>
      <p:sp>
        <p:nvSpPr>
          <p:cNvPr id="285652858" name=""/>
          <p:cNvSpPr txBox="1"/>
          <p:nvPr/>
        </p:nvSpPr>
        <p:spPr bwMode="auto">
          <a:xfrm flipH="0" flipV="0">
            <a:off x="6004378" y="3246120"/>
            <a:ext cx="183240" cy="36575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153960" name="Title 1"/>
          <p:cNvSpPr>
            <a:spLocks noGrp="1"/>
          </p:cNvSpPr>
          <p:nvPr>
            <p:ph type="title"/>
          </p:nvPr>
        </p:nvSpPr>
        <p:spPr bwMode="auto">
          <a:xfrm>
            <a:off x="244837" y="-232066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366726117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28770" y="834105"/>
            <a:ext cx="10515600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ALGORITHM – IR OBSTACLE AVOIDANCE</a:t>
            </a:r>
            <a:endParaRPr/>
          </a:p>
        </p:txBody>
      </p:sp>
      <p:pic>
        <p:nvPicPr>
          <p:cNvPr id="171701651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960004382" name=""/>
          <p:cNvGraphicFramePr>
            <a:graphicFrameLocks xmlns:a="http://schemas.openxmlformats.org/drawingml/2006/main"/>
          </p:cNvGraphicFramePr>
          <p:nvPr/>
        </p:nvGraphicFramePr>
        <p:xfrm>
          <a:off x="562991" y="1274418"/>
          <a:ext cx="11534458" cy="5374551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810000"/>
                <a:gridCol w="1620000"/>
                <a:gridCol w="900000"/>
                <a:gridCol w="720000"/>
                <a:gridCol w="1260000"/>
                <a:gridCol w="450000"/>
                <a:gridCol w="1530000"/>
                <a:gridCol w="4231758"/>
              </a:tblGrid>
              <a:tr h="30881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Priority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Condition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Situation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Action</a:t>
                      </a:r>
                      <a:endParaRPr sz="1400" b="1"/>
                    </a:p>
                  </a:txBody>
                  <a:tcPr vert="horz"/>
                </a:tc>
              </a:tr>
              <a:tr h="71123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All Clear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Safe path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 (slow, 100 PWM)</a:t>
                      </a:r>
                      <a:endParaRPr sz="1400" b="1"/>
                    </a:p>
                  </a:txBody>
                  <a:tcPr vert="horz"/>
                </a:tc>
              </a:tr>
              <a:tr h="1062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2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Left Side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on left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BACKUP → TURN RIGHT → VERIFY</a:t>
                      </a:r>
                      <a:endParaRPr sz="1400" b="1"/>
                    </a:p>
                  </a:txBody>
                  <a:tcPr vert="horz"/>
                </a:tc>
              </a:tr>
              <a:tr h="1062048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3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Right Side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Obstacle on right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BACKUP → TURN LEFT → VERIFY</a:t>
                      </a:r>
                      <a:endParaRPr sz="1400" b="1"/>
                    </a:p>
                  </a:txBody>
                  <a:tcPr vert="horz"/>
                </a:tc>
              </a:tr>
              <a:tr h="1169653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4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Both Sides Blocked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safe side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LONG BACKUP → 180° TURN → VERIFY</a:t>
                      </a:r>
                      <a:endParaRPr sz="1400" b="1"/>
                    </a:p>
                  </a:txBody>
                  <a:tcPr vert="horz"/>
                </a:tc>
              </a:tr>
              <a:tr h="5240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5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Center Clear (fallback)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X/✓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Only center open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 (slow)</a:t>
                      </a:r>
                      <a:endParaRPr sz="1400" b="1"/>
                    </a:p>
                  </a:txBody>
                  <a:tcPr vert="horz"/>
                </a:tc>
              </a:tr>
              <a:tr h="52402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Default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Uncertain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?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Reassess</a:t>
                      </a:r>
                      <a:endParaRPr sz="1400" b="1"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STOP → RECHECK</a:t>
                      </a:r>
                      <a:endParaRPr sz="1400" b="1"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809292" name="Title 1"/>
          <p:cNvSpPr>
            <a:spLocks noGrp="1"/>
          </p:cNvSpPr>
          <p:nvPr>
            <p:ph type="title"/>
          </p:nvPr>
        </p:nvSpPr>
        <p:spPr bwMode="auto">
          <a:xfrm>
            <a:off x="135533" y="-232066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8521706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229222" y="827581"/>
            <a:ext cx="11530285" cy="5951481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Aptos"/>
                <a:ea typeface="Aptos"/>
                <a:cs typeface="Aptos"/>
              </a:rPr>
              <a:t>Flowchart   </a:t>
            </a:r>
            <a:endParaRPr lang="en-US" sz="1400" b="1" i="0" u="none" strike="noStrike" cap="none" spc="0">
              <a:solidFill>
                <a:schemeClr val="bg1"/>
              </a:solidFill>
              <a:latin typeface="Aptos"/>
              <a:ea typeface="Aptos"/>
              <a:cs typeface="Aptos"/>
            </a:endParaRPr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691215121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2126949346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184753" y="827581"/>
            <a:ext cx="4779712" cy="577745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47392" name="Title 1"/>
          <p:cNvSpPr>
            <a:spLocks noGrp="1"/>
          </p:cNvSpPr>
          <p:nvPr>
            <p:ph type="title"/>
          </p:nvPr>
        </p:nvSpPr>
        <p:spPr bwMode="auto">
          <a:xfrm>
            <a:off x="119919" y="-347822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35939400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74570" y="705326"/>
            <a:ext cx="10515600" cy="553900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Main Decision Function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endParaRPr/>
          </a:p>
        </p:txBody>
      </p:sp>
      <p:pic>
        <p:nvPicPr>
          <p:cNvPr id="888695328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pic>
        <p:nvPicPr>
          <p:cNvPr id="690531933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340900" y="977737"/>
            <a:ext cx="4829175" cy="570123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0535860" name="Title 1"/>
          <p:cNvSpPr>
            <a:spLocks noGrp="1"/>
          </p:cNvSpPr>
          <p:nvPr>
            <p:ph type="title"/>
          </p:nvPr>
        </p:nvSpPr>
        <p:spPr bwMode="auto">
          <a:xfrm>
            <a:off x="366397" y="4254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3674294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49179" y="1379787"/>
            <a:ext cx="10515600" cy="51897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Decision Logic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all sensors are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Move FORWARD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 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Left side blocked AND Right-Center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Turn RIGHT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 IF</a:t>
            </a:r>
            <a:r>
              <a:rPr sz="28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Right side blocked AND Left-Center clear </a:t>
            </a: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THEN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Turn LEFT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ELSE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Action:</a:t>
            </a:r>
            <a:r>
              <a:rPr sz="2400" b="0" i="0" u="none">
                <a:solidFill>
                  <a:schemeClr val="bg1"/>
                </a:solidFill>
                <a:latin typeface="Aptos"/>
                <a:ea typeface="Aptos"/>
                <a:cs typeface="Aptos"/>
              </a:rPr>
              <a:t> Move BACKWARD (then turn)</a:t>
            </a:r>
            <a:r>
              <a:rPr lang="en-US" sz="24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Main Loop Explanation</a:t>
            </a:r>
            <a:r>
              <a:rPr lang="en-US" sz="24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400" b="0" i="0" u="none">
              <a:solidFill>
                <a:schemeClr val="bg1"/>
              </a:solidFill>
              <a:latin typeface="Aptos"/>
              <a:ea typeface="Aptos"/>
              <a:cs typeface="Aptos"/>
            </a:endParaRPr>
          </a:p>
        </p:txBody>
      </p:sp>
      <p:pic>
        <p:nvPicPr>
          <p:cNvPr id="152103587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9131806" name="Title 1"/>
          <p:cNvSpPr>
            <a:spLocks noGrp="1"/>
          </p:cNvSpPr>
          <p:nvPr>
            <p:ph type="title"/>
          </p:nvPr>
        </p:nvSpPr>
        <p:spPr bwMode="auto">
          <a:xfrm>
            <a:off x="366398" y="-4133"/>
            <a:ext cx="10515600" cy="1325561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67097603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838198" y="1246260"/>
            <a:ext cx="10515600" cy="5189788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Movement Control Functions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Function Descriptions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Set pins to move forward.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Set pins to move backward.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turnLeft()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/ </a:t>
            </a: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turnRight()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Define how the wheels are activated to turn.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Stop()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: Explain how all motors are disabled.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 Motor Commands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FORWARD: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Both motors move forward at set speed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 RIGHT: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Left motor forward + Right motor backward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TURN LEFT: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Right motor forward + Left motor backward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BACKWARD: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Both motors reverse + random turn</a:t>
            </a:r>
            <a:endParaRPr sz="2800">
              <a:solidFill>
                <a:schemeClr val="bg1"/>
              </a:solidFill>
            </a:endParaRPr>
          </a:p>
        </p:txBody>
      </p:sp>
      <p:pic>
        <p:nvPicPr>
          <p:cNvPr id="53006468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55365" name="Title 1"/>
          <p:cNvSpPr>
            <a:spLocks noGrp="1"/>
          </p:cNvSpPr>
          <p:nvPr>
            <p:ph type="title"/>
          </p:nvPr>
        </p:nvSpPr>
        <p:spPr bwMode="auto">
          <a:xfrm>
            <a:off x="170556" y="42544"/>
            <a:ext cx="10515600" cy="1325560"/>
          </a:xfrm>
        </p:spPr>
        <p:txBody>
          <a:bodyPr/>
          <a:lstStyle/>
          <a:p>
            <a:pPr>
              <a:defRPr/>
            </a:pPr>
            <a:r>
              <a:rPr lang="en-US" sz="4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382122384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49179" y="1397591"/>
            <a:ext cx="10515600" cy="518978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Repeat Loop</a:t>
            </a:r>
            <a:endParaRPr sz="2800" b="1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REPEAT</a:t>
            </a: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continuously: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Read sensors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Make decision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Execute action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Wait 15ms</a:t>
            </a:r>
            <a:endParaRPr sz="2400">
              <a:solidFill>
                <a:schemeClr val="bg1"/>
              </a:solidFill>
            </a:endParaRPr>
          </a:p>
          <a:p>
            <a:pPr lvl="1">
              <a:defRPr/>
            </a:pPr>
            <a:endParaRPr/>
          </a:p>
          <a:p>
            <a:pPr marL="457200" lvl="1" indent="0">
              <a:buFont typeface="Arial"/>
              <a:buNone/>
              <a:defRPr/>
            </a:pPr>
            <a:endParaRPr/>
          </a:p>
        </p:txBody>
      </p:sp>
      <p:pic>
        <p:nvPicPr>
          <p:cNvPr id="2010493864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1" y="156099"/>
            <a:ext cx="2037717" cy="549226"/>
          </a:xfrm>
          <a:prstGeom prst="rect">
            <a:avLst/>
          </a:prstGeom>
        </p:spPr>
      </p:pic>
      <p:graphicFrame>
        <p:nvGraphicFramePr>
          <p:cNvPr id="1367947257" name=""/>
          <p:cNvGraphicFramePr>
            <a:graphicFrameLocks xmlns:a="http://schemas.openxmlformats.org/drawingml/2006/main"/>
          </p:cNvGraphicFramePr>
          <p:nvPr/>
        </p:nvGraphicFramePr>
        <p:xfrm>
          <a:off x="1418346" y="3707153"/>
          <a:ext cx="4227829" cy="1384299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705484"/>
                <a:gridCol w="720089"/>
                <a:gridCol w="720089"/>
                <a:gridCol w="539749"/>
                <a:gridCol w="1529714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LC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Action</a:t>
                      </a:r>
                      <a:endParaRPr/>
                    </a:p>
                  </a:txBody>
                  <a:tcPr vert="horz"/>
                </a:tc>
              </a:tr>
              <a:tr h="139065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FORWARD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RIGHT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✓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LEFT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✗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8791679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45931" y="-90981"/>
            <a:ext cx="10515600" cy="998971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208533092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410907" y="1166142"/>
            <a:ext cx="10663926" cy="548355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1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Safety Guidelines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Troubleshooting Guide — Common Issues &amp; Quick Fixes</a:t>
            </a:r>
            <a:endParaRPr sz="2800" b="0" i="0" u="none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Emergency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Press the reset button or disconnect the battery immediately.</a:t>
            </a:r>
            <a:endParaRPr/>
          </a:p>
        </p:txBody>
      </p:sp>
      <p:pic>
        <p:nvPicPr>
          <p:cNvPr id="1846800990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2" y="156100"/>
            <a:ext cx="2037718" cy="549227"/>
          </a:xfrm>
          <a:prstGeom prst="rect">
            <a:avLst/>
          </a:prstGeom>
        </p:spPr>
      </p:pic>
      <p:graphicFrame>
        <p:nvGraphicFramePr>
          <p:cNvPr id="1348189303" name=""/>
          <p:cNvGraphicFramePr>
            <a:graphicFrameLocks xmlns:a="http://schemas.openxmlformats.org/drawingml/2006/main"/>
          </p:cNvGraphicFramePr>
          <p:nvPr/>
        </p:nvGraphicFramePr>
        <p:xfrm>
          <a:off x="1159437" y="2505925"/>
          <a:ext cx="5956299" cy="2670457"/>
        </p:xfrm>
        <a:graphic>
          <a:graphicData uri="http://schemas.openxmlformats.org/drawingml/2006/table">
            <a:tbl>
              <a:tblPr firstRow="1" firstCol="1" lastRow="0" lastCol="0" bandRow="1" bandCol="0">
                <a:tableStyleId>{5C22544A-7EE6-4342-B048-85BDC9FD1C3A}</a:tableStyleId>
              </a:tblPr>
              <a:tblGrid>
                <a:gridCol w="1981199"/>
                <a:gridCol w="1694179"/>
                <a:gridCol w="2268219"/>
              </a:tblGrid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Problem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Cause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Solution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Sensors always show blocked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Sensitivity too high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potentiometer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clockwise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ignores obstacles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Sensitivity too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Turn potentiometer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counter-clockwise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Motors don’t move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Battery low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Charge/replace battery (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6–9V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)</a:t>
                      </a:r>
                      <a:endParaRPr/>
                    </a:p>
                  </a:txBody>
                  <a:tcPr vert="horz"/>
                </a:tc>
              </a:tr>
              <a:tr h="463197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Robot turns randomly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Sensor noise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Add </a:t>
                      </a:r>
                      <a:r>
                        <a:rPr sz="1000">
                          <a:solidFill>
                            <a:srgbClr val="000000"/>
                          </a:solidFill>
                          <a:latin typeface="Courier New"/>
                          <a:ea typeface="Courier New"/>
                          <a:cs typeface="Courier New"/>
                        </a:rPr>
                        <a:t>if (confidence &gt;= 2)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filtering logic</a:t>
                      </a:r>
                      <a:endParaRPr/>
                    </a:p>
                  </a:txBody>
                  <a:tcPr vert="horz"/>
                </a:tc>
              </a:tr>
              <a:tr h="45720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Gets stuck in corners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No backup logic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Implement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backward movement</a:t>
                      </a: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 routine</a:t>
                      </a:r>
                      <a:endParaRPr/>
                    </a:p>
                  </a:txBody>
                  <a:tcPr vert="horz"/>
                </a:tc>
              </a:tr>
              <a:tr h="274320"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Erratic Serial Monitor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Wrong baud rate</a:t>
                      </a:r>
                      <a:endParaRPr/>
                    </a:p>
                  </a:txBody>
                  <a:tcPr vert="horz"/>
                </a:tc>
                <a:tc>
                  <a:txBody>
                    <a:bodyPr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defRPr/>
                      </a:pPr>
                      <a:r>
                        <a:rPr sz="1200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Set to </a:t>
                      </a:r>
                      <a:r>
                        <a:rPr sz="1200" b="1">
                          <a:solidFill>
                            <a:srgbClr val="000000"/>
                          </a:solidFill>
                          <a:latin typeface="Times New Roman"/>
                          <a:ea typeface="Times New Roman"/>
                          <a:cs typeface="Times New Roman"/>
                        </a:rPr>
                        <a:t>115200 baud</a:t>
                      </a:r>
                      <a:endParaRPr/>
                    </a:p>
                  </a:txBody>
                  <a:tcPr vert="horz"/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576984" name="Title 1"/>
          <p:cNvSpPr>
            <a:spLocks noGrp="1"/>
          </p:cNvSpPr>
          <p:nvPr>
            <p:ph type="title"/>
          </p:nvPr>
        </p:nvSpPr>
        <p:spPr bwMode="auto">
          <a:xfrm>
            <a:off x="161655" y="-39740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US" sz="3600" b="0" i="0" u="none" strike="noStrike" cap="none" spc="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IR SENSOR OBSTACLE AVOIDANCE</a:t>
            </a:r>
            <a:endParaRPr/>
          </a:p>
        </p:txBody>
      </p:sp>
      <p:sp>
        <p:nvSpPr>
          <p:cNvPr id="166074872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356985" y="1285821"/>
            <a:ext cx="10916695" cy="540838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r>
              <a:rPr lang="en-US" sz="2800" b="0" i="0" u="none" strike="noStrike" cap="none" spc="0">
                <a:solidFill>
                  <a:schemeClr val="bg1"/>
                </a:solidFill>
                <a:latin typeface="Aptos Display"/>
                <a:ea typeface="Aptos Display"/>
                <a:cs typeface="Aptos Display"/>
              </a:rPr>
              <a:t>Common Troubleshooting</a:t>
            </a:r>
            <a:endParaRPr sz="2000">
              <a:solidFill>
                <a:schemeClr val="bg1"/>
              </a:solidFill>
            </a:endParaRPr>
          </a:p>
          <a:p>
            <a:pPr marL="400050" marR="0" lvl="1" indent="0">
              <a:spcBef>
                <a:spcPts val="8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Robot moves in circles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Check motor polarity (swap IN1/IN2 if needed)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Calibrate motor speeds (add trim values)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400050" marR="0" lvl="1" indent="0">
              <a:spcBef>
                <a:spcPts val="11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Motors don't move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Verify power supply (VM to battery)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motor driver connections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spcBef>
                <a:spcPts val="599"/>
              </a:spcBef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Test with higher PWM values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L="400050" marR="0" lvl="1" indent="0">
              <a:spcBef>
                <a:spcPts val="1199"/>
              </a:spcBef>
              <a:defRPr/>
            </a:pPr>
            <a:r>
              <a:rPr sz="2400" b="1">
                <a:solidFill>
                  <a:schemeClr val="bg1"/>
                </a:solidFill>
                <a:latin typeface="Aptos"/>
                <a:ea typeface="Aptos"/>
                <a:cs typeface="Aptos"/>
              </a:rPr>
              <a:t>Problem: OLED display blank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Confirm I2C address (0x3C or 0x3D)</a:t>
            </a:r>
            <a:endParaRPr sz="2800">
              <a:solidFill>
                <a:schemeClr val="bg1"/>
              </a:solidFill>
              <a:latin typeface="Aptos"/>
              <a:cs typeface="Aptos"/>
            </a:endParaRPr>
          </a:p>
          <a:p>
            <a:pPr marR="0" lvl="2">
              <a:defRPr/>
            </a:pP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 </a:t>
            </a:r>
            <a:r>
              <a:rPr sz="2400">
                <a:solidFill>
                  <a:schemeClr val="bg1"/>
                </a:solidFill>
                <a:latin typeface="Aptos"/>
                <a:ea typeface="Aptos"/>
                <a:cs typeface="Aptos"/>
              </a:rPr>
              <a:t>Check SDA/SCL connections</a:t>
            </a:r>
            <a:endParaRPr sz="1200">
              <a:solidFill>
                <a:schemeClr val="bg1"/>
              </a:solidFill>
              <a:latin typeface="Times New Roman"/>
              <a:ea typeface="Times New Roman"/>
              <a:cs typeface="Times New Roman"/>
            </a:endParaRPr>
          </a:p>
        </p:txBody>
      </p:sp>
      <p:pic>
        <p:nvPicPr>
          <p:cNvPr id="161208047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3" y="156101"/>
            <a:ext cx="2037719" cy="54922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3704954" name="Title 1"/>
          <p:cNvSpPr>
            <a:spLocks noGrp="1"/>
          </p:cNvSpPr>
          <p:nvPr>
            <p:ph type="title"/>
          </p:nvPr>
        </p:nvSpPr>
        <p:spPr bwMode="auto">
          <a:xfrm>
            <a:off x="838198" y="126183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Applications</a:t>
            </a:r>
            <a:endParaRPr/>
          </a:p>
        </p:txBody>
      </p:sp>
      <p:sp>
        <p:nvSpPr>
          <p:cNvPr id="1621783456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722475" y="1272967"/>
            <a:ext cx="10708434" cy="5447943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Industrial Robotics: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Warehouse AGVs (Automated Guided Vehicles)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Assembly line robots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Material handling systems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Consumer Products: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Robotic vacuum cleaners 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Lawn mowing robots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Floor cleaning machines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Education &amp; Research: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STEM learning platforms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Robotics competitions (line following, maze solving)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AI/ML training datasets</a:t>
            </a:r>
            <a:endParaRPr/>
          </a:p>
        </p:txBody>
      </p:sp>
      <p:pic>
        <p:nvPicPr>
          <p:cNvPr id="945811075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solidFill>
          <a:schemeClr val="tx2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296785" name="Title 1"/>
          <p:cNvSpPr>
            <a:spLocks noGrp="1"/>
          </p:cNvSpPr>
          <p:nvPr>
            <p:ph type="title"/>
          </p:nvPr>
        </p:nvSpPr>
        <p:spPr bwMode="auto">
          <a:xfrm>
            <a:off x="669064" y="42549"/>
            <a:ext cx="10515600" cy="1325562"/>
          </a:xfrm>
        </p:spPr>
        <p:txBody>
          <a:bodyPr/>
          <a:lstStyle/>
          <a:p>
            <a:pPr>
              <a:defRPr/>
            </a:pPr>
            <a:r>
              <a:rPr lang="en-GB">
                <a:solidFill>
                  <a:schemeClr val="bg1"/>
                </a:solidFill>
              </a:rPr>
              <a:t>Q&amp;A</a:t>
            </a:r>
            <a:endParaRPr/>
          </a:p>
        </p:txBody>
      </p:sp>
      <p:sp>
        <p:nvSpPr>
          <p:cNvPr id="788710585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69064" y="1290771"/>
            <a:ext cx="10515600" cy="4940537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>
              <a:defRPr/>
            </a:pPr>
            <a:endParaRPr lang="en-GB"/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Questions &amp; Discussion</a:t>
            </a:r>
            <a:endParaRPr sz="2800">
              <a:solidFill>
                <a:schemeClr val="bg1"/>
              </a:solidFill>
            </a:endParaRPr>
          </a:p>
          <a:p>
            <a:pPr>
              <a:defRPr/>
            </a:pPr>
            <a:r>
              <a:rPr sz="28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Common Questions: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"Why does my robot turn when no obstacle is present?"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Check sensor sensitivity and add confidence threshold</a:t>
            </a:r>
            <a:r>
              <a:rPr sz="2800">
                <a:solidFill>
                  <a:schemeClr val="bg1"/>
                </a:solidFill>
              </a:rPr>
              <a:t>, Calibrate 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"Can IR sensors work in sunlight?"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Yes, but may need sensitivity adjustment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"How to make robot faster while staying safe?"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Use adaptive speed based on obstacle distance</a:t>
            </a:r>
            <a:endParaRPr sz="2800">
              <a:solidFill>
                <a:schemeClr val="bg1"/>
              </a:solidFill>
            </a:endParaRPr>
          </a:p>
          <a:p>
            <a:pPr lvl="1">
              <a:defRPr/>
            </a:pPr>
            <a:r>
              <a:rPr sz="2400" b="1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"What if both left and right sensors detect obstacles?"</a:t>
            </a:r>
            <a:r>
              <a:rPr sz="2400" b="0" i="0" u="none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 → Implement backup + 180° turn logic</a:t>
            </a:r>
            <a:endParaRPr lang="en-GB">
              <a:solidFill>
                <a:schemeClr val="bg1"/>
              </a:solidFill>
            </a:endParaRPr>
          </a:p>
        </p:txBody>
      </p:sp>
      <p:pic>
        <p:nvPicPr>
          <p:cNvPr id="158074754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71314" y="156102"/>
            <a:ext cx="2037720" cy="5492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ONLYOFFICE/8.3.3.21</Application>
  <PresentationFormat>On-screen Show (4:3)</PresentationFormat>
  <Paragraphs>0</Paragraphs>
  <Slides>21</Slides>
  <Notes>21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2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/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/>
  <cp:revision>12</cp:revision>
  <dcterms:created xsi:type="dcterms:W3CDTF">2025-11-29T15:09:33Z</dcterms:created>
  <dcterms:modified xsi:type="dcterms:W3CDTF">2026-01-02T19:01:42Z</dcterms:modified>
</cp:coreProperties>
</file>