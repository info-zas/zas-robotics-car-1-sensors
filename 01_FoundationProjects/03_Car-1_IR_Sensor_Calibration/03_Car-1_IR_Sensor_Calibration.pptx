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20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7.xml" ContentType="application/vnd.openxmlformats-officedocument.presentationml.notesSlide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viewProps.xml" ContentType="application/vnd.openxmlformats-officedocument.presentationml.viewProps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notesSlides/notesSlide19.xml" ContentType="application/vnd.openxmlformats-officedocument.presentationml.notesSlide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0" d="100"/>
          <a:sy n="70" d="100"/>
        </p:scale>
        <p:origin x="1166" y="27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 /><Relationship Id="rId26" Type="http://schemas.openxmlformats.org/officeDocument/2006/relationships/tableStyles" Target="tableStyles.xml" /><Relationship Id="rId2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648140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8690944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3613162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750805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1046129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7124859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3974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3710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9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4628D2-0276-7CE8-68C8-A30FE23A6892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2169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1766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7582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09B419-B9C3-D577-8C19-FD3877D7FA18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0143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57105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40592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239CEE-AAE5-D6A4-0C26-691AAA3F5AC0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3758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01052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029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516852-B32D-FE25-04D2-D4E192BAC8F2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9970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0662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79045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5CA578-98CB-987F-3412-806B83E8605D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9849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46174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68607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3D816D-C792-B276-96D1-780ADA218748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20707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96854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0104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4A7032-7BA8-886D-1F6D-A068F18C4EB7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9915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2612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9865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585BB0-C1BA-354F-2CC2-809D8A4CBE65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8966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5150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4800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2E12B9-47F1-1504-9132-0BB4A7C81557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70108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1376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6105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0AE4E-95D6-0640-4845-ADB4433C6EC1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0144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6153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1739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4BA853-9499-1AAE-684A-5FB8FF48DA7A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2887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6165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6559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A2518-4688-1CE3-D7B6-E84A34E71221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11858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5114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3151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070903-A232-3135-9761-14E70B961AEB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3382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97580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44999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A5BD03-9EA7-473F-9D1B-C2D658A77385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4267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013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8228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2B65A7-1DA8-6E97-1FBD-DFAF6869E93C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2666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9125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9108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A98801-E56A-2F1D-70A3-7D9EED665994}" type="slidenum">
              <a:rPr/>
              <a:t/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71050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06037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5924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E97B96-088D-2458-4AE2-180D141F28B9}" type="slidenum">
              <a:rPr/>
              <a:t/>
            </a:fld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020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14633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9308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F156D2-6A48-93E5-5798-206EAB80926C}" type="slidenum">
              <a:rPr/>
              <a:t/>
            </a:fld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381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54069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4221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EB7C16-1A55-A08C-C029-410FF415F3E2}" type="slidenum">
              <a:rPr/>
              <a:t/>
            </a:fld>
            <a:endParaRPr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76335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9942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34242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932549-8DF2-14CE-32DE-B4134FF987BE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87049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56357317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96992158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02181199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3604979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27236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6825245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0828762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2088613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886965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34843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3051113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171205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206857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26518899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4886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6052479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918855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46184304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38695815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30069870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29976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5814204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5919024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9782501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643144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08696751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68994885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3812533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246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178573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56397985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61180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85445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76352108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4719445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02490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249293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7814194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8703997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13177953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93358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997850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21007631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51317200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669836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2169032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25118713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2433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947938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1001173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98266067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939364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53089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8689916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2454468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5337456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164799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24956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8314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14629661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91145764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82324574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203320" name="Title 1"/>
          <p:cNvSpPr>
            <a:spLocks noGrp="1"/>
          </p:cNvSpPr>
          <p:nvPr>
            <p:ph type="ctrTitle"/>
          </p:nvPr>
        </p:nvSpPr>
        <p:spPr bwMode="auto">
          <a:xfrm>
            <a:off x="0" y="1122363"/>
            <a:ext cx="12192000" cy="2387600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ZAS Robotic Products</a:t>
            </a:r>
            <a:endParaRPr/>
          </a:p>
        </p:txBody>
      </p:sp>
      <p:sp>
        <p:nvSpPr>
          <p:cNvPr id="1909216865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9" y="3602037"/>
            <a:ext cx="9144000" cy="196162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/>
          <a:p>
            <a:pPr>
              <a:defRPr/>
            </a:pPr>
            <a:r>
              <a:rPr lang="en-GB" sz="3200">
                <a:solidFill>
                  <a:schemeClr val="accent4"/>
                </a:solidFill>
              </a:rPr>
              <a:t>Navigational Robotic Series</a:t>
            </a:r>
            <a:endParaRPr/>
          </a:p>
          <a:p>
            <a:pPr>
              <a:defRPr/>
            </a:pPr>
            <a:r>
              <a:rPr lang="en-GB" sz="3200">
                <a:solidFill>
                  <a:schemeClr val="accent5"/>
                </a:solidFill>
              </a:rPr>
              <a:t>Robot Car-</a:t>
            </a:r>
            <a:r>
              <a:rPr lang="en-US" sz="3200">
                <a:solidFill>
                  <a:schemeClr val="accent5"/>
                </a:solidFill>
              </a:rPr>
              <a:t>1</a:t>
            </a:r>
            <a:r>
              <a:rPr lang="en-GB" sz="3200">
                <a:solidFill>
                  <a:schemeClr val="accent5"/>
                </a:solidFill>
              </a:rPr>
              <a:t> </a:t>
            </a:r>
            <a:r>
              <a:rPr lang="en-US" sz="3200">
                <a:solidFill>
                  <a:schemeClr val="accent5"/>
                </a:solidFill>
              </a:rPr>
              <a:t>Sensor</a:t>
            </a:r>
            <a:endParaRPr/>
          </a:p>
          <a:p>
            <a:pPr>
              <a:defRPr/>
            </a:pPr>
            <a:endParaRPr lang="en-GB" sz="3200">
              <a:solidFill>
                <a:schemeClr val="accent5"/>
              </a:solidFill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Understanding IR Sensors and Calibration Processes</a:t>
            </a:r>
            <a:endParaRPr lang="en-US" sz="3200">
              <a:solidFill>
                <a:schemeClr val="accent5"/>
              </a:solidFill>
            </a:endParaRPr>
          </a:p>
          <a:p>
            <a:pPr>
              <a:defRPr/>
            </a:pPr>
            <a:endParaRPr lang="en-GB" sz="3200">
              <a:solidFill>
                <a:schemeClr val="accent5"/>
              </a:solidFill>
            </a:endParaRPr>
          </a:p>
        </p:txBody>
      </p:sp>
      <p:pic>
        <p:nvPicPr>
          <p:cNvPr id="94599403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966071" y="156102"/>
            <a:ext cx="4042963" cy="1089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4778978" name="Title 1"/>
          <p:cNvSpPr>
            <a:spLocks noGrp="1"/>
          </p:cNvSpPr>
          <p:nvPr>
            <p:ph type="title"/>
          </p:nvPr>
        </p:nvSpPr>
        <p:spPr bwMode="auto">
          <a:xfrm>
            <a:off x="284240" y="42548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Sensors and Calibration Processes</a:t>
            </a:r>
            <a:endParaRPr/>
          </a:p>
        </p:txBody>
      </p:sp>
      <p:sp>
        <p:nvSpPr>
          <p:cNvPr id="171386840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74751" y="1368110"/>
            <a:ext cx="10898892" cy="521664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Introduction to IR Sensors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What are IR Sensors?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Devices that detect infrared radiation for distance measurement and obstacle avoidance.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Why Use IR Sensors?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Essential for autonomous navigation in robotics.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Provide real-time feedback for decision-making.</a:t>
            </a:r>
            <a:endParaRPr sz="24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Importance of Calibration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Why Calibrate IR Sensors?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Ensures accurate readings for effective obstacle detection.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Compensates for environmental factors (e.g., light, surface reflectivity).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Enhances reliability in varying operational conditions.</a:t>
            </a:r>
            <a:endParaRPr sz="2400">
              <a:solidFill>
                <a:schemeClr val="bg1"/>
              </a:solidFill>
            </a:endParaRPr>
          </a:p>
        </p:txBody>
      </p:sp>
      <p:pic>
        <p:nvPicPr>
          <p:cNvPr id="178538753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2248144" name="Title 1"/>
          <p:cNvSpPr>
            <a:spLocks noGrp="1"/>
          </p:cNvSpPr>
          <p:nvPr>
            <p:ph type="title"/>
          </p:nvPr>
        </p:nvSpPr>
        <p:spPr bwMode="auto">
          <a:xfrm>
            <a:off x="295035" y="-232065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Sensors and Calibration Processes</a:t>
            </a:r>
            <a:endParaRPr/>
          </a:p>
        </p:txBody>
      </p:sp>
      <p:sp>
        <p:nvSpPr>
          <p:cNvPr id="164532094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5" y="963295"/>
            <a:ext cx="11196689" cy="578453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Sensor Calibration - </a:t>
            </a:r>
            <a:r>
              <a:rPr sz="2800" b="1" i="0" u="none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The Most Critical Step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🔧 Why Calibration is Absolutely Essential: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Problem Without Calibration: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❌ Sensors may not detect edges at all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❌ False positives (stops in middle of table)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❌ Car falls off table despite having sensors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❌ Inconsistent behavior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endParaRPr/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Solution: Proper Calibration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99469917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sp>
        <p:nvSpPr>
          <p:cNvPr id="1986102870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045565" name="Title 1"/>
          <p:cNvSpPr>
            <a:spLocks noGrp="1"/>
          </p:cNvSpPr>
          <p:nvPr>
            <p:ph type="title"/>
          </p:nvPr>
        </p:nvSpPr>
        <p:spPr bwMode="auto">
          <a:xfrm>
            <a:off x="295035" y="-82368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Sensors and Calibration Processes</a:t>
            </a:r>
            <a:endParaRPr/>
          </a:p>
        </p:txBody>
      </p:sp>
      <p:sp>
        <p:nvSpPr>
          <p:cNvPr id="16469915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74571" y="1103827"/>
            <a:ext cx="11196689" cy="557257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How IR Sensors Work: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IR LED emits infrared light downward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Light reflects back from the surface below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IR receiver detects the reflected light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1" i="0" u="none">
                <a:solidFill>
                  <a:schemeClr val="accent5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Surface present</a:t>
            </a:r>
            <a:r>
              <a:rPr sz="2400" b="0" i="0" u="none">
                <a:solidFill>
                  <a:schemeClr val="accent5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 = Strong reflection = HIGH signal</a:t>
            </a:r>
            <a:endParaRPr sz="2800">
              <a:solidFill>
                <a:schemeClr val="accent5">
                  <a:lumMod val="75000"/>
                </a:schemeClr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1" i="0" u="none">
                <a:solidFill>
                  <a:schemeClr val="accent5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No surface (pit/edge)</a:t>
            </a:r>
            <a:r>
              <a:rPr sz="2400" b="0" i="0" u="none">
                <a:solidFill>
                  <a:schemeClr val="accent5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 = No reflection = LOW signal</a:t>
            </a:r>
            <a:endParaRPr sz="24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457200" lvl="1" indent="0">
              <a:buFont typeface="Arial"/>
              <a:buNone/>
              <a:defRPr/>
            </a:pPr>
            <a:endParaRPr/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Critical Requirement: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457200" lvl="1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🎯 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We MUST know your table color before testing!</a:t>
            </a:r>
            <a:b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🎯 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Calibration adjusts for your specific environment</a:t>
            </a:r>
            <a:endParaRPr/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8261360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sp>
        <p:nvSpPr>
          <p:cNvPr id="1075791131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236961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8469" y="86631"/>
            <a:ext cx="10515600" cy="123739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Sensors and Calibration Processes</a:t>
            </a:r>
            <a:endParaRPr/>
          </a:p>
        </p:txBody>
      </p:sp>
      <p:sp>
        <p:nvSpPr>
          <p:cNvPr id="102461956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00840" y="1093032"/>
            <a:ext cx="11652355" cy="569938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Car-1 - Assembled view and Creative Board component layout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4298578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pic>
        <p:nvPicPr>
          <p:cNvPr id="24061190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rot="0" flipH="0" flipV="0">
            <a:off x="525208" y="2266987"/>
            <a:ext cx="5087323" cy="3866576"/>
          </a:xfrm>
          <a:prstGeom prst="rect">
            <a:avLst/>
          </a:prstGeom>
        </p:spPr>
      </p:pic>
      <p:sp>
        <p:nvSpPr>
          <p:cNvPr id="1457378227" name=""/>
          <p:cNvSpPr/>
          <p:nvPr/>
        </p:nvSpPr>
        <p:spPr bwMode="auto">
          <a:xfrm flipH="0" flipV="0">
            <a:off x="4567568" y="3009007"/>
            <a:ext cx="1329014" cy="169133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84720245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5896584" y="1914511"/>
            <a:ext cx="5606709" cy="45715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5943117" name="Title 1"/>
          <p:cNvSpPr>
            <a:spLocks noGrp="1"/>
          </p:cNvSpPr>
          <p:nvPr>
            <p:ph type="title"/>
          </p:nvPr>
        </p:nvSpPr>
        <p:spPr bwMode="auto">
          <a:xfrm>
            <a:off x="105323" y="42546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Sensors and Calibration Processes</a:t>
            </a:r>
            <a:endParaRPr/>
          </a:p>
        </p:txBody>
      </p:sp>
      <p:sp>
        <p:nvSpPr>
          <p:cNvPr id="199028455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62239" y="1413898"/>
            <a:ext cx="10515600" cy="550135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2800">
                <a:solidFill>
                  <a:schemeClr val="bg1"/>
                </a:solidFill>
              </a:rPr>
              <a:t>Robot Car-1 (Sensors</a:t>
            </a:r>
            <a:r>
              <a:rPr lang="en-US" sz="2800">
                <a:solidFill>
                  <a:schemeClr val="bg1"/>
                </a:solidFill>
              </a:rPr>
              <a:t> edition</a:t>
            </a:r>
            <a:r>
              <a:rPr sz="2800">
                <a:solidFill>
                  <a:schemeClr val="bg1"/>
                </a:solidFill>
              </a:rPr>
              <a:t>)</a:t>
            </a:r>
            <a:r>
              <a:rPr lang="en-US" sz="2800">
                <a:solidFill>
                  <a:schemeClr val="bg1"/>
                </a:solidFill>
              </a:rPr>
              <a:t> - </a:t>
            </a:r>
            <a:r>
              <a:rPr sz="2800" b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downward-facing IR sensors</a:t>
            </a:r>
            <a:endParaRPr/>
          </a:p>
        </p:txBody>
      </p:sp>
      <p:pic>
        <p:nvPicPr>
          <p:cNvPr id="22044118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sp>
        <p:nvSpPr>
          <p:cNvPr id="529569342" name=""/>
          <p:cNvSpPr/>
          <p:nvPr/>
        </p:nvSpPr>
        <p:spPr bwMode="auto">
          <a:xfrm flipH="0" flipV="0">
            <a:off x="914681" y="3905316"/>
            <a:ext cx="9288488" cy="518517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>
                <a:solidFill>
                  <a:schemeClr val="bg1"/>
                </a:solidFill>
              </a:rPr>
              <a:t>Robot Car-1 (Sensors</a:t>
            </a:r>
            <a:r>
              <a:rPr lang="en-US" sz="2800">
                <a:solidFill>
                  <a:schemeClr val="bg1"/>
                </a:solidFill>
              </a:rPr>
              <a:t> edition</a:t>
            </a:r>
            <a:r>
              <a:rPr sz="2800">
                <a:solidFill>
                  <a:schemeClr val="bg1"/>
                </a:solidFill>
              </a:rPr>
              <a:t>)</a:t>
            </a:r>
            <a:r>
              <a:rPr lang="en-US" sz="2800">
                <a:solidFill>
                  <a:schemeClr val="bg1"/>
                </a:solidFill>
              </a:rPr>
              <a:t> - </a:t>
            </a:r>
            <a:r>
              <a:rPr sz="2800" b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Forward-facing IR sensors</a:t>
            </a:r>
            <a:endParaRPr/>
          </a:p>
        </p:txBody>
      </p:sp>
      <p:pic>
        <p:nvPicPr>
          <p:cNvPr id="145252825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rot="0" flipH="0" flipV="0">
            <a:off x="1442099" y="1940607"/>
            <a:ext cx="4905374" cy="1964709"/>
          </a:xfrm>
          <a:prstGeom prst="rect">
            <a:avLst/>
          </a:prstGeom>
        </p:spPr>
      </p:pic>
      <p:pic>
        <p:nvPicPr>
          <p:cNvPr id="68116971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1495512" y="4503952"/>
            <a:ext cx="5143500" cy="22328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838571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41257" y="-35461"/>
            <a:ext cx="10515600" cy="1032471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Sensors and Calibration Processes</a:t>
            </a:r>
            <a:endParaRPr/>
          </a:p>
        </p:txBody>
      </p:sp>
      <p:sp>
        <p:nvSpPr>
          <p:cNvPr id="114889673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79529" y="1344180"/>
            <a:ext cx="11109535" cy="521649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Downward-Facing IR Sensor Array: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What do L, LC, RC, R mean?</a:t>
            </a:r>
            <a:endParaRPr sz="2800">
              <a:solidFill>
                <a:schemeClr val="bg1"/>
              </a:solidFill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22687723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  <p:graphicFrame>
        <p:nvGraphicFramePr>
          <p:cNvPr id="1281236778" name=""/>
          <p:cNvGraphicFramePr>
            <a:graphicFrameLocks xmlns:a="http://schemas.openxmlformats.org/drawingml/2006/main"/>
          </p:cNvGraphicFramePr>
          <p:nvPr/>
        </p:nvGraphicFramePr>
        <p:xfrm>
          <a:off x="509779" y="1807790"/>
          <a:ext cx="8140699" cy="461517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4063999"/>
                <a:gridCol w="4063999"/>
              </a:tblGrid>
              <a:tr h="365760"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400"/>
                        <a:t>Sensor Meanings</a:t>
                      </a:r>
                      <a:endParaRPr sz="1400"/>
                    </a:p>
                  </a:txBody>
                  <a:tcPr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365760">
                <a:tc>
                  <a:txBody>
                    <a:bodyPr/>
                    <a:p>
                      <a:pPr marL="0" marR="0" indent="0"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 – Left Sensor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Positioned on the </a:t>
                      </a: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far left</a:t>
                      </a:r>
                      <a:endParaRPr sz="14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Detects:</a:t>
                      </a:r>
                      <a:endParaRPr sz="1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</a:t>
                      </a: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wall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Left edge of line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Obstacle on left side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Used for: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Wall following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Line correction from left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LC(C1) – Left-Center Sensor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Positioned slightly left of center</a:t>
                      </a:r>
                      <a:endParaRPr sz="1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Detects: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Objects slightly ahead on the left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Used for: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Fine correction when robot drifts left/right</a:t>
                      </a:r>
                      <a:endParaRPr sz="14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marL="0" marR="0" indent="0"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 – Right Sensor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Positioned on the </a:t>
                      </a: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far right</a:t>
                      </a:r>
                      <a:endParaRPr sz="14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Detects: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Right wall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Right edge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Obstacle on right side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Used for: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Avoiding right-side collisions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>
                        <a:defRPr/>
                      </a:pPr>
                      <a:r>
                        <a:rPr lang="en-US" sz="1400" b="1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RC(C2) – Right-Center Sensor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Positioned slightly right of center</a:t>
                      </a:r>
                      <a:endParaRPr sz="1400" b="0" i="0" u="none" strike="noStrike" cap="none" spc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Detects: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Objects slightly ahead on the right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Used for: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Fine correction from the right side</a:t>
                      </a:r>
                      <a:endParaRPr sz="14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5992439" name=""/>
          <p:cNvGraphicFramePr>
            <a:graphicFrameLocks xmlns:a="http://schemas.openxmlformats.org/drawingml/2006/main"/>
          </p:cNvGraphicFramePr>
          <p:nvPr/>
        </p:nvGraphicFramePr>
        <p:xfrm>
          <a:off x="8733774" y="5528772"/>
          <a:ext cx="3328669" cy="83565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060621"/>
                <a:gridCol w="1730638"/>
              </a:tblGrid>
              <a:tr h="16573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Signal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Meaning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(1)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obstacle / clear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 (0)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Obstacle detected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809524" name="Title 1"/>
          <p:cNvSpPr>
            <a:spLocks noGrp="1"/>
          </p:cNvSpPr>
          <p:nvPr>
            <p:ph type="title"/>
          </p:nvPr>
        </p:nvSpPr>
        <p:spPr bwMode="auto">
          <a:xfrm>
            <a:off x="189238" y="-28667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Sensors and Calibration Processes</a:t>
            </a:r>
            <a:endParaRPr/>
          </a:p>
        </p:txBody>
      </p:sp>
      <p:sp>
        <p:nvSpPr>
          <p:cNvPr id="130755731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05435" y="1103826"/>
            <a:ext cx="11196689" cy="557257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Arduino Component–Pin Mapping Table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208675065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graphicFrame>
        <p:nvGraphicFramePr>
          <p:cNvPr id="611369440" name=""/>
          <p:cNvGraphicFramePr>
            <a:graphicFrameLocks xmlns:a="http://schemas.openxmlformats.org/drawingml/2006/main"/>
          </p:cNvGraphicFramePr>
          <p:nvPr/>
        </p:nvGraphicFramePr>
        <p:xfrm>
          <a:off x="618816" y="1557139"/>
          <a:ext cx="5817984" cy="1747231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100485"/>
                <a:gridCol w="1891783"/>
                <a:gridCol w="1813015"/>
              </a:tblGrid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Arduino Pin(s)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Function</a:t>
                      </a:r>
                      <a:endParaRPr/>
                    </a:p>
                  </a:txBody>
                  <a:tcPr vert="horz"/>
                </a:tc>
              </a:tr>
              <a:tr h="52277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IR Sensors (Left / LC / RC / Right)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A0, A1, A2, A3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Obstacle detection</a:t>
                      </a:r>
                      <a:endParaRPr/>
                    </a:p>
                  </a:txBody>
                  <a:tcPr vert="horz"/>
                </a:tc>
              </a:tr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 Driver (IN1–IN4)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8, 7, 4, 3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Direction control</a:t>
                      </a:r>
                      <a:endParaRPr/>
                    </a:p>
                  </a:txBody>
                  <a:tcPr vert="horz"/>
                </a:tc>
              </a:tr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 Driver (ENA, ENB)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6, 5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Speed control (PWM)</a:t>
                      </a:r>
                      <a:endParaRPr/>
                    </a:p>
                  </a:txBody>
                  <a:tcPr vert="horz"/>
                </a:tc>
              </a:tr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OLED Display (SDA, SCL)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A4 (SDA), A5 (SCL)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Display interface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  <p:graphicFrame>
        <p:nvGraphicFramePr>
          <p:cNvPr id="1366020996" name=""/>
          <p:cNvGraphicFramePr>
            <a:graphicFrameLocks xmlns:a="http://schemas.openxmlformats.org/drawingml/2006/main"/>
          </p:cNvGraphicFramePr>
          <p:nvPr/>
        </p:nvGraphicFramePr>
        <p:xfrm>
          <a:off x="609912" y="5372213"/>
          <a:ext cx="5826889" cy="138429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846593"/>
                <a:gridCol w="1203489"/>
                <a:gridCol w="2423300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Sensor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Arduino Pin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Purpose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(L)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A0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edge detection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Left-Center (LC)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A1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Left-center path detection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Right-Center (RC)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Right-center path detection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(R)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edge detection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  <p:sp>
        <p:nvSpPr>
          <p:cNvPr id="1120290801" name=""/>
          <p:cNvSpPr/>
          <p:nvPr/>
        </p:nvSpPr>
        <p:spPr bwMode="auto">
          <a:xfrm flipH="0" flipV="0">
            <a:off x="532222" y="4486541"/>
            <a:ext cx="6749133" cy="7928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Sensors Pin Configuration</a:t>
            </a:r>
            <a:endParaRPr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44342092" name=""/>
          <p:cNvGraphicFramePr>
            <a:graphicFrameLocks xmlns:a="http://schemas.openxmlformats.org/drawingml/2006/main"/>
          </p:cNvGraphicFramePr>
          <p:nvPr/>
        </p:nvGraphicFramePr>
        <p:xfrm>
          <a:off x="618816" y="3871139"/>
          <a:ext cx="4356110" cy="83565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408690"/>
                <a:gridCol w="533356"/>
                <a:gridCol w="711560"/>
                <a:gridCol w="1689800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IN1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PWM (Speed Control)</a:t>
                      </a:r>
                      <a:endParaRPr/>
                    </a:p>
                  </a:txBody>
                  <a:tcPr vert="horz" anchor="ctr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Motor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/>
                    </a:p>
                  </a:txBody>
                  <a:tcPr vert="horz" anchor="ctr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Motor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/>
                    </a:p>
                  </a:txBody>
                  <a:tcPr vert="horz" anchor="ctr"/>
                </a:tc>
              </a:tr>
            </a:tbl>
          </a:graphicData>
        </a:graphic>
      </p:graphicFrame>
      <p:sp>
        <p:nvSpPr>
          <p:cNvPr id="1676416292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sp>
        <p:nvSpPr>
          <p:cNvPr id="252968005" name=""/>
          <p:cNvSpPr/>
          <p:nvPr/>
        </p:nvSpPr>
        <p:spPr bwMode="auto">
          <a:xfrm flipH="0" flipV="0">
            <a:off x="618816" y="3352619"/>
            <a:ext cx="4828223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Motor Driver Pin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Configuration</a:t>
            </a:r>
            <a:endParaRPr/>
          </a:p>
        </p:txBody>
      </p:sp>
      <p:sp>
        <p:nvSpPr>
          <p:cNvPr id="2125029182" name=""/>
          <p:cNvSpPr txBox="1"/>
          <p:nvPr/>
        </p:nvSpPr>
        <p:spPr bwMode="auto">
          <a:xfrm flipH="0" flipV="0">
            <a:off x="6383391" y="3429000"/>
            <a:ext cx="5334995" cy="2926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 i="0" u="none">
                <a:solidFill>
                  <a:schemeClr val="bg1"/>
                </a:solidFill>
                <a:highlight>
                  <a:srgbClr val="FF0000"/>
                </a:highlight>
                <a:latin typeface="Times New Roman"/>
                <a:ea typeface="Times New Roman"/>
                <a:cs typeface="Times New Roman"/>
              </a:rPr>
              <a:t>Note: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394022" indent="-394022">
              <a:buFont typeface="Arial"/>
              <a:buChar char="•"/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Downward IR sensors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detect lines, floor edges, and pits.</a:t>
            </a:r>
            <a:endParaRPr sz="2800">
              <a:solidFill>
                <a:schemeClr val="bg1"/>
              </a:solidFill>
            </a:endParaRPr>
          </a:p>
          <a:p>
            <a:pPr marL="394022" indent="-394022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while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forward IR sensors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detect walls and nearby obstacles.</a:t>
            </a:r>
            <a:endParaRPr sz="2800">
              <a:solidFill>
                <a:schemeClr val="bg1"/>
              </a:solidFill>
            </a:endParaRPr>
          </a:p>
          <a:p>
            <a:pPr marL="394022" indent="-394022" algn="l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Use the “</a:t>
            </a:r>
            <a:r>
              <a:rPr sz="2800" b="1" i="1" u="none">
                <a:solidFill>
                  <a:srgbClr val="FFC000"/>
                </a:solidFill>
                <a:latin typeface="Times New Roman"/>
                <a:ea typeface="Times New Roman"/>
                <a:cs typeface="Times New Roman"/>
              </a:rPr>
              <a:t>Line/Wall Following Switch(2)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”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to select the mode.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103828" name="Title 1"/>
          <p:cNvSpPr>
            <a:spLocks noGrp="1"/>
          </p:cNvSpPr>
          <p:nvPr>
            <p:ph type="title"/>
          </p:nvPr>
        </p:nvSpPr>
        <p:spPr bwMode="auto">
          <a:xfrm>
            <a:off x="295035" y="-232065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Sensors and Calibration Processes</a:t>
            </a:r>
            <a:endParaRPr/>
          </a:p>
        </p:txBody>
      </p:sp>
      <p:sp>
        <p:nvSpPr>
          <p:cNvPr id="52664326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5" y="963295"/>
            <a:ext cx="11196689" cy="578453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Black Table vs White Table - Understanding Surface Detection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⚠️ IMPORTANT: Table Color and Edge Detection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1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Scenario 1</a:t>
            </a:r>
            <a:r>
              <a:rPr sz="2800" b="1" i="1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: Black Table with White Edges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On Black Surface: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Sensor reads HIGH (1) - "Safe, surface detected"</a:t>
            </a:r>
            <a:endParaRPr sz="2800" b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At White Edge/Boundary: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Sensor reads LOW (0) - "Danger! Edge detected"</a:t>
            </a:r>
            <a:endParaRPr sz="2800" b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Robot Logic: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HIGH = Continue, LOW = STOP &amp; TURN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1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Scenario 2: White Table with Black Edges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On White Surface: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Sensor reads HIGH (1) - "Safe, surface detected"</a:t>
            </a:r>
            <a:endParaRPr sz="2800" b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At Black Edge/Boundary: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Sensor reads LOW (0) - "Danger! Edge detected"</a:t>
            </a:r>
            <a:endParaRPr sz="2800" b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Robot Logic: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Same as black table!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1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 This Works: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r>
              <a:rPr sz="280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	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✅ Sensors detect </a:t>
            </a:r>
            <a:r>
              <a:rPr sz="2800" b="1" i="1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contrast change</a:t>
            </a:r>
            <a:r>
              <a:rPr sz="2800" b="0" i="1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between surface and edge</a:t>
            </a:r>
            <a:b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	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✅ Both setups work with same program logic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, (or) typical case may need invert logic.</a:t>
            </a:r>
            <a:b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	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✅ The key is </a:t>
            </a:r>
            <a:r>
              <a:rPr sz="2800" b="1" i="1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calibration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to detect the transition point accurately</a:t>
            </a:r>
            <a:endParaRPr/>
          </a:p>
        </p:txBody>
      </p:sp>
      <p:pic>
        <p:nvPicPr>
          <p:cNvPr id="118538795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sp>
        <p:nvSpPr>
          <p:cNvPr id="71654732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677052" name="Title 1"/>
          <p:cNvSpPr>
            <a:spLocks noGrp="1"/>
          </p:cNvSpPr>
          <p:nvPr>
            <p:ph type="title"/>
          </p:nvPr>
        </p:nvSpPr>
        <p:spPr bwMode="auto">
          <a:xfrm>
            <a:off x="295035" y="-232065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Sensors and Calibration Processes</a:t>
            </a:r>
            <a:endParaRPr/>
          </a:p>
        </p:txBody>
      </p:sp>
      <p:sp>
        <p:nvSpPr>
          <p:cNvPr id="175136972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5" y="765122"/>
            <a:ext cx="11196689" cy="59827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Calibration Process (Step-by-Step):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Visual Inspection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Locate the 4 blue potentiometers on the sensor board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Each controls sensitivity of one sensor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Initial Setup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Place car in CENTER of table (on black/white surface)</a:t>
            </a:r>
            <a:endParaRPr sz="2800" b="0" i="0" u="none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Power ON the robot</a:t>
            </a:r>
            <a:endParaRPr sz="2800" b="0" i="0" u="none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Open Serial Monitor or check OLED display</a:t>
            </a:r>
            <a:endParaRPr sz="2800" b="0" i="0" u="none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All 4 sensors should read HIGH (1)</a:t>
            </a:r>
            <a:b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Individual Sensor Adjustment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Slowly move car toward edge</a:t>
            </a:r>
            <a:endParaRPr sz="2800" b="0" i="0" u="none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Watch when sensor changes from HIGH to LOW</a:t>
            </a:r>
            <a:endParaRPr sz="2800" b="0" i="0" u="none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Adjust potentiometer:</a:t>
            </a:r>
            <a:endParaRPr sz="2800" b="0" i="0" u="none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- Clockwise = MORE sensitive (detects earlier)</a:t>
            </a:r>
            <a:endParaRPr sz="2800" b="0" i="0" u="none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- Counter-clockwise = LESS sensitive (detects later)</a:t>
            </a:r>
            <a:endParaRPr sz="2800" b="0" i="0" u="none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Goal: Sensor changes to LOW exactly at edge (2-3cm before)</a:t>
            </a:r>
            <a:endParaRPr/>
          </a:p>
        </p:txBody>
      </p:sp>
      <p:pic>
        <p:nvPicPr>
          <p:cNvPr id="95774223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sp>
        <p:nvSpPr>
          <p:cNvPr id="2076470056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24114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61506" y="42546"/>
            <a:ext cx="10515600" cy="1248223"/>
          </a:xfrm>
        </p:spPr>
        <p:txBody>
          <a:bodyPr/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Sensors and Calibration Processes</a:t>
            </a:r>
            <a:endParaRPr/>
          </a:p>
        </p:txBody>
      </p:sp>
      <p:sp>
        <p:nvSpPr>
          <p:cNvPr id="177640287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14917" y="1379350"/>
            <a:ext cx="11196689" cy="59827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Calibration Process (Step-by-Step):</a:t>
            </a:r>
            <a:endParaRPr sz="12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Test All Four Sensors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Test left edge → Left sensor should trigger</a:t>
            </a:r>
            <a:endParaRPr sz="2800" b="0" i="0" u="none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Test right edge → Right sensor should trigger</a:t>
            </a:r>
            <a:endParaRPr sz="2800" b="0" i="0" u="none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Test front edge → Center sensors should 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trigger</a:t>
            </a:r>
            <a:endParaRPr sz="2800" b="0" i="0" u="none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Fine-tune each until perfect</a:t>
            </a:r>
            <a:endParaRPr sz="2800" b="0" i="0" u="none">
              <a:solidFill>
                <a:schemeClr val="bg1"/>
              </a:solidFill>
              <a:latin typeface="Courier New"/>
              <a:ea typeface="Courier New"/>
              <a:cs typeface="Courier New"/>
            </a:endParaRPr>
          </a:p>
        </p:txBody>
      </p:sp>
      <p:pic>
        <p:nvPicPr>
          <p:cNvPr id="126454794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sp>
        <p:nvSpPr>
          <p:cNvPr id="305521968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373978" name="Title 1"/>
          <p:cNvSpPr>
            <a:spLocks noGrp="1"/>
          </p:cNvSpPr>
          <p:nvPr>
            <p:ph type="title"/>
          </p:nvPr>
        </p:nvSpPr>
        <p:spPr bwMode="auto">
          <a:xfrm>
            <a:off x="295035" y="-232065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Sensors and Calibration Processes</a:t>
            </a:r>
            <a:endParaRPr/>
          </a:p>
        </p:txBody>
      </p:sp>
      <p:sp>
        <p:nvSpPr>
          <p:cNvPr id="211088534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5" y="765122"/>
            <a:ext cx="11196689" cy="59827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sz="2800" b="1" i="0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Critical Programming Setup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MANDATORY Switch Settings Before Uploading Code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connecting USB and uploading program: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1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Standby/On Switch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accent4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⚠️ MUST BE SET TO: STANDBY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Prevents motors from running during code upload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Avoids car moving unexpectedly on desk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Protects USB connection from power surges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Safety first during programming!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Line/Wall Following Switch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400" b="0" i="0" u="none">
                <a:solidFill>
                  <a:schemeClr val="accent4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⚠️ MUST BE SET TO: LINE FOLLOWING MODE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Pit avoidance uses the same sensor array as line following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Switch must be in "Line Following" position for downward sensors to work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Wrong position = sensors won't be read correctly</a:t>
            </a:r>
            <a:endParaRPr/>
          </a:p>
        </p:txBody>
      </p:sp>
      <p:pic>
        <p:nvPicPr>
          <p:cNvPr id="46661413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sp>
        <p:nvSpPr>
          <p:cNvPr id="936676099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1320" name="Title 1"/>
          <p:cNvSpPr>
            <a:spLocks noGrp="1"/>
          </p:cNvSpPr>
          <p:nvPr>
            <p:ph type="title"/>
          </p:nvPr>
        </p:nvSpPr>
        <p:spPr bwMode="auto">
          <a:xfrm>
            <a:off x="295035" y="-232065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Sensors and Calibration Processes</a:t>
            </a:r>
            <a:endParaRPr/>
          </a:p>
        </p:txBody>
      </p:sp>
      <p:sp>
        <p:nvSpPr>
          <p:cNvPr id="181021217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5" y="765122"/>
            <a:ext cx="11620619" cy="59827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During Programming (Code Upload):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Connect USB cable to computer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Set Switch “</a:t>
            </a:r>
            <a:r>
              <a:rPr lang="en-US" sz="2400" b="1" i="0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Standby/On Swit</a:t>
            </a:r>
            <a:r>
              <a:rPr lang="en-US" sz="2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ch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STANDBY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“</a:t>
            </a:r>
            <a:r>
              <a:rPr lang="en-US" sz="2400" b="1" i="0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Line/Wall Following Switch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LINE FOLLOWING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Set Switch “</a:t>
            </a:r>
            <a:r>
              <a:rPr lang="en-US" sz="2400" b="1" i="0" u="none" strike="noStrike" cap="none" spc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ON/OFF Switch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OFF -&gt;for batter power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5: Upload your pit avoidance program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6: Wait for "Upload Complete" message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7: Disconnect USB cable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Testing (Running the Robot):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Place robot on CENTER of table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Verify Switch “</a:t>
            </a:r>
            <a:r>
              <a:rPr lang="en-US" sz="2400" b="1" i="0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Line/Wall Following Switch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-&gt;  LINE FOLLOWING 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“</a:t>
            </a:r>
            <a:r>
              <a:rPr lang="en-US" sz="2400" b="1" i="0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Standby/On Switch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-&gt;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activate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(  motor driver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ON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)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Set Switch “</a:t>
            </a:r>
            <a:r>
              <a:rPr sz="2800" b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ON/OFF Switch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ON -&gt;for batter power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5: Press </a:t>
            </a:r>
            <a:r>
              <a:rPr sz="2400" b="0" i="1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RESET 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button 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6: Robot car-1 starts pit avoidance program</a:t>
            </a:r>
            <a:endParaRPr/>
          </a:p>
        </p:txBody>
      </p:sp>
      <p:pic>
        <p:nvPicPr>
          <p:cNvPr id="110673950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sp>
        <p:nvSpPr>
          <p:cNvPr id="1185390839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969015" name="Title 1"/>
          <p:cNvSpPr>
            <a:spLocks noGrp="1"/>
          </p:cNvSpPr>
          <p:nvPr>
            <p:ph type="title"/>
          </p:nvPr>
        </p:nvSpPr>
        <p:spPr bwMode="auto">
          <a:xfrm>
            <a:off x="295035" y="-232065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Sensors and Calibration Processes</a:t>
            </a:r>
            <a:endParaRPr/>
          </a:p>
        </p:txBody>
      </p:sp>
      <p:sp>
        <p:nvSpPr>
          <p:cNvPr id="162472976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5" y="765122"/>
            <a:ext cx="11620619" cy="59827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Major Safety Precautions - MUST READ! ⚠️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🚨 Critical Safety Information - Educational Equipment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1. Deep Pit Detection Limitation: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⚠️ </a:t>
            </a: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If pit is TOO DEEP, sensors may NOT detect it!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IR sensors have limited range: typically </a:t>
            </a: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2-10 cm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If table edge drops more than 10cm vertically, sensor beam may not detect the void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Very deep pits appear as "no surface" but sensor can't distinguish depth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Solution: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457200" lvl="1" indent="0">
              <a:buFont typeface="Arial"/>
              <a:buNone/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✅ Use table with appropriate height: </a:t>
            </a: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50-80 cm recommended</a:t>
            </a:r>
            <a:b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✅ Lower height = safer for learning environment</a:t>
            </a:r>
            <a:b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✅ Reduces impact force if car accidentally falls</a:t>
            </a:r>
            <a:endParaRPr/>
          </a:p>
        </p:txBody>
      </p:sp>
      <p:pic>
        <p:nvPicPr>
          <p:cNvPr id="24924485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sp>
        <p:nvSpPr>
          <p:cNvPr id="1927880394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421769" name="Title 1"/>
          <p:cNvSpPr>
            <a:spLocks noGrp="1"/>
          </p:cNvSpPr>
          <p:nvPr>
            <p:ph type="title"/>
          </p:nvPr>
        </p:nvSpPr>
        <p:spPr bwMode="auto">
          <a:xfrm>
            <a:off x="295035" y="-232065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Sensors and Calibration Processes</a:t>
            </a:r>
            <a:endParaRPr/>
          </a:p>
        </p:txBody>
      </p:sp>
      <p:sp>
        <p:nvSpPr>
          <p:cNvPr id="31118785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5" y="765122"/>
            <a:ext cx="11620619" cy="59827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Table Height Recommendations: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  <p:pic>
        <p:nvPicPr>
          <p:cNvPr id="21500424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sp>
        <p:nvSpPr>
          <p:cNvPr id="1741524045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graphicFrame>
        <p:nvGraphicFramePr>
          <p:cNvPr id="1873690146" name=""/>
          <p:cNvGraphicFramePr>
            <a:graphicFrameLocks xmlns:a="http://schemas.openxmlformats.org/drawingml/2006/main"/>
          </p:cNvGraphicFramePr>
          <p:nvPr/>
        </p:nvGraphicFramePr>
        <p:xfrm>
          <a:off x="641802" y="1265839"/>
          <a:ext cx="8088822" cy="2346038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692040"/>
                <a:gridCol w="2692040"/>
                <a:gridCol w="2692040"/>
              </a:tblGrid>
              <a:tr h="402558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Table Height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Safety Level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Recommendation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47658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30–50 cm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⭐⭐⭐⭐⭐ Excellent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Best for beginners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12034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50–70 cm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⭐⭐⭐⭐ Very Good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Recommended for learning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12034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70–90 cm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⭐⭐⭐ Good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Acceptable with precautions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65905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90+ cm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⭐⭐ Risky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Not recommended </a:t>
                      </a:r>
                      <a:endParaRPr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</a:tbl>
          </a:graphicData>
        </a:graphic>
      </p:graphicFrame>
      <p:sp>
        <p:nvSpPr>
          <p:cNvPr id="18987098" name=""/>
          <p:cNvSpPr/>
          <p:nvPr/>
        </p:nvSpPr>
        <p:spPr bwMode="auto">
          <a:xfrm flipH="0" flipV="0">
            <a:off x="641802" y="3821617"/>
            <a:ext cx="3888793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Testing Area Preparation:</a:t>
            </a:r>
            <a:endParaRPr sz="2800"/>
          </a:p>
        </p:txBody>
      </p:sp>
      <p:sp>
        <p:nvSpPr>
          <p:cNvPr id="1194629869" name=""/>
          <p:cNvSpPr/>
          <p:nvPr/>
        </p:nvSpPr>
        <p:spPr bwMode="auto">
          <a:xfrm flipH="0" flipV="0">
            <a:off x="696948" y="4426085"/>
            <a:ext cx="7981411" cy="230422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✅ Clear area around table (1 meter radius) 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✅ Place soft cushions/foam padding below table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✅ Remove obstacles near testing zone 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✅ Ensure good lighting (avoid direct sunlight) 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✅ Have a spotter ready to catch if needed</a:t>
            </a:r>
            <a:endParaRPr sz="28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9050679" name="Title 1"/>
          <p:cNvSpPr>
            <a:spLocks noGrp="1"/>
          </p:cNvSpPr>
          <p:nvPr>
            <p:ph type="title"/>
          </p:nvPr>
        </p:nvSpPr>
        <p:spPr bwMode="auto">
          <a:xfrm>
            <a:off x="295035" y="-232065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Sensors and Calibration Processes</a:t>
            </a:r>
            <a:endParaRPr/>
          </a:p>
        </p:txBody>
      </p:sp>
      <p:sp>
        <p:nvSpPr>
          <p:cNvPr id="71308289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5" y="765122"/>
            <a:ext cx="11620619" cy="59827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sz="2800" b="1" i="0" u="none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 Car Damage Prevention: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Common Causes of Damage: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❌ Testing without proper calibration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❌ Wrong switch positions during upload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❌ Low battery causing erratic behavior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❌ Testing on too-high table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❌ Skipping manual verification</a:t>
            </a:r>
            <a:endParaRPr sz="2800">
              <a:solidFill>
                <a:schemeClr val="bg1"/>
              </a:solidFill>
            </a:endParaRPr>
          </a:p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Prevention Measures: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	✅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ALWAYS calibrate before testing</a:t>
            </a:r>
            <a:b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</a:b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✅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Check battery voltage (&gt;7V required)</a:t>
            </a:r>
            <a:b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</a:b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✅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Verify switch positions twice</a:t>
            </a:r>
            <a:b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</a:b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✅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Test manually first</a:t>
            </a:r>
            <a:b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</a:b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✅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Use lower table height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  <p:pic>
        <p:nvPicPr>
          <p:cNvPr id="96440997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sp>
        <p:nvSpPr>
          <p:cNvPr id="2087490784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2908664" name="Title 1"/>
          <p:cNvSpPr>
            <a:spLocks noGrp="1"/>
          </p:cNvSpPr>
          <p:nvPr>
            <p:ph type="title"/>
          </p:nvPr>
        </p:nvSpPr>
        <p:spPr bwMode="auto">
          <a:xfrm>
            <a:off x="45198" y="-232065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Sensors and Calibration Processes</a:t>
            </a:r>
            <a:endParaRPr/>
          </a:p>
        </p:txBody>
      </p:sp>
      <p:sp>
        <p:nvSpPr>
          <p:cNvPr id="10826664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5" y="765122"/>
            <a:ext cx="11620619" cy="59827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sz="2800" b="1" i="0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The "Test Twice, Run Once" Protocol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rgbClr val="FFC000"/>
                </a:solidFill>
                <a:latin typeface="Aptos Display"/>
                <a:ea typeface="Aptos Display"/>
                <a:cs typeface="Aptos Display"/>
              </a:rPr>
              <a:t>✅ MANDATORY Pre-Testing Safety Checklist: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Phase 1: Manual Testing (TWICE) 🔧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Test #1: 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Physical Verification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Manually lift car and move toward edge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Watch Serial Monitor / OLED display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Verify sensor readings change at edge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Check all 4 sensors individually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Test #2: 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Connection Verification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Verify Port 3 (Downward IR Array) connected firmly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Check motor connectors (Left &amp; Right)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Confirm battery connector secure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Verify OLED display working</a:t>
            </a:r>
            <a:endParaRPr/>
          </a:p>
        </p:txBody>
      </p:sp>
      <p:pic>
        <p:nvPicPr>
          <p:cNvPr id="166403280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sp>
        <p:nvSpPr>
          <p:cNvPr id="322875538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372637" name="Title 1"/>
          <p:cNvSpPr>
            <a:spLocks noGrp="1"/>
          </p:cNvSpPr>
          <p:nvPr>
            <p:ph type="title"/>
          </p:nvPr>
        </p:nvSpPr>
        <p:spPr bwMode="auto">
          <a:xfrm>
            <a:off x="-32874" y="-232066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Sensors and Calibration Processes</a:t>
            </a:r>
            <a:endParaRPr/>
          </a:p>
        </p:txBody>
      </p:sp>
      <p:sp>
        <p:nvSpPr>
          <p:cNvPr id="64108027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5" y="765122"/>
            <a:ext cx="11620619" cy="59827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sz="2800" b="1" i="0" u="none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Phase 2: Test Program Verification (TWICE) 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Test #1: 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Sensor Reading Program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Upload simple sensor test code first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Open Serial Monitor (9600 baud)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Place car on table: All sensors = HIGH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Move to edge: Sensors change to LOW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Document which sensor triggers where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Test #2: 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Motor Response Test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Upload motor test program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Verify left motor spins correctly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Verify right motor spins correctly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Check forward, backward, turn left, turn right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Confirm motor driver switch work</a:t>
            </a:r>
            <a:endParaRPr sz="2800">
              <a:solidFill>
                <a:schemeClr val="bg1"/>
              </a:solidFill>
            </a:endParaRPr>
          </a:p>
        </p:txBody>
      </p:sp>
      <p:pic>
        <p:nvPicPr>
          <p:cNvPr id="205887518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sp>
        <p:nvSpPr>
          <p:cNvPr id="1879344783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905694" name="Title 1"/>
          <p:cNvSpPr>
            <a:spLocks noGrp="1"/>
          </p:cNvSpPr>
          <p:nvPr>
            <p:ph type="title"/>
          </p:nvPr>
        </p:nvSpPr>
        <p:spPr bwMode="auto">
          <a:xfrm>
            <a:off x="295035" y="-232065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Sensors and Calibration Processes</a:t>
            </a:r>
            <a:endParaRPr/>
          </a:p>
        </p:txBody>
      </p:sp>
      <p:sp>
        <p:nvSpPr>
          <p:cNvPr id="212191616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5" y="765122"/>
            <a:ext cx="11620619" cy="59827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>
              <a:defRPr/>
            </a:pPr>
            <a:r>
              <a:rPr sz="2800" b="1" i="0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Controlled First Run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Pre-Run Checklist: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Car positioned in CENTER of table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Switch 2 → LINE FOLLOWING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Switch 12 → STANDBY (for now)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Battery charged (check voltage)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OLED display shows sensor status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Spotter ready to catch if needed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Start Sequence: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Switch 12 → ON (activate motors)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Press RESET button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Stand ready for first 30 seconds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Observe behavior carefully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STOP immediately if unusual behavior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⚠️ Golden Rule: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"Test twice manually, test twice with programs, THEN run once for real!"</a:t>
            </a:r>
            <a:endParaRPr/>
          </a:p>
        </p:txBody>
      </p:sp>
      <p:pic>
        <p:nvPicPr>
          <p:cNvPr id="33516537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sp>
        <p:nvSpPr>
          <p:cNvPr id="978513395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3163568" name="Title 1"/>
          <p:cNvSpPr>
            <a:spLocks noGrp="1"/>
          </p:cNvSpPr>
          <p:nvPr>
            <p:ph type="title"/>
          </p:nvPr>
        </p:nvSpPr>
        <p:spPr bwMode="auto">
          <a:xfrm>
            <a:off x="241773" y="-48641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Sensors and Calibration Processes</a:t>
            </a:r>
            <a:endParaRPr/>
          </a:p>
        </p:txBody>
      </p:sp>
      <p:sp>
        <p:nvSpPr>
          <p:cNvPr id="84211487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4"/>
            <a:ext cx="10515600" cy="458372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GB" sz="2800" b="0" i="0" u="none" strike="noStrike" cap="none" spc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Q&amp;A</a:t>
            </a:r>
            <a:endParaRPr sz="2800"/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Common Questions: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"Why does my robot turn when no obstacle is present?"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→ Check sensor sensitivity and add confidence threshold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"Can IR sensors work in sunlight?"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→ Yes, but may need sensitivity adjustment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"How to make robot faster while staying safe?"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→ Use adaptive speed based on obstacle distance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"What if both left and right sensors detect obstacles?"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→ Implement backup + 180° turn logic</a:t>
            </a:r>
            <a:endParaRPr lang="en-GB">
              <a:solidFill>
                <a:schemeClr val="bg1"/>
              </a:solidFill>
            </a:endParaRPr>
          </a:p>
        </p:txBody>
      </p:sp>
      <p:pic>
        <p:nvPicPr>
          <p:cNvPr id="211319049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ONLYOFFICE/8.3.3.21</Application>
  <PresentationFormat>On-screen Show (4:3)</PresentationFormat>
  <Paragraphs>0</Paragraphs>
  <Slides>20</Slides>
  <Notes>20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/>
  <cp:revision>12</cp:revision>
  <dcterms:created xsi:type="dcterms:W3CDTF">2025-11-29T15:09:33Z</dcterms:created>
  <dcterms:modified xsi:type="dcterms:W3CDTF">2025-12-31T17:28:04Z</dcterms:modified>
</cp:coreProperties>
</file>