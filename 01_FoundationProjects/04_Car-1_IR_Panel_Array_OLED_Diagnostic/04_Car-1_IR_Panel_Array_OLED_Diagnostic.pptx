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88654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428909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84002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7107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39804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012331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866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6369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075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700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894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824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72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9430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817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6599F9-CF31-A872-DF27-C26CF4C98D76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886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5120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3194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A5923E-F94A-101D-2F8A-752BEFBE496B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131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313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825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16AC00-9952-1D0F-A0CD-FA0856A6D334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460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7002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770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860D7A-D84D-E09F-FA2C-33AB575B8087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114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808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75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4222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046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466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D42347-3609-AE03-F36C-FC34FCC72555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180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243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F5FBB-66D7-9EF0-C7B5-5C7D211EACA4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857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3459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48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8453FA-ECE7-4065-8F47-6DC0ABA37890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5633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496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024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726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7774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9631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8060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311797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638401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59902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001375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3116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814817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626182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863605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30684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69226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150008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86600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854579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680872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9351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3319408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135776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822241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048793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324277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7541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124447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29104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3948776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898272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201130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9687424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244841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1994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6536056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1013710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7458639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56187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6517509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9699301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39754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7145212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810694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18427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299772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061500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50757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7225074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6138219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398342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578563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025846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0458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2467450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012486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802861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019516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4050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6532575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133718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57829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642750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73265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529887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9011527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2202028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287007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587500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31304463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602036"/>
            <a:ext cx="9144000" cy="27717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Robot Car-</a:t>
            </a:r>
            <a:r>
              <a:rPr lang="en-US" sz="3200">
                <a:solidFill>
                  <a:schemeClr val="accent5"/>
                </a:solidFill>
              </a:rPr>
              <a:t>1</a:t>
            </a:r>
            <a:r>
              <a:rPr lang="en-GB" sz="3200">
                <a:solidFill>
                  <a:schemeClr val="accent5"/>
                </a:solidFill>
              </a:rPr>
              <a:t> </a:t>
            </a:r>
            <a:r>
              <a:rPr lang="en-US" sz="3200">
                <a:solidFill>
                  <a:schemeClr val="accent5"/>
                </a:solidFill>
              </a:rPr>
              <a:t>Sensor</a:t>
            </a:r>
            <a:endParaRPr/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GB" sz="2800">
                <a:solidFill>
                  <a:schemeClr val="bg1"/>
                </a:solidFill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Simplifying </a:t>
            </a:r>
            <a:r>
              <a:rPr sz="2800" b="0" i="1" u="none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Calibration and Debugging with OLED-Based IR Displays</a:t>
            </a:r>
            <a:endParaRPr lang="en-GB" sz="2800">
              <a:solidFill>
                <a:schemeClr val="bg1"/>
              </a:solidFill>
            </a:endParaRPr>
          </a:p>
        </p:txBody>
      </p:sp>
      <p:pic>
        <p:nvPicPr>
          <p:cNvPr id="93222885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31655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69791" y="-37569"/>
            <a:ext cx="10806356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Calibration and Debugging with </a:t>
            </a:r>
            <a:b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</a:b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OLED-Based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</a:t>
            </a:r>
            <a:endParaRPr/>
          </a:p>
        </p:txBody>
      </p:sp>
      <p:sp>
        <p:nvSpPr>
          <p:cNvPr id="135459933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80" y="1175046"/>
            <a:ext cx="11023517" cy="55725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EARNING OBJECTIVES &amp; AGENDA</a:t>
            </a: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Advantages of OLED in IR Calibration</a:t>
            </a:r>
            <a:endParaRPr sz="2800" b="1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Real-Time Feedback: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Immediate visual representation of sensor status allows for quick adjustments.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Enhanced Clarity: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Clear text and graphics make it easier to diagnose issues compared to standard serial outputs.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User-Friendly Interface: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Intuitive layout helps users understand sensor readings at a glance.</a:t>
            </a:r>
            <a:endParaRPr lang="en-US" sz="2800" b="0" i="0" u="none" strike="noStrike" cap="none" spc="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4584257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265073" y="59569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99379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8129" y="-10864"/>
            <a:ext cx="10515600" cy="1132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Calibration and Debugging with</a:t>
            </a:r>
            <a:b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</a:b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 OLED-Based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</a:t>
            </a:r>
            <a:endParaRPr/>
          </a:p>
        </p:txBody>
      </p:sp>
      <p:sp>
        <p:nvSpPr>
          <p:cNvPr id="141809168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80" y="1175046"/>
            <a:ext cx="11023517" cy="557256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Code Overview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Panel Diagnostic Program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Key Components: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Initialization of IR sensors and OLED display.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Data collection from IR sensors (digital and analog).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Example Code Snippet: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8862998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pic>
        <p:nvPicPr>
          <p:cNvPr id="30582368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477640" y="3961330"/>
            <a:ext cx="3838574" cy="272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99493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8129" y="-10864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Calibration and Debugging with</a:t>
            </a:r>
            <a:b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</a:b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 OLED-Based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</a:t>
            </a:r>
            <a:endParaRPr/>
          </a:p>
        </p:txBody>
      </p:sp>
      <p:sp>
        <p:nvSpPr>
          <p:cNvPr id="136083407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9" y="1175045"/>
            <a:ext cx="11023516" cy="55725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Displaying Sensor Status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Display Functionality: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Shows digital and analog sensor readings in real-time.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Visual Indicators: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Clear status indicators for sensor status: "BLOCK" or "CLEAR."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Code Example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0046940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74489641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910911" y="4317406"/>
            <a:ext cx="4295774" cy="800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77270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8129" y="-10864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Calibration and Debugging with</a:t>
            </a:r>
            <a:b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</a:b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 OLED-Based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</a:t>
            </a:r>
            <a:endParaRPr/>
          </a:p>
        </p:txBody>
      </p:sp>
      <p:sp>
        <p:nvSpPr>
          <p:cNvPr id="76190477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9" y="1175045"/>
            <a:ext cx="11023516" cy="55725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Calibration Process Made Easy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Streamlined Calibration: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Users can quickly assess sensor performance through the OLED interface.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Immediate Adjustments: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Allows for quick recalibration based on visual feedback.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Interactive Debugging: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Users can actively monitor changes and troubleshoot issues in real-time.</a:t>
            </a: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6450757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02620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8129" y="-10864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Calibration and Debugging with</a:t>
            </a:r>
            <a:b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</a:b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 OLED-Based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</a:t>
            </a:r>
            <a:endParaRPr/>
          </a:p>
        </p:txBody>
      </p:sp>
      <p:sp>
        <p:nvSpPr>
          <p:cNvPr id="201656620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30279" y="1175045"/>
            <a:ext cx="11023516" cy="55725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Conclusion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Summary: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OLED-based displays significantly enhance the calibration and debugging process for IR sensors.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They provide immediate visual feedback, making it easier for users to understand sensor behavior.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Final Thoughts: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Incorporating OLED displays in sensor diagnostics is a best practice for improving user experience and operational efficiency.</a:t>
            </a:r>
            <a:endParaRPr/>
          </a:p>
        </p:txBody>
      </p:sp>
      <p:pic>
        <p:nvPicPr>
          <p:cNvPr id="72528908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3357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4" y="-35461"/>
            <a:ext cx="10515600" cy="110368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Calibration and Debugging with </a:t>
            </a:r>
            <a:b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</a:b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OLED-Based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</a:t>
            </a:r>
            <a:endParaRPr/>
          </a:p>
        </p:txBody>
      </p:sp>
      <p:sp>
        <p:nvSpPr>
          <p:cNvPr id="156439773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50" y="961401"/>
            <a:ext cx="11643644" cy="57951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47831018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159870290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25209" y="2266988"/>
            <a:ext cx="5087324" cy="3866577"/>
          </a:xfrm>
          <a:prstGeom prst="rect">
            <a:avLst/>
          </a:prstGeom>
        </p:spPr>
      </p:pic>
      <p:sp>
        <p:nvSpPr>
          <p:cNvPr id="926873791" name=""/>
          <p:cNvSpPr/>
          <p:nvPr/>
        </p:nvSpPr>
        <p:spPr bwMode="auto">
          <a:xfrm flipH="0" flipV="0">
            <a:off x="4567568" y="3009009"/>
            <a:ext cx="1329015" cy="16913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1152250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96584" y="1914512"/>
            <a:ext cx="5606709" cy="4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788312" name="Title 1"/>
          <p:cNvSpPr>
            <a:spLocks noGrp="1"/>
          </p:cNvSpPr>
          <p:nvPr>
            <p:ph type="title"/>
          </p:nvPr>
        </p:nvSpPr>
        <p:spPr bwMode="auto">
          <a:xfrm>
            <a:off x="31851" y="-52597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Calibration and Debugging with </a:t>
            </a:r>
            <a:b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</a:b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OLED-Based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</a:t>
            </a:r>
            <a:endParaRPr/>
          </a:p>
        </p:txBody>
      </p:sp>
      <p:sp>
        <p:nvSpPr>
          <p:cNvPr id="57362087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2" y="1103828"/>
            <a:ext cx="11196689" cy="55725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Component–Pin Mapping Table       </a:t>
            </a:r>
            <a:r>
              <a:rPr sz="2800" b="0" i="0" u="none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OLED Configuration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1016928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386207041" name=""/>
          <p:cNvGraphicFramePr>
            <a:graphicFrameLocks xmlns:a="http://schemas.openxmlformats.org/drawingml/2006/main"/>
          </p:cNvGraphicFramePr>
          <p:nvPr/>
        </p:nvGraphicFramePr>
        <p:xfrm>
          <a:off x="618817" y="1557140"/>
          <a:ext cx="5817984" cy="174723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00485"/>
                <a:gridCol w="1891783"/>
                <a:gridCol w="1813015"/>
              </a:tblGrid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Pin(s)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</a:t>
                      </a:r>
                      <a:endParaRPr/>
                    </a:p>
                  </a:txBody>
                  <a:tcPr vert="horz"/>
                </a:tc>
              </a:tr>
              <a:tr h="5227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Sensors (Left / LC / RC / Right)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A0, A1, A2, 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detection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(IN1–IN4)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8, 7, 4, 3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 control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(ENA,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6, 5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control (PWM)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(SDA, 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(SDA), A5 (SCL)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Display interface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623490428" name=""/>
          <p:cNvGraphicFramePr>
            <a:graphicFrameLocks xmlns:a="http://schemas.openxmlformats.org/drawingml/2006/main"/>
          </p:cNvGraphicFramePr>
          <p:nvPr/>
        </p:nvGraphicFramePr>
        <p:xfrm>
          <a:off x="609913" y="5372214"/>
          <a:ext cx="582688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46593"/>
                <a:gridCol w="1203490"/>
                <a:gridCol w="2423301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(RC)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(R)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detection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131628500" name=""/>
          <p:cNvSpPr/>
          <p:nvPr/>
        </p:nvSpPr>
        <p:spPr bwMode="auto">
          <a:xfrm flipH="0" flipV="0">
            <a:off x="532223" y="4486541"/>
            <a:ext cx="674913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Pin Configuration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295577047" name=""/>
          <p:cNvGraphicFramePr>
            <a:graphicFrameLocks xmlns:a="http://schemas.openxmlformats.org/drawingml/2006/main"/>
          </p:cNvGraphicFramePr>
          <p:nvPr/>
        </p:nvGraphicFramePr>
        <p:xfrm>
          <a:off x="618817" y="3871139"/>
          <a:ext cx="4356111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08690"/>
                <a:gridCol w="533357"/>
                <a:gridCol w="711561"/>
                <a:gridCol w="1689801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(Speed Control)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  <p:sp>
        <p:nvSpPr>
          <p:cNvPr id="2019849258" name=""/>
          <p:cNvSpPr txBox="1"/>
          <p:nvPr/>
        </p:nvSpPr>
        <p:spPr bwMode="auto">
          <a:xfrm flipH="0" flipV="0">
            <a:off x="6004379" y="3246120"/>
            <a:ext cx="183240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749878115" name=""/>
          <p:cNvSpPr/>
          <p:nvPr/>
        </p:nvSpPr>
        <p:spPr bwMode="auto">
          <a:xfrm flipH="0" flipV="0">
            <a:off x="618817" y="3352619"/>
            <a:ext cx="482822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Driver Pin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  <a:endParaRPr/>
          </a:p>
        </p:txBody>
      </p:sp>
      <p:sp>
        <p:nvSpPr>
          <p:cNvPr id="377638916" name=""/>
          <p:cNvSpPr txBox="1"/>
          <p:nvPr/>
        </p:nvSpPr>
        <p:spPr bwMode="auto">
          <a:xfrm flipH="0" flipV="0">
            <a:off x="6383391" y="3429000"/>
            <a:ext cx="5335355" cy="2926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Downward IR sensors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detect lines, floor edges, and pits.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while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forward IR sensors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detect walls and nearby obstacles.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 algn="l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 the “</a:t>
            </a:r>
            <a:r>
              <a:rPr sz="2800" b="1" i="1" u="none">
                <a:solidFill>
                  <a:srgbClr val="FFC000"/>
                </a:solidFill>
                <a:latin typeface="Aptos Display"/>
                <a:ea typeface="Aptos Display"/>
                <a:cs typeface="Aptos Display"/>
              </a:rPr>
              <a:t>Line/Wall Following Switch(2)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to select the mode.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50582723" name=""/>
          <p:cNvGraphicFramePr>
            <a:graphicFrameLocks xmlns:a="http://schemas.openxmlformats.org/drawingml/2006/main"/>
          </p:cNvGraphicFramePr>
          <p:nvPr/>
        </p:nvGraphicFramePr>
        <p:xfrm>
          <a:off x="7039078" y="1607523"/>
          <a:ext cx="3508374" cy="12928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35404"/>
                <a:gridCol w="216027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I2C (SDA, SCL) → A4, A5</a:t>
                      </a:r>
                      <a:endParaRPr/>
                    </a:p>
                  </a:txBody>
                  <a:tcPr vert="horz"/>
                </a:tc>
              </a:tr>
              <a:tr h="2108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Servo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Signal → Pin 9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Ultrasonic 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Trig → Pin 10, Echo → Pin 11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110023" name="Title 1"/>
          <p:cNvSpPr>
            <a:spLocks noGrp="1"/>
          </p:cNvSpPr>
          <p:nvPr>
            <p:ph type="title"/>
          </p:nvPr>
        </p:nvSpPr>
        <p:spPr bwMode="auto">
          <a:xfrm>
            <a:off x="126048" y="42549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Calibration and Debugging with </a:t>
            </a:r>
            <a:b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</a:b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OLED-Based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</a:t>
            </a:r>
            <a:endParaRPr/>
          </a:p>
        </p:txBody>
      </p:sp>
      <p:sp>
        <p:nvSpPr>
          <p:cNvPr id="8759424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2476" y="1308573"/>
            <a:ext cx="10854381" cy="539453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Schematics</a:t>
            </a:r>
            <a:r>
              <a:rPr sz="2800" b="0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 :</a:t>
            </a:r>
            <a:endParaRPr sz="2800" b="0" i="0" u="none">
              <a:solidFill>
                <a:schemeClr val="accent5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OLED Configuration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Screen Specifications: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Width: 128 pixels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Height: 64 pixels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Reset Pin: -1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Screen Address: 0x3C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Library Used:	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Adafruit SSD1306 and Adafruit GFX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Highlight:	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The OLED configuration is crucial for effective real-time updates, enhancing the learning experience.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8724828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931797" name="Title 1"/>
          <p:cNvSpPr>
            <a:spLocks noGrp="1"/>
          </p:cNvSpPr>
          <p:nvPr>
            <p:ph type="title"/>
          </p:nvPr>
        </p:nvSpPr>
        <p:spPr bwMode="auto">
          <a:xfrm>
            <a:off x="126047" y="4254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Calibration and Debugging with </a:t>
            </a:r>
            <a:b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</a:b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OLED-Based 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4400" b="0" i="1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R</a:t>
            </a:r>
            <a:endParaRPr/>
          </a:p>
        </p:txBody>
      </p:sp>
      <p:sp>
        <p:nvSpPr>
          <p:cNvPr id="10546311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12475" y="1308573"/>
            <a:ext cx="10854380" cy="539453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Initialization and Dashboard Display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Setup Steps: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Initialize Serial communication and OLED display.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Show startup screen and action indicators.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Highlight: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startup sequence on the OLED sets the stage for understanding what the robot will do next, unlike static serial prints.</a:t>
            </a: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1728317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148161" name="Title 1"/>
          <p:cNvSpPr>
            <a:spLocks noGrp="1"/>
          </p:cNvSpPr>
          <p:nvPr>
            <p:ph type="title"/>
          </p:nvPr>
        </p:nvSpPr>
        <p:spPr bwMode="auto">
          <a:xfrm>
            <a:off x="295034" y="-2320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Motion with OLED Dashboard</a:t>
            </a:r>
            <a:endParaRPr/>
          </a:p>
        </p:txBody>
      </p:sp>
      <p:sp>
        <p:nvSpPr>
          <p:cNvPr id="17457143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95034" y="765121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</a:t>
            </a: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STANDBY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pit avoidance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activate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sz="28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Press </a:t>
            </a:r>
            <a:r>
              <a:rPr sz="2400" b="0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RESET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button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Robot car-1 starts pit avoidance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highlight>
                  <a:srgbClr val="FF0000"/>
                </a:highlight>
                <a:latin typeface="Aptos Display"/>
                <a:ea typeface="Aptos Display"/>
                <a:cs typeface="Aptos Display"/>
              </a:rPr>
              <a:t>Note: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2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For Basic Movement </a:t>
            </a: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n-US" sz="20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selection is not mandatory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0614023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608710805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51727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3764995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154390331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11</cp:revision>
  <dcterms:created xsi:type="dcterms:W3CDTF">2025-11-29T15:09:33Z</dcterms:created>
  <dcterms:modified xsi:type="dcterms:W3CDTF">2025-12-31T17:57:00Z</dcterms:modified>
</cp:coreProperties>
</file>