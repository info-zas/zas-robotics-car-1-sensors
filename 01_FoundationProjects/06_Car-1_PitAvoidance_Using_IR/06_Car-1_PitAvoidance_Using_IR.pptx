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0.xml" ContentType="application/vnd.openxmlformats-officedocument.presentationml.slideLayout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5.xml" ContentType="application/vnd.openxmlformats-officedocument.presentationml.notesSlide+xml"/>
  <Override PartName="/ppt/slideLayouts/slideLayout2.xml" ContentType="application/vnd.openxmlformats-officedocument.presentationml.slideLayout+xml"/>
  <Override PartName="/ppt/notesSlides/notesSlide7.xml" ContentType="application/vnd.openxmlformats-officedocument.presentationml.notesSlide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8.xml" ContentType="application/vnd.openxmlformats-officedocument.presentationml.slide+xml"/>
  <Override PartName="/ppt/slideLayouts/slideLayout6.xml" ContentType="application/vnd.openxmlformats-officedocument.presentationml.slideLayout+xml"/>
  <Override PartName="/ppt/slides/slide22.xml" ContentType="application/vnd.openxmlformats-officedocument.presentationml.slide+xml"/>
  <Override PartName="/ppt/notesSlides/notesSlide17.xml" ContentType="application/vnd.openxmlformats-officedocument.presentationml.notesSlide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s/slide4.xml" ContentType="application/vnd.openxmlformats-officedocument.presentationml.slide+xml"/>
  <Override PartName="/ppt/slides/slide21.xml" ContentType="application/vnd.openxmlformats-officedocument.presentationml.slide+xml"/>
  <Override PartName="/docProps/core.xml" ContentType="application/vnd.openxmlformats-package.core-properties+xml"/>
  <Override PartName="/ppt/slides/slide19.xml" ContentType="application/vnd.openxmlformats-officedocument.presentationml.slide+xml"/>
  <Override PartName="/ppt/viewProps.xml" ContentType="application/vnd.openxmlformats-officedocument.presentationml.viewProps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notesSlides/notesSlide8.xml" ContentType="application/vnd.openxmlformats-officedocument.presentationml.notes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notesSlides/notesSlide19.xml" ContentType="application/vnd.openxmlformats-officedocument.presentationml.notesSlide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0" d="100"/>
          <a:sy n="70" d="100"/>
        </p:scale>
        <p:origin x="1166" y="2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 /><Relationship Id="rId30" Type="http://schemas.openxmlformats.org/officeDocument/2006/relationships/tableStyles" Target="tableStyles.xml" /><Relationship Id="rId3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689284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68331369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5265527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0265830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214517845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4053472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965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26981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7853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4628D2-0276-7CE8-68C8-A30FE23A6892}" type="slidenum">
              <a:rPr/>
              <a:t/>
            </a:fld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622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71826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3212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09B419-B9C3-D577-8C19-FD3877D7FA18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6858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14649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3469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5CA578-98CB-987F-3412-806B83E8605D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0491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612442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42467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3D816D-C792-B276-96D1-780ADA218748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41165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01600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59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4A7032-7BA8-886D-1F6D-A068F18C4EB7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449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74940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225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C585BB0-C1BA-354F-2CC2-809D8A4CBE65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27084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3319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7785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516852-B32D-FE25-04D2-D4E192BAC8F2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7155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332464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9009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2E12B9-47F1-1504-9132-0BB4A7C81557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71195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679602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86964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239CEE-AAE5-D6A4-0C26-691AAA3F5AC0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04607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36801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06874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0AE4E-95D6-0640-4845-ADB4433C6EC1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8362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8207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649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4BA853-9499-1AAE-684A-5FB8FF48DA7A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03508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6936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799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A2518-4688-1CE3-D7B6-E84A34E71221}" type="slidenum">
              <a:rPr/>
              <a:t/>
            </a:fld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9666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945424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358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070903-A232-3135-9761-14E70B961AEB}" type="slidenum">
              <a:rPr/>
              <a:t/>
            </a:fld>
            <a:endParaRPr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76371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8079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803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A5BD03-9EA7-473F-9D1B-C2D658A77385}" type="slidenum">
              <a:rPr/>
              <a:t/>
            </a:fld>
            <a:endParaRPr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7949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956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76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2B65A7-1DA8-6E97-1FBD-DFAF6869E93C}" type="slidenum">
              <a:rPr/>
              <a:t/>
            </a:fld>
            <a:endParaRPr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4777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9478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817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A98801-E56A-2F1D-70A3-7D9EED665994}" type="slidenum">
              <a:rPr/>
              <a:t/>
            </a:fld>
            <a:endParaRPr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573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88432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7673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E97B96-088D-2458-4AE2-180D141F28B9}" type="slidenum">
              <a:rPr/>
              <a:t/>
            </a:fld>
            <a:endParaRPr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54594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12435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0089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1F156D2-6A48-93E5-5798-206EAB80926C}" type="slidenum">
              <a:rPr/>
              <a:t/>
            </a:fld>
            <a:endParaRPr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9732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2004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0691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EB7C16-1A55-A08C-C029-410FF415F3E2}" type="slidenum">
              <a:rPr/>
              <a:t/>
            </a:fld>
            <a:endParaRPr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0035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3772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59850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0979B0-2004-2E2F-03FF-5402CB3D342C}" type="slidenum">
              <a:rPr/>
              <a:t/>
            </a:fld>
            <a:endParaRPr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51834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45009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2859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C3ED8-9C3F-DD46-1E37-ADEF91DDAEA1}" type="slidenum">
              <a:rPr/>
              <a:t/>
            </a:fld>
            <a:endParaRPr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35007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17308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8363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06AF1A-30E2-E42D-9DE1-A3D1628AA6A6}" type="slidenum">
              <a:rPr/>
              <a:t/>
            </a:fld>
            <a:endParaRPr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7875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849578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5363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05D524-9B9B-E03F-9169-86C1748AF315}" type="slidenum">
              <a:rPr/>
              <a:t/>
            </a:fld>
            <a:endParaRPr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7667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32935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9661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932549-8DF2-14CE-32DE-B4134FF987BE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120429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3640234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1307443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08050992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5470942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64607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6096365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6217193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63683559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8383579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4131127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8925934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99523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58091178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9230027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11100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2285036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38545625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3738858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19303540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1051698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7095442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2517774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8463357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29986047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4892073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2810203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39101034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3540538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84191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9270836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59443482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11496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18906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49149269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97999178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334341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17806817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705993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873496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44763139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6963939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522754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78685535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09977280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2217681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63949874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3913071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156746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3481908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89400051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2255739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9273794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896871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5265330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35864337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611367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0818979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911075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2671489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84796156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8567847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21760404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883789" name="Title 1"/>
          <p:cNvSpPr>
            <a:spLocks noGrp="1"/>
          </p:cNvSpPr>
          <p:nvPr>
            <p:ph type="ctrTitle"/>
          </p:nvPr>
        </p:nvSpPr>
        <p:spPr bwMode="auto">
          <a:xfrm>
            <a:off x="-115724" y="1041399"/>
            <a:ext cx="12192000" cy="2387600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ZAS Robotic Products</a:t>
            </a:r>
            <a:endParaRPr/>
          </a:p>
        </p:txBody>
      </p:sp>
      <p:sp>
        <p:nvSpPr>
          <p:cNvPr id="1688028417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9" y="3602037"/>
            <a:ext cx="9144000" cy="196162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60000" lnSpcReduction="8000"/>
          </a:bodyPr>
          <a:lstStyle/>
          <a:p>
            <a:pPr>
              <a:defRPr/>
            </a:pPr>
            <a:r>
              <a:rPr lang="en-GB" sz="3200">
                <a:solidFill>
                  <a:schemeClr val="accent4"/>
                </a:solidFill>
              </a:rPr>
              <a:t>Navigational Robotic Series</a:t>
            </a:r>
            <a:endParaRPr/>
          </a:p>
          <a:p>
            <a:pPr>
              <a:defRPr/>
            </a:pPr>
            <a:r>
              <a:rPr lang="en-GB" sz="3200">
                <a:solidFill>
                  <a:schemeClr val="accent5"/>
                </a:solidFill>
              </a:rPr>
              <a:t>Robot Car-</a:t>
            </a:r>
            <a:r>
              <a:rPr lang="en-US" sz="3200">
                <a:solidFill>
                  <a:schemeClr val="accent5"/>
                </a:solidFill>
              </a:rPr>
              <a:t>1</a:t>
            </a:r>
            <a:r>
              <a:rPr lang="en-GB" sz="3200">
                <a:solidFill>
                  <a:schemeClr val="accent5"/>
                </a:solidFill>
              </a:rPr>
              <a:t> </a:t>
            </a:r>
            <a:r>
              <a:rPr lang="en-US" sz="3200">
                <a:solidFill>
                  <a:schemeClr val="accent5"/>
                </a:solidFill>
              </a:rPr>
              <a:t>Sensor</a:t>
            </a:r>
            <a:endParaRPr/>
          </a:p>
          <a:p>
            <a:pPr>
              <a:defRPr/>
            </a:pPr>
            <a:endParaRPr lang="en-GB" sz="3200">
              <a:solidFill>
                <a:schemeClr val="accent5"/>
              </a:solidFill>
            </a:endParaRPr>
          </a:p>
          <a:p>
            <a:pPr>
              <a:defRPr/>
            </a:pPr>
            <a:r>
              <a:rPr sz="4800">
                <a:solidFill>
                  <a:schemeClr val="bg1"/>
                </a:solidFill>
              </a:rPr>
              <a:t>Pit Avoidance</a:t>
            </a:r>
            <a:r>
              <a:rPr lang="en-US" sz="4800">
                <a:solidFill>
                  <a:schemeClr val="bg1"/>
                </a:solidFill>
              </a:rPr>
              <a:t> by IR Sensors</a:t>
            </a:r>
            <a:endParaRPr lang="en-US" sz="3200">
              <a:solidFill>
                <a:schemeClr val="accent5"/>
              </a:solidFill>
            </a:endParaRPr>
          </a:p>
          <a:p>
            <a:pPr>
              <a:defRPr/>
            </a:pPr>
            <a:endParaRPr lang="en-GB" sz="3200">
              <a:solidFill>
                <a:schemeClr val="accent5"/>
              </a:solidFill>
            </a:endParaRPr>
          </a:p>
        </p:txBody>
      </p:sp>
      <p:pic>
        <p:nvPicPr>
          <p:cNvPr id="71776503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966071" y="156102"/>
            <a:ext cx="4042963" cy="1089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7338166" name="Title 1"/>
          <p:cNvSpPr>
            <a:spLocks noGrp="1"/>
          </p:cNvSpPr>
          <p:nvPr>
            <p:ph type="title"/>
          </p:nvPr>
        </p:nvSpPr>
        <p:spPr bwMode="auto">
          <a:xfrm>
            <a:off x="319847" y="-1976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20664967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41261" y="1219555"/>
            <a:ext cx="11304181" cy="551040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CONCEPT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What is Pit Avoidance?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Pit Avoidance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is a robotic navigation technique where a robot detects and avoids falling off edges, cliffs, or pits.</a:t>
            </a:r>
            <a:endParaRPr sz="2800"/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Real-World Analogy: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Like a person walking near a cliff: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You look down to see where the ground ends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When you see the edge, you stop and turn away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The robot does the same using sensors instead of eyes!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Key Concept: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Sensors point </a:t>
            </a: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downward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to continuously monitor the surface beneath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When surface disappears or changes (pit/edge detected), robot executes emergency stop and avoidance maneuver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208593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66685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60898" y="-20191"/>
            <a:ext cx="10515600" cy="1237392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132924958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00840" y="1093032"/>
            <a:ext cx="11652355" cy="569938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 Car-1 - Assembled view and Creative Board component layout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56005186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pic>
        <p:nvPicPr>
          <p:cNvPr id="101860010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525208" y="2266987"/>
            <a:ext cx="5087323" cy="3866576"/>
          </a:xfrm>
          <a:prstGeom prst="rect">
            <a:avLst/>
          </a:prstGeom>
        </p:spPr>
      </p:pic>
      <p:sp>
        <p:nvSpPr>
          <p:cNvPr id="1911520060" name=""/>
          <p:cNvSpPr/>
          <p:nvPr/>
        </p:nvSpPr>
        <p:spPr bwMode="auto">
          <a:xfrm flipH="0" flipV="0">
            <a:off x="4567568" y="3009007"/>
            <a:ext cx="1329014" cy="169133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97641043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0" flipH="0" flipV="0">
            <a:off x="5896584" y="1914511"/>
            <a:ext cx="5606709" cy="45715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722225" name="Title 1"/>
          <p:cNvSpPr>
            <a:spLocks noGrp="1"/>
          </p:cNvSpPr>
          <p:nvPr>
            <p:ph type="title"/>
          </p:nvPr>
        </p:nvSpPr>
        <p:spPr bwMode="auto">
          <a:xfrm>
            <a:off x="105323" y="42546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120429109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62239" y="1413898"/>
            <a:ext cx="10515600" cy="550135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>
                <a:solidFill>
                  <a:schemeClr val="bg1"/>
                </a:solidFill>
              </a:rPr>
              <a:t>Robot Car-1 (Sensors</a:t>
            </a:r>
            <a:r>
              <a:rPr lang="en-US" sz="2800">
                <a:solidFill>
                  <a:schemeClr val="bg1"/>
                </a:solidFill>
              </a:rPr>
              <a:t> edition</a:t>
            </a:r>
            <a:r>
              <a:rPr sz="2800">
                <a:solidFill>
                  <a:schemeClr val="bg1"/>
                </a:solidFill>
              </a:rPr>
              <a:t>)</a:t>
            </a:r>
            <a:r>
              <a:rPr lang="en-US" sz="2800">
                <a:solidFill>
                  <a:schemeClr val="bg1"/>
                </a:solidFill>
              </a:rPr>
              <a:t> - </a:t>
            </a:r>
            <a:r>
              <a:rPr sz="2800" b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downward-facing IR sensors</a:t>
            </a:r>
            <a:endParaRPr/>
          </a:p>
        </p:txBody>
      </p:sp>
      <p:pic>
        <p:nvPicPr>
          <p:cNvPr id="24363567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1351505516" name=""/>
          <p:cNvSpPr/>
          <p:nvPr/>
        </p:nvSpPr>
        <p:spPr bwMode="auto">
          <a:xfrm flipH="0" flipV="0">
            <a:off x="914681" y="3905316"/>
            <a:ext cx="9288488" cy="518517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>
                <a:solidFill>
                  <a:schemeClr val="bg1"/>
                </a:solidFill>
              </a:rPr>
              <a:t>Robot Car-1 (Sensors</a:t>
            </a:r>
            <a:r>
              <a:rPr lang="en-US" sz="2800">
                <a:solidFill>
                  <a:schemeClr val="bg1"/>
                </a:solidFill>
              </a:rPr>
              <a:t> edition</a:t>
            </a:r>
            <a:r>
              <a:rPr sz="2800">
                <a:solidFill>
                  <a:schemeClr val="bg1"/>
                </a:solidFill>
              </a:rPr>
              <a:t>)</a:t>
            </a:r>
            <a:r>
              <a:rPr lang="en-US" sz="2800">
                <a:solidFill>
                  <a:schemeClr val="bg1"/>
                </a:solidFill>
              </a:rPr>
              <a:t> - </a:t>
            </a:r>
            <a:r>
              <a:rPr sz="2800" b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Forward-facing IR sensors</a:t>
            </a:r>
            <a:endParaRPr/>
          </a:p>
        </p:txBody>
      </p:sp>
      <p:pic>
        <p:nvPicPr>
          <p:cNvPr id="95017112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1442099" y="1940607"/>
            <a:ext cx="4905374" cy="1964709"/>
          </a:xfrm>
          <a:prstGeom prst="rect">
            <a:avLst/>
          </a:prstGeom>
        </p:spPr>
      </p:pic>
      <p:pic>
        <p:nvPicPr>
          <p:cNvPr id="1494871578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0" flipH="0" flipV="0">
            <a:off x="1495512" y="4503952"/>
            <a:ext cx="5143500" cy="22328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5417545" name="Title 1"/>
          <p:cNvSpPr>
            <a:spLocks noGrp="1"/>
          </p:cNvSpPr>
          <p:nvPr>
            <p:ph type="title"/>
          </p:nvPr>
        </p:nvSpPr>
        <p:spPr bwMode="auto">
          <a:xfrm>
            <a:off x="365883" y="42548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41213117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79529" y="1344180"/>
            <a:ext cx="11109535" cy="521649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Downward-Facing IR Sensor Array: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What do L, LC, RC, R mean?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84883568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  <p:graphicFrame>
        <p:nvGraphicFramePr>
          <p:cNvPr id="302666672" name=""/>
          <p:cNvGraphicFramePr>
            <a:graphicFrameLocks xmlns:a="http://schemas.openxmlformats.org/drawingml/2006/main"/>
          </p:cNvGraphicFramePr>
          <p:nvPr/>
        </p:nvGraphicFramePr>
        <p:xfrm>
          <a:off x="509779" y="1807790"/>
          <a:ext cx="8140699" cy="4615178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63999"/>
                <a:gridCol w="4063999"/>
              </a:tblGrid>
              <a:tr h="365760">
                <a:tc gridSpan="2">
                  <a:txBody>
                    <a:bodyPr/>
                    <a:p>
                      <a:pPr>
                        <a:defRPr/>
                      </a:pPr>
                      <a:r>
                        <a:rPr sz="1400"/>
                        <a:t>Sensor Meanings</a:t>
                      </a:r>
                      <a:endParaRPr sz="1400"/>
                    </a:p>
                  </a:txBody>
                  <a:tcPr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</a:tr>
              <a:tr h="365760"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L – Left Sensor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on the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far left</a:t>
                      </a:r>
                      <a:endParaRPr sz="1400" b="1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40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</a:t>
                      </a: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wall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Left edge of line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Obstacle on left side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Wall following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Line correction from left</a:t>
                      </a:r>
                      <a:endParaRPr sz="1400"/>
                    </a:p>
                  </a:txBody>
                  <a:tcPr/>
                </a:tc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LC(C1) – Left-Center Sensor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slightly left of center</a:t>
                      </a:r>
                      <a:endParaRPr sz="140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Objects slightly ahead on the left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Fine correction when robot drifts left/right</a:t>
                      </a:r>
                      <a:endParaRPr sz="1400"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 – Right Sensor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on the </a:t>
                      </a: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far right</a:t>
                      </a:r>
                      <a:endParaRPr sz="1400" b="1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Right wall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Right edge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Obstacle on right side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Avoiding right-side collisions</a:t>
                      </a:r>
                      <a:endParaRPr sz="1400"/>
                    </a:p>
                  </a:txBody>
                  <a:tcPr/>
                </a:tc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lang="en-US" sz="1400" b="1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RC(C2) – Right-Center Sensor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lang="en-US" sz="14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slightly right of center</a:t>
                      </a:r>
                      <a:endParaRPr sz="1400" b="0" i="0" u="none" strike="noStrike" cap="none" spc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lang="en-US" sz="14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lang="en-US" sz="14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  Objects slightly ahead on the right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lang="en-US" sz="14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4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lang="en-US" sz="14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   Fine correction from the right side</a:t>
                      </a:r>
                      <a:endParaRPr sz="140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990666113" name=""/>
          <p:cNvGraphicFramePr>
            <a:graphicFrameLocks xmlns:a="http://schemas.openxmlformats.org/drawingml/2006/main"/>
          </p:cNvGraphicFramePr>
          <p:nvPr/>
        </p:nvGraphicFramePr>
        <p:xfrm>
          <a:off x="8733774" y="5528772"/>
          <a:ext cx="3328669" cy="8356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060621"/>
                <a:gridCol w="1730638"/>
              </a:tblGrid>
              <a:tr h="16573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Signal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Meaning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 (1)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obstacle / clear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 (0)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detected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055042" name="Title 1"/>
          <p:cNvSpPr>
            <a:spLocks noGrp="1"/>
          </p:cNvSpPr>
          <p:nvPr>
            <p:ph type="title"/>
          </p:nvPr>
        </p:nvSpPr>
        <p:spPr bwMode="auto">
          <a:xfrm>
            <a:off x="532221" y="-8236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150957518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74571" y="1103827"/>
            <a:ext cx="11196689" cy="557257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Arduino Component–Pin Mapping Table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44860400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graphicFrame>
        <p:nvGraphicFramePr>
          <p:cNvPr id="2084162172" name=""/>
          <p:cNvGraphicFramePr>
            <a:graphicFrameLocks xmlns:a="http://schemas.openxmlformats.org/drawingml/2006/main"/>
          </p:cNvGraphicFramePr>
          <p:nvPr/>
        </p:nvGraphicFramePr>
        <p:xfrm>
          <a:off x="618816" y="1557139"/>
          <a:ext cx="5817984" cy="1747231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100485"/>
                <a:gridCol w="1891783"/>
                <a:gridCol w="1813015"/>
              </a:tblGrid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Pin(s)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Function</a:t>
                      </a:r>
                      <a:endParaRPr/>
                    </a:p>
                  </a:txBody>
                  <a:tcPr vert="horz"/>
                </a:tc>
              </a:tr>
              <a:tr h="52277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IR Sensors (Left / LC / RC / Right)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A0, A1, A2, A3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detection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 (IN1–IN4)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8, 7, 4, 3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Direction control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 (ENA, ENB)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6, 5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Speed control (PWM)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OLED Display (SDA, SCL)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A4 (SDA), A5 (SCL)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Display interface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graphicFrame>
        <p:nvGraphicFramePr>
          <p:cNvPr id="1029042889" name=""/>
          <p:cNvGraphicFramePr>
            <a:graphicFrameLocks xmlns:a="http://schemas.openxmlformats.org/drawingml/2006/main"/>
          </p:cNvGraphicFramePr>
          <p:nvPr/>
        </p:nvGraphicFramePr>
        <p:xfrm>
          <a:off x="609912" y="5372213"/>
          <a:ext cx="5826889" cy="138429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846593"/>
                <a:gridCol w="1203489"/>
                <a:gridCol w="2423300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Pin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Purpose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(L)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A0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edge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Left-Center (LC)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Left-center path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Right-Center (RC)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Right-center path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(R)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edge detection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1084550196" name=""/>
          <p:cNvSpPr/>
          <p:nvPr/>
        </p:nvSpPr>
        <p:spPr bwMode="auto">
          <a:xfrm flipH="0" flipV="0">
            <a:off x="532222" y="4486541"/>
            <a:ext cx="6749133" cy="7928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endParaRPr/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Sensors Pin Configuration</a:t>
            </a:r>
            <a:endParaRPr sz="36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1974569744" name=""/>
          <p:cNvGraphicFramePr>
            <a:graphicFrameLocks xmlns:a="http://schemas.openxmlformats.org/drawingml/2006/main"/>
          </p:cNvGraphicFramePr>
          <p:nvPr/>
        </p:nvGraphicFramePr>
        <p:xfrm>
          <a:off x="618816" y="3871139"/>
          <a:ext cx="4356110" cy="8356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408690"/>
                <a:gridCol w="533356"/>
                <a:gridCol w="711560"/>
                <a:gridCol w="1689800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(Speed Control)</a:t>
                      </a:r>
                      <a:endParaRPr/>
                    </a:p>
                  </a:txBody>
                  <a:tcPr vert="horz" anchor="ctr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  <a:endParaRPr/>
                    </a:p>
                  </a:txBody>
                  <a:tcPr vert="horz" anchor="ctr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endParaRPr/>
                    </a:p>
                  </a:txBody>
                  <a:tcPr vert="horz" anchor="ctr"/>
                </a:tc>
              </a:tr>
            </a:tbl>
          </a:graphicData>
        </a:graphic>
      </p:graphicFrame>
      <p:sp>
        <p:nvSpPr>
          <p:cNvPr id="1313158318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sp>
        <p:nvSpPr>
          <p:cNvPr id="23909594" name=""/>
          <p:cNvSpPr/>
          <p:nvPr/>
        </p:nvSpPr>
        <p:spPr bwMode="auto">
          <a:xfrm flipH="0" flipV="0">
            <a:off x="618816" y="3352619"/>
            <a:ext cx="4828223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Motor Driver Pin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Configuration</a:t>
            </a:r>
            <a:endParaRPr/>
          </a:p>
        </p:txBody>
      </p:sp>
      <p:sp>
        <p:nvSpPr>
          <p:cNvPr id="1958001221" name=""/>
          <p:cNvSpPr txBox="1"/>
          <p:nvPr/>
        </p:nvSpPr>
        <p:spPr bwMode="auto">
          <a:xfrm flipH="0" flipV="0">
            <a:off x="6383391" y="3429000"/>
            <a:ext cx="5334995" cy="2926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b="1" i="0" u="none">
                <a:solidFill>
                  <a:schemeClr val="bg1"/>
                </a:solidFill>
                <a:highlight>
                  <a:srgbClr val="FF0000"/>
                </a:highlight>
                <a:latin typeface="Times New Roman"/>
                <a:ea typeface="Times New Roman"/>
                <a:cs typeface="Times New Roman"/>
              </a:rPr>
              <a:t>Note: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394022" indent="-394022">
              <a:buFont typeface="Arial"/>
              <a:buChar char="•"/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Downward IR sensors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detect lines, floor edges, and pits.</a:t>
            </a:r>
            <a:endParaRPr sz="2800">
              <a:solidFill>
                <a:schemeClr val="bg1"/>
              </a:solidFill>
            </a:endParaRPr>
          </a:p>
          <a:p>
            <a:pPr marL="394022" indent="-394022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while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forward IR sensors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detect walls and nearby obstacles.</a:t>
            </a:r>
            <a:endParaRPr sz="2800">
              <a:solidFill>
                <a:schemeClr val="bg1"/>
              </a:solidFill>
            </a:endParaRPr>
          </a:p>
          <a:p>
            <a:pPr marL="394022" indent="-394022" algn="l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Use the “</a:t>
            </a:r>
            <a:r>
              <a:rPr sz="2800" b="1" i="1" u="none">
                <a:solidFill>
                  <a:srgbClr val="FFC000"/>
                </a:solidFill>
                <a:latin typeface="Times New Roman"/>
                <a:ea typeface="Times New Roman"/>
                <a:cs typeface="Times New Roman"/>
              </a:rPr>
              <a:t>Line/Wall Following Switch(2)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”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to select the mode.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016744" name="Title 1"/>
          <p:cNvSpPr>
            <a:spLocks noGrp="1"/>
          </p:cNvSpPr>
          <p:nvPr>
            <p:ph type="title"/>
          </p:nvPr>
        </p:nvSpPr>
        <p:spPr bwMode="auto">
          <a:xfrm>
            <a:off x="410759" y="-135779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136321402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74571" y="1103827"/>
            <a:ext cx="11196689" cy="557257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How IR Sensors Work: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IR LED emits infrared light downward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Light reflects back from the surface below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IR receiver detects the reflected light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Surface present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= Strong reflection = HIGH signal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No surface (pit/edge)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= No reflection = LOW signal</a:t>
            </a:r>
            <a:endParaRPr sz="24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457200" lvl="1" indent="0">
              <a:buFont typeface="Arial"/>
              <a:buNone/>
              <a:defRPr/>
            </a:pPr>
            <a:endParaRPr/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Critical Requirement: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457200" lvl="1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🎯 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We MUST know your table color before testing!</a:t>
            </a:r>
            <a:b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🎯 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Calibration adjusts for your specific environment</a:t>
            </a: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14041979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sp>
        <p:nvSpPr>
          <p:cNvPr id="1788552007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5023592" name="Title 1"/>
          <p:cNvSpPr>
            <a:spLocks noGrp="1"/>
          </p:cNvSpPr>
          <p:nvPr>
            <p:ph type="title"/>
          </p:nvPr>
        </p:nvSpPr>
        <p:spPr bwMode="auto">
          <a:xfrm>
            <a:off x="295035" y="-232065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117487276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95035" y="963295"/>
            <a:ext cx="11196689" cy="578453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Black Table vs White Table - Understanding Surface Detection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⚠️ IMPORTANT: Table Color and Edge Detection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1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Scenario 1</a:t>
            </a:r>
            <a:r>
              <a:rPr sz="2800" b="1" i="1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 Black Table with White Edges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On Black Surface: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Sensor reads HIGH (1) - "Safe, surface detected"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At White Edge/Boundary: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Sensor reads LOW (0) - "Danger! Edge detected"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 Logic: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HIGH = Continue, LOW = STOP &amp; TURN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1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Scenario 2: White Table with Black Edges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On White Surface: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Sensor reads HIGH (1) - "Safe, surface detected"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At Black Edge/Boundary: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Sensor reads LOW (0) - "Danger! Edge detected"</a:t>
            </a:r>
            <a:endParaRPr sz="2800" b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 Logic: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Same as black table!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1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 This Works: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	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✅ Sensors detect </a:t>
            </a:r>
            <a:r>
              <a:rPr sz="2800" b="1" i="1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contrast change</a:t>
            </a:r>
            <a:r>
              <a:rPr sz="2800" b="0" i="1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between surface and edge</a:t>
            </a:r>
            <a:b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	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✅ Both setups work with same program logic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, (or) typical case may need invert logic.</a:t>
            </a:r>
            <a:b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	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✅ The key is </a:t>
            </a:r>
            <a:r>
              <a:rPr sz="2800" b="1" i="1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calibration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to detect the transition point accurately</a:t>
            </a:r>
            <a:endParaRPr/>
          </a:p>
        </p:txBody>
      </p:sp>
      <p:pic>
        <p:nvPicPr>
          <p:cNvPr id="117280149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sp>
        <p:nvSpPr>
          <p:cNvPr id="280880173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940690" name="Title 1"/>
          <p:cNvSpPr>
            <a:spLocks noGrp="1"/>
          </p:cNvSpPr>
          <p:nvPr>
            <p:ph type="title"/>
          </p:nvPr>
        </p:nvSpPr>
        <p:spPr bwMode="auto">
          <a:xfrm>
            <a:off x="295035" y="-232065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53905923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95035" y="963295"/>
            <a:ext cx="11196689" cy="578453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Sensor Calibration - </a:t>
            </a:r>
            <a:r>
              <a:rPr sz="2800" b="1" i="0" u="none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The Most Critical Step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🔧 Why Calibration is Absolutely Essential: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Problem Without Calibration: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❌ Sensors may not detect edges at all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❌ False positives (stops in middle of table)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❌ Car falls off table despite having sensors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❌ Inconsistent behavior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endParaRPr/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Solution: Proper Calibration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21545228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sp>
        <p:nvSpPr>
          <p:cNvPr id="877110906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7706970" name="Title 1"/>
          <p:cNvSpPr>
            <a:spLocks noGrp="1"/>
          </p:cNvSpPr>
          <p:nvPr>
            <p:ph type="title"/>
          </p:nvPr>
        </p:nvSpPr>
        <p:spPr bwMode="auto">
          <a:xfrm>
            <a:off x="295035" y="-232065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861088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95035" y="765122"/>
            <a:ext cx="11196689" cy="598271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Calibration Process (Step-by-Step):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Visual Inspection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Locate the 4 blue potentiometers on the sensor board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Each controls sensitivity of one sensor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Initial Setup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Place car in CENTER of table (on black/white surface)</a:t>
            </a: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Power ON the robot</a:t>
            </a: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Open Serial Monitor or check OLED display</a:t>
            </a: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All 4 sensors should read HIGH (1)</a:t>
            </a:r>
            <a:b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Individual Sensor Adjustment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Slowly move car toward edge</a:t>
            </a: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Watch when sensor changes from HIGH to LOW</a:t>
            </a: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Adjust potentiometer:</a:t>
            </a:r>
            <a:b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- Clockwise = MORE sensitive (detects earlier)</a:t>
            </a: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- Counter-clockwise = LESS sensitive (detects later)</a:t>
            </a: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Goal: Sensor changes to LOW exactly at edge (2-3cm before)</a:t>
            </a:r>
            <a:endParaRPr/>
          </a:p>
        </p:txBody>
      </p:sp>
      <p:pic>
        <p:nvPicPr>
          <p:cNvPr id="180376425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sp>
        <p:nvSpPr>
          <p:cNvPr id="1053422112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486954" name="Title 1"/>
          <p:cNvSpPr>
            <a:spLocks noGrp="1"/>
          </p:cNvSpPr>
          <p:nvPr>
            <p:ph type="title"/>
          </p:nvPr>
        </p:nvSpPr>
        <p:spPr bwMode="auto">
          <a:xfrm>
            <a:off x="295035" y="-232065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208382716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95035" y="765122"/>
            <a:ext cx="11196689" cy="598271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Calibration Process (Step-by-Step):</a:t>
            </a:r>
            <a:endParaRPr sz="1200" b="1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Test All Four Sensors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Test left edge → Left sensor should trigger</a:t>
            </a: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Test right edge → Right sensor should trigger</a:t>
            </a: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Test front edge → Center sensors should 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trigger</a:t>
            </a:r>
            <a:endParaRPr sz="2800" b="0" i="0" u="none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Fine-tune each until perfect</a:t>
            </a:r>
            <a:endParaRPr sz="2800" b="0" i="0" u="none">
              <a:solidFill>
                <a:schemeClr val="bg1"/>
              </a:solidFill>
              <a:latin typeface="Courier New"/>
              <a:ea typeface="Courier New"/>
              <a:cs typeface="Courier New"/>
            </a:endParaRPr>
          </a:p>
        </p:txBody>
      </p:sp>
      <p:pic>
        <p:nvPicPr>
          <p:cNvPr id="34115111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sp>
        <p:nvSpPr>
          <p:cNvPr id="1180083675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6909584" name="Title 1"/>
          <p:cNvSpPr>
            <a:spLocks noGrp="1"/>
          </p:cNvSpPr>
          <p:nvPr>
            <p:ph type="title"/>
          </p:nvPr>
        </p:nvSpPr>
        <p:spPr bwMode="auto">
          <a:xfrm>
            <a:off x="295035" y="-232065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44532162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95035" y="765122"/>
            <a:ext cx="11196689" cy="598271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Critical Programming Setup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MANDATORY Switch Settings Before Uploading Code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connecting USB and uploading program: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Standby/On Switch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STANDBY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Prevents motors from running during code upload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Avoids car moving unexpectedly on desk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Protects USB connection from power surges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Safety first during programming!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Line/Wall Following Switch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4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LINE FOLLOWING MODE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Pit avoidance uses the same sensor array as line following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Switch must be in "Line Following" position for downward sensors to work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Wrong position = sensors won't be read correctly</a:t>
            </a:r>
            <a:endParaRPr/>
          </a:p>
        </p:txBody>
      </p:sp>
      <p:pic>
        <p:nvPicPr>
          <p:cNvPr id="78718806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sp>
        <p:nvSpPr>
          <p:cNvPr id="728807286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6643645" name="Title 1"/>
          <p:cNvSpPr>
            <a:spLocks noGrp="1"/>
          </p:cNvSpPr>
          <p:nvPr>
            <p:ph type="title"/>
          </p:nvPr>
        </p:nvSpPr>
        <p:spPr bwMode="auto">
          <a:xfrm>
            <a:off x="295035" y="-232065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178214664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95035" y="765122"/>
            <a:ext cx="11620619" cy="598271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During Programming (Code Upload):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Connect USB cable to computer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Standby/On Swit</a:t>
            </a:r>
            <a:r>
              <a:rPr lang="en-US" sz="2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ch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STANDBY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Line/Wall Following Switch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LINE FOLLOWING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Set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ON/OFF Switch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 -&gt;for batter power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Upload your pit avoidance program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6: Wait for "Upload Complete" message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7: Disconnect USB cable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Testing (Running the Robot):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Place robot on CENTER of table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Verify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Line/Wall Following Switch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-&gt;  LINE FOLLOWING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Standby/On Switch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-&gt;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activate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(  motor driver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ON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Set Switch “</a:t>
            </a:r>
            <a:r>
              <a:rPr sz="2800" b="1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ON/OFF Switch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ON -&gt;for batter power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Press </a:t>
            </a:r>
            <a:r>
              <a:rPr sz="2400" b="0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RESET 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button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6: Robot car-1 starts pit avoidance program</a:t>
            </a:r>
            <a:endParaRPr/>
          </a:p>
        </p:txBody>
      </p:sp>
      <p:pic>
        <p:nvPicPr>
          <p:cNvPr id="181057954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sp>
        <p:nvSpPr>
          <p:cNvPr id="951649896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67331" name="Title 1"/>
          <p:cNvSpPr>
            <a:spLocks noGrp="1"/>
          </p:cNvSpPr>
          <p:nvPr>
            <p:ph type="title"/>
          </p:nvPr>
        </p:nvSpPr>
        <p:spPr bwMode="auto">
          <a:xfrm>
            <a:off x="295035" y="-232065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62504896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95035" y="765122"/>
            <a:ext cx="11620619" cy="598271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Major Safety Precautions - MUST READ! ⚠️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🚨 Critical Safety Information - Educational Equipment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1. Deep Pit Detection Limitation: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⚠️ </a:t>
            </a: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If pit is TOO DEEP, sensors may NOT detect it!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IR sensors have limited range: typically </a:t>
            </a: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2-10 cm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If table edge drops more than 10cm vertically, sensor beam may not detect the void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Very deep pits appear as "no surface" but sensor can't distinguish depth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Solution: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457200" lvl="1" indent="0">
              <a:buFont typeface="Arial"/>
              <a:buNone/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✅ Use table with appropriate height: </a:t>
            </a: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50-80 cm recommended</a:t>
            </a:r>
            <a:b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✅ Lower height = safer for learning environment</a:t>
            </a:r>
            <a:b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✅ Reduces impact force if car accidentally falls</a:t>
            </a:r>
            <a:endParaRPr/>
          </a:p>
        </p:txBody>
      </p:sp>
      <p:pic>
        <p:nvPicPr>
          <p:cNvPr id="199936846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sp>
        <p:nvSpPr>
          <p:cNvPr id="430277578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5414729" name="Title 1"/>
          <p:cNvSpPr>
            <a:spLocks noGrp="1"/>
          </p:cNvSpPr>
          <p:nvPr>
            <p:ph type="title"/>
          </p:nvPr>
        </p:nvSpPr>
        <p:spPr bwMode="auto">
          <a:xfrm>
            <a:off x="295035" y="-232065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206090722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95035" y="765122"/>
            <a:ext cx="11620619" cy="598271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Table Height Recommendations: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pic>
        <p:nvPicPr>
          <p:cNvPr id="162190925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sp>
        <p:nvSpPr>
          <p:cNvPr id="744789438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graphicFrame>
        <p:nvGraphicFramePr>
          <p:cNvPr id="682466564" name=""/>
          <p:cNvGraphicFramePr>
            <a:graphicFrameLocks xmlns:a="http://schemas.openxmlformats.org/drawingml/2006/main"/>
          </p:cNvGraphicFramePr>
          <p:nvPr/>
        </p:nvGraphicFramePr>
        <p:xfrm>
          <a:off x="641802" y="1265839"/>
          <a:ext cx="8088822" cy="2346038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692040"/>
                <a:gridCol w="2692040"/>
                <a:gridCol w="2692040"/>
              </a:tblGrid>
              <a:tr h="40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Table Height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Safety Level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Recommendation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476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30–50 cm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⭐⭐⭐⭐⭐ Excellent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Best for beginners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1203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50–70 cm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⭐⭐⭐⭐ Very Good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Recommended for learning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1203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70–90 cm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⭐⭐⭐ Good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Acceptable with precautions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65905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90+ cm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⭐⭐ Risky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Not recommended 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1134241045" name=""/>
          <p:cNvSpPr/>
          <p:nvPr/>
        </p:nvSpPr>
        <p:spPr bwMode="auto">
          <a:xfrm flipH="0" flipV="0">
            <a:off x="641802" y="3821617"/>
            <a:ext cx="3888793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Testing Area Preparation:</a:t>
            </a:r>
            <a:endParaRPr sz="2800"/>
          </a:p>
        </p:txBody>
      </p:sp>
      <p:sp>
        <p:nvSpPr>
          <p:cNvPr id="1294024041" name=""/>
          <p:cNvSpPr/>
          <p:nvPr/>
        </p:nvSpPr>
        <p:spPr bwMode="auto">
          <a:xfrm flipH="0" flipV="0">
            <a:off x="696948" y="4426085"/>
            <a:ext cx="7981411" cy="230422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✅ Clear area around table (1 meter radius) 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✅ Place soft cushions/foam padding below table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✅ Remove obstacles near testing zone 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✅ Ensure good lighting (avoid direct sunlight) 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✅ Have a spotter ready to catch if needed</a:t>
            </a:r>
            <a:endParaRPr sz="28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398849" name="Title 1"/>
          <p:cNvSpPr>
            <a:spLocks noGrp="1"/>
          </p:cNvSpPr>
          <p:nvPr>
            <p:ph type="title"/>
          </p:nvPr>
        </p:nvSpPr>
        <p:spPr bwMode="auto">
          <a:xfrm>
            <a:off x="295035" y="-232065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43108404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95035" y="765122"/>
            <a:ext cx="11620619" cy="598271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 Car Damage Prevention: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Common Causes of Damage: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❌ Testing without proper calibration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❌ Wrong switch positions during upload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❌ Low battery causing erratic behavior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❌ Testing on too-high table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❌ Skipping manual verification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Prevention Measures: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	✅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ALWAYS calibrate before testing</a:t>
            </a:r>
            <a:b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</a:b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	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✅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Check battery voltage (&gt;7V required)</a:t>
            </a:r>
            <a:b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</a:b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	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✅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Verify switch positions twice</a:t>
            </a:r>
            <a:b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</a:b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	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✅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Test manually first</a:t>
            </a:r>
            <a:b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</a:b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	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✅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Use lower table height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pic>
        <p:nvPicPr>
          <p:cNvPr id="171324077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sp>
        <p:nvSpPr>
          <p:cNvPr id="1235104702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2712107" name="Title 1"/>
          <p:cNvSpPr>
            <a:spLocks noGrp="1"/>
          </p:cNvSpPr>
          <p:nvPr>
            <p:ph type="title"/>
          </p:nvPr>
        </p:nvSpPr>
        <p:spPr bwMode="auto">
          <a:xfrm>
            <a:off x="45198" y="-232065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53734200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94069" y="836336"/>
            <a:ext cx="11620619" cy="598271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The "Test Twice, Run Once" Protocol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✅ MANDATORY Pre-Testing Safety Checklist: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Phase 1: Manual Testing (TWICE) 🔧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Test #1: 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Physical Verification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Manually lift car and move toward edge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Watch Serial Monitor / OLED display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Verify sensor readings change at edge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Check all 4 sensors individually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Test #2: 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Connection Verification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Verify Port 3 (Downward IR Array) connected firmly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Check motor connectors (Left &amp; Right)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Confirm battery connector secure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Verify OLED display working</a:t>
            </a:r>
            <a:endParaRPr/>
          </a:p>
        </p:txBody>
      </p:sp>
      <p:pic>
        <p:nvPicPr>
          <p:cNvPr id="71900442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sp>
        <p:nvSpPr>
          <p:cNvPr id="1933970370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982750" name="Title 1"/>
          <p:cNvSpPr>
            <a:spLocks noGrp="1"/>
          </p:cNvSpPr>
          <p:nvPr>
            <p:ph type="title"/>
          </p:nvPr>
        </p:nvSpPr>
        <p:spPr bwMode="auto">
          <a:xfrm>
            <a:off x="194069" y="-232065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173762584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94069" y="836336"/>
            <a:ext cx="11620619" cy="598271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Phase 2: Test Program Verification (TWICE) 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Test #1: 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Sensor Reading Program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Upload simple sensor test code first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Open Serial Monitor (9600 baud)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Place car on table: All sensors = HIGH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Move to edge: Sensors change to LOW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Document which sensor triggers where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Test #2: 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Motor Response Test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Upload motor test program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Verify left motor spins correctly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Verify right motor spins correctly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Check forward, backward, turn left, turn right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Confirm motor driver switch work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155752542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sp>
        <p:nvSpPr>
          <p:cNvPr id="848856759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397464" name="Title 1"/>
          <p:cNvSpPr>
            <a:spLocks noGrp="1"/>
          </p:cNvSpPr>
          <p:nvPr>
            <p:ph type="title"/>
          </p:nvPr>
        </p:nvSpPr>
        <p:spPr bwMode="auto">
          <a:xfrm>
            <a:off x="295035" y="-232065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14689844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95035" y="765122"/>
            <a:ext cx="11620619" cy="598271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5000" lnSpcReduction="5000"/>
          </a:bodyPr>
          <a:lstStyle/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Controlled First Run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Pre-Run Checklist: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Car positioned in CENTER of table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Switch 2 → LINE FOLLOWING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Switch 12 → STANDBY (for now)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Battery charged (check voltage)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OLED display shows sensor status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Spotter ready to catch if needed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Start Sequence: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Switch 12 → ON (activate motors)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Press RESET button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Stand ready for first 30 seconds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Observe behavior carefully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STOP immediately if unusual behavior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⚠️ Golden Rule: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"Test twice manually, test twice with programs, THEN run once for real!"</a:t>
            </a:r>
            <a:endParaRPr/>
          </a:p>
        </p:txBody>
      </p:sp>
      <p:pic>
        <p:nvPicPr>
          <p:cNvPr id="159178816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sp>
        <p:nvSpPr>
          <p:cNvPr id="721724636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3774455" name="Title 1"/>
          <p:cNvSpPr>
            <a:spLocks noGrp="1"/>
          </p:cNvSpPr>
          <p:nvPr>
            <p:ph type="title"/>
          </p:nvPr>
        </p:nvSpPr>
        <p:spPr bwMode="auto">
          <a:xfrm>
            <a:off x="123272" y="-232065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45849645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85689" y="705326"/>
            <a:ext cx="11620619" cy="598271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Algorithm</a:t>
            </a:r>
            <a:r>
              <a:rPr/>
              <a:t>:</a:t>
            </a:r>
            <a:endParaRPr/>
          </a:p>
          <a:p>
            <a:pPr>
              <a:defRPr/>
            </a:pPr>
            <a:endParaRPr/>
          </a:p>
        </p:txBody>
      </p:sp>
      <p:pic>
        <p:nvPicPr>
          <p:cNvPr id="74411887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sp>
        <p:nvSpPr>
          <p:cNvPr id="425404579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graphicFrame>
        <p:nvGraphicFramePr>
          <p:cNvPr id="382656822" name=""/>
          <p:cNvGraphicFramePr>
            <a:graphicFrameLocks xmlns:a="http://schemas.openxmlformats.org/drawingml/2006/main"/>
          </p:cNvGraphicFramePr>
          <p:nvPr/>
        </p:nvGraphicFramePr>
        <p:xfrm>
          <a:off x="532499" y="1121262"/>
          <a:ext cx="10555573" cy="6091052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447316"/>
                <a:gridCol w="982683"/>
                <a:gridCol w="1080000"/>
                <a:gridCol w="990000"/>
                <a:gridCol w="810000"/>
                <a:gridCol w="2250000"/>
                <a:gridCol w="3654308"/>
              </a:tblGrid>
              <a:tr h="30715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Sensor Pattern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LC(C1)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RC(C2)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Situation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Robot Action</a:t>
                      </a:r>
                      <a:endParaRPr/>
                    </a:p>
                  </a:txBody>
                  <a:tcPr vert="horz" anchor="ctr"/>
                </a:tc>
              </a:tr>
              <a:tr h="50628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All Safe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All sensors on black surface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endParaRPr/>
                    </a:p>
                  </a:txBody>
                  <a:tcPr vert="horz" anchor="ctr"/>
                </a:tc>
              </a:tr>
              <a:tr h="41095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Edge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edge detected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AVOID LEFT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(backup + turn right)</a:t>
                      </a:r>
                      <a:endParaRPr/>
                    </a:p>
                  </a:txBody>
                  <a:tcPr vert="horz" anchor="ctr"/>
                </a:tc>
              </a:tr>
              <a:tr h="30715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Edge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edge detected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AVOID RIGHT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(backup + turn left)</a:t>
                      </a:r>
                      <a:endParaRPr/>
                    </a:p>
                  </a:txBody>
                  <a:tcPr vert="horz" anchor="ctr"/>
                </a:tc>
              </a:tr>
              <a:tr h="41095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Center-1 Edge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Front-left edge detected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AVOID C1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(backup + turn left)</a:t>
                      </a:r>
                      <a:endParaRPr/>
                    </a:p>
                  </a:txBody>
                  <a:tcPr vert="horz" anchor="ctr"/>
                </a:tc>
              </a:tr>
              <a:tr h="41095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Center-2 Edge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Front-right edge detected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AVOID C2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(backup + turn right)</a:t>
                      </a:r>
                      <a:endParaRPr/>
                    </a:p>
                  </a:txBody>
                  <a:tcPr vert="horz" anchor="ctr"/>
                </a:tc>
              </a:tr>
              <a:tr h="43440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Corner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corner danger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AVOID L-CORNER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(backup + sharp right)</a:t>
                      </a:r>
                      <a:endParaRPr/>
                    </a:p>
                  </a:txBody>
                  <a:tcPr vert="horz" anchor="ctr"/>
                </a:tc>
              </a:tr>
              <a:tr h="43440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Corner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corner danger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AVOID R-CORNER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(backup + sharp left)</a:t>
                      </a:r>
                      <a:endParaRPr/>
                    </a:p>
                  </a:txBody>
                  <a:tcPr vert="horz" anchor="ctr"/>
                </a:tc>
              </a:tr>
              <a:tr h="41095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Narrow Path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center sensors detect edge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AVOID NARROW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(backup + turn)</a:t>
                      </a:r>
                      <a:endParaRPr/>
                    </a:p>
                  </a:txBody>
                  <a:tcPr vert="horz" anchor="ctr"/>
                </a:tc>
              </a:tr>
              <a:tr h="41095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Sides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&amp; right edges detected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AVOID SIDES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(backup + turn)</a:t>
                      </a:r>
                      <a:endParaRPr/>
                    </a:p>
                  </a:txBody>
                  <a:tcPr vert="horz" anchor="ctr"/>
                </a:tc>
              </a:tr>
              <a:tr h="30715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Triple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Critical left danger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EMERGENCY RIGHT</a:t>
                      </a:r>
                      <a:endParaRPr/>
                    </a:p>
                  </a:txBody>
                  <a:tcPr vert="horz" anchor="ctr"/>
                </a:tc>
              </a:tr>
              <a:tr h="30715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Triple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Critical right danger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EMERGENCY LEFT</a:t>
                      </a:r>
                      <a:endParaRPr/>
                    </a:p>
                  </a:txBody>
                  <a:tcPr vert="horz" anchor="ctr"/>
                </a:tc>
              </a:tr>
              <a:tr h="43440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Front Triple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 /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Critical front danger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EMERGENCY BACKUP</a:t>
                      </a:r>
                      <a:endParaRPr/>
                    </a:p>
                  </a:txBody>
                  <a:tcPr vert="horz" anchor="ctr"/>
                </a:tc>
              </a:tr>
              <a:tr h="41095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All Edges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Robot lifted / no ground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FULL EMERGENCY STOP</a:t>
                      </a:r>
                      <a:endParaRPr/>
                    </a:p>
                  </a:txBody>
                  <a:tcPr vert="horz"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2504131" name="Title 1"/>
          <p:cNvSpPr>
            <a:spLocks noGrp="1"/>
          </p:cNvSpPr>
          <p:nvPr>
            <p:ph type="title"/>
          </p:nvPr>
        </p:nvSpPr>
        <p:spPr bwMode="auto">
          <a:xfrm>
            <a:off x="123272" y="-232065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81359456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8975" y="705326"/>
            <a:ext cx="11717332" cy="608709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Flow Chart: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pic>
        <p:nvPicPr>
          <p:cNvPr id="103621520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099"/>
            <a:ext cx="2037717" cy="549226"/>
          </a:xfrm>
          <a:prstGeom prst="rect">
            <a:avLst/>
          </a:prstGeom>
        </p:spPr>
      </p:pic>
      <p:sp>
        <p:nvSpPr>
          <p:cNvPr id="476363192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pic>
        <p:nvPicPr>
          <p:cNvPr id="1166813836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399290" y="979205"/>
            <a:ext cx="5210173" cy="57576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204987" name="Title 1"/>
          <p:cNvSpPr>
            <a:spLocks noGrp="1"/>
          </p:cNvSpPr>
          <p:nvPr>
            <p:ph type="title"/>
          </p:nvPr>
        </p:nvSpPr>
        <p:spPr bwMode="auto">
          <a:xfrm>
            <a:off x="123272" y="-232065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181390556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8975" y="705326"/>
            <a:ext cx="11717332" cy="608709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Core Function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, Code highlight</a:t>
            </a:r>
            <a:r>
              <a:rPr>
                <a:solidFill>
                  <a:schemeClr val="bg1"/>
                </a:solidFill>
              </a:rPr>
              <a:t>: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pic>
        <p:nvPicPr>
          <p:cNvPr id="143530647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099"/>
            <a:ext cx="2037717" cy="549226"/>
          </a:xfrm>
          <a:prstGeom prst="rect">
            <a:avLst/>
          </a:prstGeom>
        </p:spPr>
      </p:pic>
      <p:sp>
        <p:nvSpPr>
          <p:cNvPr id="1081752141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pic>
        <p:nvPicPr>
          <p:cNvPr id="84236451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5699385" y="705326"/>
            <a:ext cx="5486400" cy="6087090"/>
          </a:xfrm>
          <a:prstGeom prst="rect">
            <a:avLst/>
          </a:prstGeom>
        </p:spPr>
      </p:pic>
      <p:sp>
        <p:nvSpPr>
          <p:cNvPr id="1862455686" name=""/>
          <p:cNvSpPr/>
          <p:nvPr/>
        </p:nvSpPr>
        <p:spPr bwMode="auto">
          <a:xfrm flipH="0" flipV="0">
            <a:off x="418565" y="1386477"/>
            <a:ext cx="4830669" cy="22253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“Sensor patterns are classified from SAFE → EDGE → CORNER → CRITICAL → EMERGENCY, with increasing response strength.”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4020001" name="Title 1"/>
          <p:cNvSpPr>
            <a:spLocks noGrp="1"/>
          </p:cNvSpPr>
          <p:nvPr>
            <p:ph type="title"/>
          </p:nvPr>
        </p:nvSpPr>
        <p:spPr bwMode="auto">
          <a:xfrm>
            <a:off x="123272" y="-232065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15568155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8975" y="705326"/>
            <a:ext cx="11717332" cy="608709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Avoidance Maneuvers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, Code highlight</a:t>
            </a:r>
            <a:r>
              <a:rPr>
                <a:solidFill>
                  <a:schemeClr val="bg1"/>
                </a:solidFill>
              </a:rPr>
              <a:t>: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</p:txBody>
      </p:sp>
      <p:pic>
        <p:nvPicPr>
          <p:cNvPr id="86461191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099"/>
            <a:ext cx="2037717" cy="549226"/>
          </a:xfrm>
          <a:prstGeom prst="rect">
            <a:avLst/>
          </a:prstGeom>
        </p:spPr>
      </p:pic>
      <p:sp>
        <p:nvSpPr>
          <p:cNvPr id="111433894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sp>
        <p:nvSpPr>
          <p:cNvPr id="765900829" name=""/>
          <p:cNvSpPr/>
          <p:nvPr/>
        </p:nvSpPr>
        <p:spPr bwMode="auto">
          <a:xfrm flipH="0" flipV="0">
            <a:off x="496639" y="1874159"/>
            <a:ext cx="4269978" cy="2243616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Reusable Motion Functions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 Each maneuver encapsulates a safe recovery sequence using timed motor control.</a:t>
            </a:r>
            <a:endParaRPr/>
          </a:p>
        </p:txBody>
      </p:sp>
      <p:pic>
        <p:nvPicPr>
          <p:cNvPr id="41469857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6187617" y="979205"/>
            <a:ext cx="4352923" cy="56623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38508" name="Title 1"/>
          <p:cNvSpPr>
            <a:spLocks noGrp="1"/>
          </p:cNvSpPr>
          <p:nvPr>
            <p:ph type="title"/>
          </p:nvPr>
        </p:nvSpPr>
        <p:spPr bwMode="auto">
          <a:xfrm>
            <a:off x="410909" y="42549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Pit Avoidance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by IR Sensors</a:t>
            </a:r>
            <a:endParaRPr/>
          </a:p>
        </p:txBody>
      </p:sp>
      <p:sp>
        <p:nvSpPr>
          <p:cNvPr id="111085163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10515600" cy="458372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GB" sz="2800" b="0" i="0" u="none" strike="noStrike" cap="none" spc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Q&amp;A</a:t>
            </a:r>
            <a:endParaRPr sz="2800"/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Common Questions: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"Why does my robot turn when no obstacle is present?"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→ Check sensor sensitivity and add confidence threshold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"Can IR sensors work in sunlight?"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→ Yes, but may need sensitivity adjustment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"How to make robot faster while staying safe?"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→ Use adaptive speed based on obstacle distance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"What if both left and right sensors detect obstacles?"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→ Implement backup + 180° turn logic</a:t>
            </a:r>
            <a:endParaRPr lang="en-GB">
              <a:solidFill>
                <a:schemeClr val="bg1"/>
              </a:solidFill>
            </a:endParaRPr>
          </a:p>
        </p:txBody>
      </p:sp>
      <p:pic>
        <p:nvPicPr>
          <p:cNvPr id="86142201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/>
  <cp:revision>12</cp:revision>
  <dcterms:created xsi:type="dcterms:W3CDTF">2025-11-29T15:09:33Z</dcterms:created>
  <dcterms:modified xsi:type="dcterms:W3CDTF">2025-12-31T18:16:18Z</dcterms:modified>
</cp:coreProperties>
</file>