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71681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795522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09167334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5497617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73958704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08998896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7700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38179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02259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966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430552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2666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9B419-B9C3-D577-8C19-FD3877D7FA18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2785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56099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8339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DC8F55-8913-5ADD-F683-5905A2ABE2E8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633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9107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3379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468E9-34F9-791E-F479-EC2829BA31C4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4929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1467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972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CFB288B-EE3A-9E18-A2C4-D3977D439F90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8299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6680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0786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6638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35525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64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338BF6-1E0A-899B-B71D-612E876CC103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76846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734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2897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4E930B-CC78-BCF2-6077-004FA3907EBE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64673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85052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5854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279D7D-7FEB-E2C8-C5D8-A58238958DB0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452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57860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1606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E5CC9D-BC52-FCE1-0323-3305D1E4BB83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52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44999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877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95BC73-B050-16D8-DE06-1B810E50191F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9531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48841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1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EC1A6C-AC70-367B-5B30-8D4904925295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8148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8994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273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67F676-6707-268A-1870-435D6D1ED6B2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6654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6429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83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2FC249-CDC0-C528-02DA-138BEC6A3CAF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64540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93662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70724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551AC-64DF-F8F9-D80B-FEFFBCD0CF7A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2419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527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8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076D30-61DE-A4E1-0BE8-E3355223D533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0672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5453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117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92498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7182308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6925628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870166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4417738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3587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4731561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675410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9146371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4056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28716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1661323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34320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49040143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519464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7103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2976515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1540824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737188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3899058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826827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895677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19913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248345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7367882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844865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5448048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6904919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2571655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869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123100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85859547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4219000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9111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3477432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7783667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23400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9059460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266365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87971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466875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0566845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001921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809485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850677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00207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624899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316659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352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6776050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05103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7412282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038660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5889918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8085267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932907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154224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875687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008550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17060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4107343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1063300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50517515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754052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11161257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lang="en-GB" sz="3200">
                <a:solidFill>
                  <a:schemeClr val="bg1"/>
                </a:solidFill>
              </a:rPr>
              <a:t>Lab Session </a:t>
            </a:r>
            <a:r>
              <a:rPr lang="en-US" sz="3200">
                <a:solidFill>
                  <a:schemeClr val="bg1"/>
                </a:solidFill>
              </a:rPr>
              <a:t>2</a:t>
            </a:r>
            <a:r>
              <a:rPr lang="en-GB" sz="3200">
                <a:solidFill>
                  <a:schemeClr val="bg1"/>
                </a:solidFill>
              </a:rPr>
              <a:t> – 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206877007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6932715" name="Title 1"/>
          <p:cNvSpPr>
            <a:spLocks noGrp="1"/>
          </p:cNvSpPr>
          <p:nvPr>
            <p:ph type="title"/>
          </p:nvPr>
        </p:nvSpPr>
        <p:spPr bwMode="auto">
          <a:xfrm>
            <a:off x="838198" y="240498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Lab Session </a:t>
            </a:r>
            <a:r>
              <a:rPr lang="en-US">
                <a:solidFill>
                  <a:schemeClr val="bg1"/>
                </a:solidFill>
              </a:rPr>
              <a:t>2</a:t>
            </a:r>
            <a:r>
              <a:rPr lang="en-GB">
                <a:solidFill>
                  <a:schemeClr val="bg1"/>
                </a:solidFill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16147714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17217" y="1664649"/>
            <a:ext cx="10898892" cy="510967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EARNING OBJECTIVES &amp; AGENDA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Learning Objectives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Sensor</a:t>
            </a: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: Measure distance and detect obstacles.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Arduino Programming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: Control motors and process sensor data for autonomous navigation.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Obstacle Avoidance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: Develop program/algorithms to detect and avoid obstacles dynamically.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Key Outcomes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Hands-on programming with Arduino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Practical robotics: sensor integration and motor control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Algorithmic problem-solving for autonomous navigation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75255987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13790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74617" y="156100"/>
            <a:ext cx="10515600" cy="134291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50110551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35061" y="1451181"/>
            <a:ext cx="11070870" cy="500266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01218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pic>
        <p:nvPicPr>
          <p:cNvPr id="180725053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8" y="2266987"/>
            <a:ext cx="5087323" cy="3866576"/>
          </a:xfrm>
          <a:prstGeom prst="rect">
            <a:avLst/>
          </a:prstGeom>
        </p:spPr>
      </p:pic>
      <p:sp>
        <p:nvSpPr>
          <p:cNvPr id="1802544408" name=""/>
          <p:cNvSpPr/>
          <p:nvPr/>
        </p:nvSpPr>
        <p:spPr bwMode="auto">
          <a:xfrm flipH="0" flipV="0">
            <a:off x="4567568" y="3009007"/>
            <a:ext cx="1329014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1235848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1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081702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06530662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68476" y="1201753"/>
            <a:ext cx="11295961" cy="558146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Robot Car-1 (Sensors</a:t>
            </a:r>
            <a:r>
              <a:rPr lang="en-US" sz="2800">
                <a:solidFill>
                  <a:schemeClr val="bg1"/>
                </a:solidFill>
              </a:rPr>
              <a:t> edition</a:t>
            </a:r>
            <a:r>
              <a:rPr sz="2800">
                <a:solidFill>
                  <a:schemeClr val="bg1"/>
                </a:solidFill>
              </a:rPr>
              <a:t>)</a:t>
            </a:r>
            <a:r>
              <a:rPr lang="en-US" sz="2800">
                <a:solidFill>
                  <a:schemeClr val="bg1"/>
                </a:solidFill>
              </a:rPr>
              <a:t> -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Ultrasonic Sensor &amp; Servo Mechanism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Ultrasonic sensor mounted on a </a:t>
            </a:r>
            <a:r>
              <a:rPr sz="2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servo motor</a:t>
            </a: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for dynamic environment scanning</a:t>
            </a:r>
            <a:endParaRPr sz="2600">
              <a:solidFill>
                <a:schemeClr val="bg1"/>
              </a:solidFill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Servo enables </a:t>
            </a:r>
            <a:r>
              <a:rPr sz="2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angular rotation</a:t>
            </a: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, expanding the sensor’s field of view</a:t>
            </a:r>
            <a:endParaRPr sz="2600">
              <a:solidFill>
                <a:schemeClr val="bg1"/>
              </a:solidFill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Provides </a:t>
            </a:r>
            <a:r>
              <a:rPr sz="2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real-time distance measurements</a:t>
            </a: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detect obstacles</a:t>
            </a:r>
            <a:endParaRPr sz="2600">
              <a:solidFill>
                <a:schemeClr val="bg1"/>
              </a:solidFill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Enhances </a:t>
            </a:r>
            <a:r>
              <a:rPr sz="2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decision-making</a:t>
            </a: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for obstacle avoidance</a:t>
            </a:r>
            <a:endParaRPr sz="2600">
              <a:solidFill>
                <a:schemeClr val="bg1"/>
              </a:solidFill>
            </a:endParaRPr>
          </a:p>
          <a:p>
            <a:pPr>
              <a:defRPr/>
            </a:pPr>
            <a:r>
              <a:rPr sz="2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Enables intelligent and responsive navigation</a:t>
            </a:r>
            <a:endParaRPr/>
          </a:p>
        </p:txBody>
      </p:sp>
      <p:pic>
        <p:nvPicPr>
          <p:cNvPr id="93554397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211874263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44820" y="3694275"/>
            <a:ext cx="3169976" cy="3035536"/>
          </a:xfrm>
          <a:prstGeom prst="rect">
            <a:avLst/>
          </a:prstGeom>
        </p:spPr>
      </p:pic>
      <p:sp>
        <p:nvSpPr>
          <p:cNvPr id="2094596818" name=""/>
          <p:cNvSpPr/>
          <p:nvPr/>
        </p:nvSpPr>
        <p:spPr bwMode="auto">
          <a:xfrm flipH="0" flipV="0">
            <a:off x="327906" y="5096319"/>
            <a:ext cx="7552958" cy="1798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Keep the ultrasonic sensor permanently mounted. Repeated dismantling and re-fixing may cause damage; once mounted, avoid unnecessary handling.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744462" name="Title 1"/>
          <p:cNvSpPr>
            <a:spLocks noGrp="1"/>
          </p:cNvSpPr>
          <p:nvPr>
            <p:ph type="title"/>
          </p:nvPr>
        </p:nvSpPr>
        <p:spPr bwMode="auto">
          <a:xfrm>
            <a:off x="263807" y="-88641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1 – Car Basic Movements</a:t>
            </a:r>
            <a:endParaRPr/>
          </a:p>
        </p:txBody>
      </p:sp>
      <p:sp>
        <p:nvSpPr>
          <p:cNvPr id="10076361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1" y="926355"/>
            <a:ext cx="11196689" cy="57500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20352363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sp>
        <p:nvSpPr>
          <p:cNvPr id="103336130" name=""/>
          <p:cNvSpPr/>
          <p:nvPr/>
        </p:nvSpPr>
        <p:spPr bwMode="auto">
          <a:xfrm flipH="0" flipV="0">
            <a:off x="532222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99017473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321656379" name=""/>
          <p:cNvSpPr/>
          <p:nvPr/>
        </p:nvSpPr>
        <p:spPr bwMode="auto">
          <a:xfrm flipH="0" flipV="0">
            <a:off x="618816" y="3352619"/>
            <a:ext cx="4828223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466958564" name=""/>
          <p:cNvSpPr txBox="1"/>
          <p:nvPr/>
        </p:nvSpPr>
        <p:spPr bwMode="auto">
          <a:xfrm flipH="0" flipV="0">
            <a:off x="6383391" y="3429000"/>
            <a:ext cx="5334995" cy="2926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lines, floor edges, and pits.</a:t>
            </a:r>
            <a:endParaRPr sz="2800">
              <a:solidFill>
                <a:schemeClr val="bg1"/>
              </a:solidFill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walls and nearby obstacles.</a:t>
            </a:r>
            <a:endParaRPr sz="2800">
              <a:solidFill>
                <a:schemeClr val="bg1"/>
              </a:solidFill>
            </a:endParaRPr>
          </a:p>
          <a:p>
            <a:pPr marL="394022" indent="-394022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Times New Roman"/>
                <a:ea typeface="Times New Roman"/>
                <a:cs typeface="Times New Roman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977988598" name=""/>
          <p:cNvGraphicFramePr>
            <a:graphicFrameLocks xmlns:a="http://schemas.openxmlformats.org/drawingml/2006/main"/>
          </p:cNvGraphicFramePr>
          <p:nvPr/>
        </p:nvGraphicFramePr>
        <p:xfrm>
          <a:off x="618816" y="1378827"/>
          <a:ext cx="5817984" cy="205017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Ultrasound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 (Trig) , 11(Echo) 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 </a:t>
                      </a: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711774175" name=""/>
          <p:cNvGraphicFramePr>
            <a:graphicFrameLocks xmlns:a="http://schemas.openxmlformats.org/drawingml/2006/main"/>
          </p:cNvGraphicFramePr>
          <p:nvPr/>
        </p:nvGraphicFramePr>
        <p:xfrm>
          <a:off x="618816" y="3890113"/>
          <a:ext cx="4356110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6"/>
                <a:gridCol w="711560"/>
                <a:gridCol w="16898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graphicFrame>
        <p:nvGraphicFramePr>
          <p:cNvPr id="2014664402" name=""/>
          <p:cNvGraphicFramePr>
            <a:graphicFrameLocks xmlns:a="http://schemas.openxmlformats.org/drawingml/2006/main"/>
          </p:cNvGraphicFramePr>
          <p:nvPr/>
        </p:nvGraphicFramePr>
        <p:xfrm>
          <a:off x="609912" y="5292100"/>
          <a:ext cx="5486083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89"/>
                <a:gridCol w="24233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140274" name="Title 1"/>
          <p:cNvSpPr>
            <a:spLocks noGrp="1"/>
          </p:cNvSpPr>
          <p:nvPr>
            <p:ph type="title"/>
          </p:nvPr>
        </p:nvSpPr>
        <p:spPr bwMode="auto">
          <a:xfrm>
            <a:off x="704669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Lab Session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</a:t>
            </a: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29836720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50135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0000" lnSpcReduction="6000"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Schematics :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Ultrasonic Sensor (HC-SR04)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Function: Measures distance by emitting sound waves and measuring the time taken for the echo to return.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Range: Typically 2 cm to 400 cm.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Servo Motor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Used to rotate the sensor for a wider field of view.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Provides flexibility in scanning for obstacles.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DC Motors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Controls movement direction and speed.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Capable of forward, backward, left, and right movements.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Microcontroller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Acts as the brain of the robot, processing inputs from sensors and controlling outputs to motors.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Power Supply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	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Specifications of batteries used (e.g., 6V to 12V DC).</a:t>
            </a:r>
            <a:endParaRPr sz="2800" b="0" i="0" u="none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7470968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718169" name="Title 1"/>
          <p:cNvSpPr>
            <a:spLocks noGrp="1"/>
          </p:cNvSpPr>
          <p:nvPr>
            <p:ph type="title"/>
          </p:nvPr>
        </p:nvSpPr>
        <p:spPr bwMode="auto">
          <a:xfrm>
            <a:off x="704669" y="42547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Lab Session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2</a:t>
            </a:r>
            <a:r>
              <a:rPr lang="en-GB" sz="36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–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60443756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1"/>
            <a:ext cx="10515600" cy="518978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Distance Measurement Functionality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Function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Describe the </a:t>
            </a:r>
            <a:r>
              <a:rPr sz="2400" b="0" i="0" u="none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getDistance()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method: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Uses trigger and echo pins to measure distance.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Formula: </a:t>
            </a:r>
            <a:r>
              <a:rPr sz="2400" b="0" i="0" u="none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distance = duration * 0.034 / 2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(where duration is the time taken for the echo to return).</a:t>
            </a:r>
            <a:endParaRPr sz="200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endParaRPr sz="200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None/>
              <a:defRPr/>
            </a:pPr>
            <a:r>
              <a:rPr lang="en-GB" sz="2000" b="0" i="0" u="none" strike="noStrike" cap="none" spc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GitHub Link:</a:t>
            </a:r>
            <a:r>
              <a:rPr lang="en-GB" sz="2000" b="0" i="0" u="none" strike="noStrike" cap="none" spc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https:</a:t>
            </a:r>
            <a:r>
              <a:rPr lang="en-US" sz="2000" b="0" i="0" u="none" strike="noStrike" cap="none" spc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 </a:t>
            </a:r>
            <a:endParaRPr sz="2000" b="0" i="0" u="none" strike="noStrike" cap="none" spc="0">
              <a:solidFill>
                <a:schemeClr val="accent5"/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lang="en-US" sz="2000" b="0" i="0" u="none" strike="noStrike" cap="none" spc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	</a:t>
            </a:r>
            <a:r>
              <a:rPr lang="en-GB" sz="2000" b="0" i="0" u="none" strike="noStrike" cap="none" spc="0">
                <a:solidFill>
                  <a:schemeClr val="accent5"/>
                </a:solidFill>
                <a:latin typeface="Aptos"/>
                <a:ea typeface="Aptos"/>
                <a:cs typeface="Aptos"/>
              </a:rPr>
              <a:t>//github.com/info-zas/zas-robotics-car-1-	sensors/blob/main/04_BasicFunctionalTests/00_BasicTests/</a:t>
            </a:r>
            <a:endParaRPr sz="200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103375658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84416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51148" y="42546"/>
            <a:ext cx="10515600" cy="1159789"/>
          </a:xfrm>
        </p:spPr>
        <p:txBody>
          <a:bodyPr/>
          <a:lstStyle/>
          <a:p>
            <a:pPr>
              <a:defRPr/>
            </a:pP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21684516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14915" y="895730"/>
            <a:ext cx="10515600" cy="58498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Algorithm ,Obstacle Detection Logic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19140081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1138587805" name=""/>
          <p:cNvGraphicFramePr>
            <a:graphicFrameLocks xmlns:a="http://schemas.openxmlformats.org/drawingml/2006/main"/>
          </p:cNvGraphicFramePr>
          <p:nvPr/>
        </p:nvGraphicFramePr>
        <p:xfrm>
          <a:off x="697563" y="1310535"/>
          <a:ext cx="9438010" cy="3665683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85061"/>
                <a:gridCol w="1517515"/>
                <a:gridCol w="2252608"/>
                <a:gridCol w="1885061"/>
                <a:gridCol w="1885061"/>
              </a:tblGrid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Distance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Action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Decision Rule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 sz="1400"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Path Clear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&gt;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at 90°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 sz="1400"/>
                    </a:p>
                  </a:txBody>
                  <a:tcPr vert="horz"/>
                </a:tc>
              </a:tr>
              <a:tr h="36114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Scan 30° → 90° → 150°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Measure left &amp; right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+ SCAN</a:t>
                      </a:r>
                      <a:endParaRPr sz="1400"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Critical Obstacle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25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Scan 30° → 90° → 150°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Immediate danger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BACKUP + SCAN</a:t>
                      </a:r>
                      <a:endParaRPr sz="1400"/>
                    </a:p>
                  </a:txBody>
                  <a:tcPr vert="horz"/>
                </a:tc>
              </a:tr>
              <a:tr h="3528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Clear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After scan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&gt; Left AND &gt; 35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 sz="1400"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Clear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After scan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&gt; Right AND &gt; 35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 sz="1400"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Blocked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After scan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&amp; Right &lt; 35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BACKUP + LONG TURN</a:t>
                      </a:r>
                      <a:endParaRPr sz="1400"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Equal / Uncertain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≤ 50 cm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After scan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Default behavior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 (default)</a:t>
                      </a:r>
                      <a:endParaRPr sz="1400"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449565928" name=""/>
          <p:cNvGraphicFramePr>
            <a:graphicFrameLocks xmlns:a="http://schemas.openxmlformats.org/drawingml/2006/main"/>
          </p:cNvGraphicFramePr>
          <p:nvPr/>
        </p:nvGraphicFramePr>
        <p:xfrm>
          <a:off x="697563" y="5425081"/>
          <a:ext cx="5440113" cy="12318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5818"/>
                <a:gridCol w="1426869"/>
                <a:gridCol w="259472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Angle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 sz="1400"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right clearance</a:t>
                      </a:r>
                      <a:endParaRPr sz="1400"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Center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obstacle detection</a:t>
                      </a:r>
                      <a:endParaRPr sz="1400"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150°</a:t>
                      </a:r>
                      <a:endParaRPr sz="14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Check left clearance</a:t>
                      </a:r>
                      <a:endParaRPr sz="1400"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3972274" name=""/>
          <p:cNvSpPr/>
          <p:nvPr/>
        </p:nvSpPr>
        <p:spPr bwMode="auto">
          <a:xfrm flipH="0" flipV="0">
            <a:off x="697563" y="4976219"/>
            <a:ext cx="3926722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Servo Scan Positions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45761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51148" y="42546"/>
            <a:ext cx="10515600" cy="1159789"/>
          </a:xfrm>
        </p:spPr>
        <p:txBody>
          <a:bodyPr/>
          <a:lstStyle/>
          <a:p>
            <a:pPr>
              <a:defRPr/>
            </a:pP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2007548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74425" y="1005033"/>
            <a:ext cx="10515600" cy="58498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Algorithm ,</a:t>
            </a: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Distance Thresholds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84808616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564158761" name=""/>
          <p:cNvGraphicFramePr>
            <a:graphicFrameLocks xmlns:a="http://schemas.openxmlformats.org/drawingml/2006/main"/>
          </p:cNvGraphicFramePr>
          <p:nvPr/>
        </p:nvGraphicFramePr>
        <p:xfrm>
          <a:off x="613670" y="1619332"/>
          <a:ext cx="5218429" cy="19329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3203031"/>
                <a:gridCol w="2012160"/>
                <a:gridCol w="3200978"/>
              </a:tblGrid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Parameter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Value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</a:t>
                      </a:r>
                      <a:endParaRPr sz="2000"/>
                    </a:p>
                  </a:txBody>
                  <a:tcPr vert="horz"/>
                </a:tc>
              </a:tr>
              <a:tr h="35481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SAFE_DISTANCE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50 cm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Trigger obstacle handling</a:t>
                      </a:r>
                      <a:endParaRPr sz="2000"/>
                    </a:p>
                  </a:txBody>
                  <a:tcPr vert="horz"/>
                </a:tc>
              </a:tr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CRITICAL_DISTANCE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25 cm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Emergency backup</a:t>
                      </a:r>
                      <a:endParaRPr sz="2000"/>
                    </a:p>
                  </a:txBody>
                  <a:tcPr vert="horz"/>
                </a:tc>
              </a:tr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MIN_CLEARANCE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35 cm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 turning decision</a:t>
                      </a:r>
                      <a:endParaRPr sz="2000"/>
                    </a:p>
                  </a:txBody>
                  <a:tcPr vert="horz"/>
                </a:tc>
              </a:tr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MOTOR_SPEED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 (PWM)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Normal motion speed</a:t>
                      </a:r>
                      <a:endParaRPr sz="2000"/>
                    </a:p>
                  </a:txBody>
                  <a:tcPr vert="horz"/>
                </a:tc>
              </a:tr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TURN_DELAY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400 ms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duration</a:t>
                      </a:r>
                      <a:endParaRPr sz="2000"/>
                    </a:p>
                  </a:txBody>
                  <a:tcPr vert="horz"/>
                </a:tc>
              </a:tr>
              <a:tr h="32596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BACKUP_DELAY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300 ms</a:t>
                      </a:r>
                      <a:endParaRPr sz="20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20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Reverse duration</a:t>
                      </a:r>
                      <a:endParaRPr sz="20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91719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615" y="-154755"/>
            <a:ext cx="10515600" cy="1159789"/>
          </a:xfrm>
        </p:spPr>
        <p:txBody>
          <a:bodyPr/>
          <a:lstStyle/>
          <a:p>
            <a:pPr>
              <a:defRPr/>
            </a:pP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24046333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08974" y="552205"/>
            <a:ext cx="11900054" cy="63026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Flowchart ,Obstacle Detection Logic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76478010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83373722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808688" y="583435"/>
            <a:ext cx="4982704" cy="62402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00393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0615" y="-154755"/>
            <a:ext cx="10515600" cy="1159789"/>
          </a:xfrm>
        </p:spPr>
        <p:txBody>
          <a:bodyPr/>
          <a:lstStyle/>
          <a:p>
            <a:pPr>
              <a:defRPr/>
            </a:pP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36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36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70212307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45972" y="647031"/>
            <a:ext cx="11900054" cy="630267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Code Highlight ,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Main Control Logic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                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Scanning &amp; Decision Logic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5516546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35963802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62131" y="1124262"/>
            <a:ext cx="5153024" cy="5572439"/>
          </a:xfrm>
          <a:prstGeom prst="rect">
            <a:avLst/>
          </a:prstGeom>
        </p:spPr>
      </p:pic>
      <p:pic>
        <p:nvPicPr>
          <p:cNvPr id="80947519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6464508" y="1124262"/>
            <a:ext cx="5010149" cy="557243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068921" name="Title 1"/>
          <p:cNvSpPr>
            <a:spLocks noGrp="1"/>
          </p:cNvSpPr>
          <p:nvPr>
            <p:ph type="title"/>
          </p:nvPr>
        </p:nvSpPr>
        <p:spPr bwMode="auto">
          <a:xfrm>
            <a:off x="295034" y="-91532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47012353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8190" y="1061802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STANDBY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Safety first during programming!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WALL FOLLOWING MODE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uses the same sensor array as 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Switch must be in "Line Following" position for downward sensors to work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position = sensors won't be read correctly</a:t>
            </a:r>
            <a:endParaRPr/>
          </a:p>
        </p:txBody>
      </p:sp>
      <p:pic>
        <p:nvPicPr>
          <p:cNvPr id="208079659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324122920" name=""/>
          <p:cNvSpPr txBox="1"/>
          <p:nvPr/>
        </p:nvSpPr>
        <p:spPr bwMode="auto">
          <a:xfrm flipH="0" flipV="0">
            <a:off x="6004378" y="3246120"/>
            <a:ext cx="183240" cy="3657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5425351" name="Title 1"/>
          <p:cNvSpPr>
            <a:spLocks noGrp="1"/>
          </p:cNvSpPr>
          <p:nvPr>
            <p:ph type="title"/>
          </p:nvPr>
        </p:nvSpPr>
        <p:spPr bwMode="auto">
          <a:xfrm>
            <a:off x="295034" y="-91532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Lab Session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2</a:t>
            </a: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– </a:t>
            </a: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47276654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47225" y="109303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</a:t>
            </a:r>
            <a:r>
              <a:rPr lang="en-US" sz="26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STANDBY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LINE FOLLOWING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Upload your pit avoidance program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Wait for "Upload Complete" message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7: Disconnect USB cable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Verify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-&gt;  WALL FOLLOWING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activate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sz="2600" b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Press </a:t>
            </a:r>
            <a:r>
              <a:rPr sz="2600" b="0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RESET 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button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Robot car-1 starts pit avoidance program</a:t>
            </a:r>
            <a:endParaRPr/>
          </a:p>
        </p:txBody>
      </p:sp>
      <p:pic>
        <p:nvPicPr>
          <p:cNvPr id="41232406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3979634" name=""/>
          <p:cNvSpPr txBox="1"/>
          <p:nvPr/>
        </p:nvSpPr>
        <p:spPr bwMode="auto">
          <a:xfrm flipH="0" flipV="0">
            <a:off x="6004378" y="3246120"/>
            <a:ext cx="183240" cy="36575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33297" name="Title 1"/>
          <p:cNvSpPr>
            <a:spLocks noGrp="1"/>
          </p:cNvSpPr>
          <p:nvPr>
            <p:ph type="title"/>
          </p:nvPr>
        </p:nvSpPr>
        <p:spPr bwMode="auto">
          <a:xfrm>
            <a:off x="838198" y="156100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4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Safety Guidelines</a:t>
            </a:r>
            <a:endParaRPr/>
          </a:p>
        </p:txBody>
      </p:sp>
      <p:sp>
        <p:nvSpPr>
          <p:cNvPr id="16977246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Avoid Accidents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Conduct tests in a safe, open environment to minimize the risk of collisions and accidents.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Monitor Operations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Always have manual supervision during operation to ensure immediate intervention if necessary.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Slow Speed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Operate the robot at reduced speeds to facilitate learning and prevent accidents, rather than racing.</a:t>
            </a:r>
            <a:endParaRPr/>
          </a:p>
        </p:txBody>
      </p:sp>
      <p:pic>
        <p:nvPicPr>
          <p:cNvPr id="157605761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86765" name="Title 1"/>
          <p:cNvSpPr>
            <a:spLocks noGrp="1"/>
          </p:cNvSpPr>
          <p:nvPr>
            <p:ph type="title"/>
          </p:nvPr>
        </p:nvSpPr>
        <p:spPr bwMode="auto">
          <a:xfrm>
            <a:off x="758082" y="156101"/>
            <a:ext cx="10515600" cy="1325562"/>
          </a:xfrm>
        </p:spPr>
        <p:txBody>
          <a:bodyPr/>
          <a:lstStyle/>
          <a:p>
            <a:pPr>
              <a:defRPr/>
            </a:pPr>
            <a:r>
              <a:rPr sz="3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Common Troubleshooting</a:t>
            </a:r>
            <a:endParaRPr/>
          </a:p>
        </p:txBody>
      </p:sp>
      <p:sp>
        <p:nvSpPr>
          <p:cNvPr id="16636455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01751"/>
            <a:ext cx="10515600" cy="473486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endParaRPr sz="2000">
              <a:solidFill>
                <a:schemeClr val="bg1"/>
              </a:solidFill>
            </a:endParaRPr>
          </a:p>
          <a:p>
            <a:pPr marL="0" marR="0" indent="0">
              <a:spcBef>
                <a:spcPts val="8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Robot moves in circles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Check motor polarity (swap IN1/IN2 if needed)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Calibrate motor speeds (add trim values)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Motors don't move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Verify power supply (VM to battery)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motor driver connections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spcBef>
                <a:spcPts val="599"/>
              </a:spcBef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Test with higher PWM values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marR="0" indent="0">
              <a:spcBef>
                <a:spcPts val="1199"/>
              </a:spcBef>
              <a:defRPr/>
            </a:pPr>
            <a:r>
              <a:rPr sz="28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OLED display blank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Confirm I2C address (0x3C or 0x3D)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1">
              <a:defRPr/>
            </a:pP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8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SDA/SCL connections</a:t>
            </a:r>
            <a:endParaRPr sz="1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0457086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759987" name="Title 1"/>
          <p:cNvSpPr>
            <a:spLocks noGrp="1"/>
          </p:cNvSpPr>
          <p:nvPr>
            <p:ph type="title"/>
          </p:nvPr>
        </p:nvSpPr>
        <p:spPr bwMode="auto">
          <a:xfrm>
            <a:off x="838198" y="12618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Applications</a:t>
            </a:r>
            <a:endParaRPr/>
          </a:p>
        </p:txBody>
      </p:sp>
      <p:sp>
        <p:nvSpPr>
          <p:cNvPr id="17953887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22475" y="1272967"/>
            <a:ext cx="10708434" cy="54479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Line Following Robot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Uses IR sensors + basic movements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Adjusts left/right to stay on the line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Obstacle Avoidance Robot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Ultrasonic sensor detects obstacles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Moves backward + turns to navigate around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Pit Avoidance Robot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detects edges or pits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Uses simple avoidance or wall-following style logic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Wall-Following Car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Follows a wall or boundary using distance sensors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Continuously corrects path in real time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Autonomous Delivery Robot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Uses basic movements + higher-level navigation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Suitable for warehouse or hospital delivery tasks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49104341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324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380985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br>
              <a:rPr lang="en-GB">
                <a:solidFill>
                  <a:schemeClr val="bg1"/>
                </a:solidFill>
              </a:rPr>
            </a:br>
            <a:br>
              <a:rPr lang="en-GB">
                <a:solidFill>
                  <a:schemeClr val="bg1"/>
                </a:solidFill>
              </a:rPr>
            </a:b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/>
          </a:p>
        </p:txBody>
      </p:sp>
      <p:sp>
        <p:nvSpPr>
          <p:cNvPr id="5816757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172135645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10</cp:revision>
  <dcterms:created xsi:type="dcterms:W3CDTF">2025-11-29T15:09:33Z</dcterms:created>
  <dcterms:modified xsi:type="dcterms:W3CDTF">2025-12-19T21:07:19Z</dcterms:modified>
</cp:coreProperties>
</file>