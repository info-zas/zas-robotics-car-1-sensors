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1852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323804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6884589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200528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2955653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003268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037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81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459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603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742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29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09B419-B9C3-D577-8C19-FD3877D7FA1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4730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622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DC8F55-8913-5ADD-F683-5905A2ABE2E8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412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0713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347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468E9-34F9-791E-F479-EC2829BA31C4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948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69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75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FB288B-EE3A-9E18-A2C4-D3977D439F90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0705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4934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9934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F5FBB-66D7-9EF0-C7B5-5C7D211EACA4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3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56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545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338BF6-1E0A-899B-B71D-612E876CC103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560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18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089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4E930B-CC78-BCF2-6077-004FA3907EBE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835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815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204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279D7D-7FEB-E2C8-C5D8-A58238958DB0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571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7219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78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E5CC9D-BC52-FCE1-0323-3305D1E4BB83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436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1450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748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95BC73-B050-16D8-DE06-1B810E50191F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852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905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1203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EC1A6C-AC70-367B-5B30-8D4904925295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53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9702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6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67F676-6707-268A-1870-435D6D1ED6B2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6408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0116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386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2FC249-CDC0-C528-02DA-138BEC6A3CAF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875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4230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72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0551AC-64DF-F8F9-D80B-FEFFBCD0CF7A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585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742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3762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076D30-61DE-A4E1-0BE8-E3355223D533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32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100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54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84958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8549360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8983080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0587746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645573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4576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7129641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959798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46860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68755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29406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32873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628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9460610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305657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1216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009614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821262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056359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429200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8734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97254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073152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22545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1933756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931984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7819121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87037729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8703399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1400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8605797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59074594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6282003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09312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100163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7291697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8235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1169729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490773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8388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6830148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882619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38095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6479963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98203585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025713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10631480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83866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507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4100457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53432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895815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0142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947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0859457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046152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5289543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835224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62654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782417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860935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36991432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7571412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9371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90998718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8" y="3602036"/>
            <a:ext cx="9144000" cy="23444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r>
              <a:rPr lang="en-GB" sz="3200">
                <a:solidFill>
                  <a:schemeClr val="accent5"/>
                </a:solidFill>
              </a:rPr>
              <a:t>Robot Car-</a:t>
            </a:r>
            <a:r>
              <a:rPr lang="en-US" sz="3200">
                <a:solidFill>
                  <a:schemeClr val="accent5"/>
                </a:solidFill>
              </a:rPr>
              <a:t>1</a:t>
            </a:r>
            <a:r>
              <a:rPr lang="en-GB" sz="3200">
                <a:solidFill>
                  <a:schemeClr val="accent5"/>
                </a:solidFill>
              </a:rPr>
              <a:t> </a:t>
            </a:r>
            <a:r>
              <a:rPr lang="en-US" sz="3200">
                <a:solidFill>
                  <a:schemeClr val="accent5"/>
                </a:solidFill>
              </a:rPr>
              <a:t>Sensor</a:t>
            </a:r>
            <a:endParaRPr/>
          </a:p>
          <a:p>
            <a:pPr>
              <a:defRPr/>
            </a:pP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168205718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774076" name="Title 1"/>
          <p:cNvSpPr>
            <a:spLocks noGrp="1"/>
          </p:cNvSpPr>
          <p:nvPr>
            <p:ph type="title"/>
          </p:nvPr>
        </p:nvSpPr>
        <p:spPr bwMode="auto">
          <a:xfrm>
            <a:off x="517216" y="156101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147428715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7217" y="1664649"/>
            <a:ext cx="10898892" cy="510967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L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EARNING OBJECTIVES &amp; AGENDA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Learning Objectives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Sensor</a:t>
            </a: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: Measure distance and detect obstacles.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Arduino Programming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: Control motors and process sensor data for autonomous navigation.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Obstacle Avoidance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: Develop program/algorithms to detect and avoid obstacles dynamically.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Key Outcomes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Hands-on programming with Arduino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Practical robotics: sensor integration and motor control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Algorithmic problem-solving for autonomous navigation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7038420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36325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74617" y="156100"/>
            <a:ext cx="10515600" cy="134291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210026241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35061" y="1451181"/>
            <a:ext cx="11070870" cy="500266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7805418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pic>
        <p:nvPicPr>
          <p:cNvPr id="67120266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25208" y="2266987"/>
            <a:ext cx="5087323" cy="3866576"/>
          </a:xfrm>
          <a:prstGeom prst="rect">
            <a:avLst/>
          </a:prstGeom>
        </p:spPr>
      </p:pic>
      <p:sp>
        <p:nvSpPr>
          <p:cNvPr id="1659582034" name=""/>
          <p:cNvSpPr/>
          <p:nvPr/>
        </p:nvSpPr>
        <p:spPr bwMode="auto">
          <a:xfrm flipH="0" flipV="0">
            <a:off x="4567568" y="3009007"/>
            <a:ext cx="1329014" cy="16913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7160887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96584" y="1914511"/>
            <a:ext cx="5606709" cy="457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389233" name="Title 1"/>
          <p:cNvSpPr>
            <a:spLocks noGrp="1"/>
          </p:cNvSpPr>
          <p:nvPr>
            <p:ph type="title"/>
          </p:nvPr>
        </p:nvSpPr>
        <p:spPr bwMode="auto">
          <a:xfrm>
            <a:off x="327905" y="4254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117557579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68476" y="1201753"/>
            <a:ext cx="11295961" cy="558146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Robot Car-1 (Sensors</a:t>
            </a:r>
            <a:r>
              <a:rPr lang="en-US" sz="2800">
                <a:solidFill>
                  <a:schemeClr val="bg1"/>
                </a:solidFill>
              </a:rPr>
              <a:t> edition</a:t>
            </a:r>
            <a:r>
              <a:rPr sz="2800">
                <a:solidFill>
                  <a:schemeClr val="bg1"/>
                </a:solidFill>
              </a:rPr>
              <a:t>)</a:t>
            </a:r>
            <a:r>
              <a:rPr lang="en-US" sz="2800">
                <a:solidFill>
                  <a:schemeClr val="bg1"/>
                </a:solidFill>
              </a:rPr>
              <a:t> -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Ultrasonic Sensor &amp; Servo Mechanism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Ultrasonic sensor mounted on a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servo motor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for dynamic environment scanning</a:t>
            </a:r>
            <a:endParaRPr sz="2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Servo enables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angular rotation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, expanding the sensor’s field of view</a:t>
            </a:r>
            <a:endParaRPr sz="2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Provides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real-time distance measurements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to detect obstacles</a:t>
            </a:r>
            <a:endParaRPr sz="2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Enhances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decision-making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for obstacle avoidance</a:t>
            </a:r>
            <a:endParaRPr sz="2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Enables intelligent and responsive navigation</a:t>
            </a:r>
            <a:endParaRPr/>
          </a:p>
        </p:txBody>
      </p:sp>
      <p:pic>
        <p:nvPicPr>
          <p:cNvPr id="31108061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pic>
        <p:nvPicPr>
          <p:cNvPr id="16206058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944820" y="3694275"/>
            <a:ext cx="3169976" cy="3035536"/>
          </a:xfrm>
          <a:prstGeom prst="rect">
            <a:avLst/>
          </a:prstGeom>
        </p:spPr>
      </p:pic>
      <p:sp>
        <p:nvSpPr>
          <p:cNvPr id="291557125" name=""/>
          <p:cNvSpPr/>
          <p:nvPr/>
        </p:nvSpPr>
        <p:spPr bwMode="auto">
          <a:xfrm flipH="0" flipV="0">
            <a:off x="327906" y="5096319"/>
            <a:ext cx="7552958" cy="1798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Keep the ultrasonic sensor permanently mounted. Repeated dismantling and re-fixing may cause damage; once mounted, avoid unnecessary handling.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66218" name="Title 1"/>
          <p:cNvSpPr>
            <a:spLocks noGrp="1"/>
          </p:cNvSpPr>
          <p:nvPr>
            <p:ph type="title"/>
          </p:nvPr>
        </p:nvSpPr>
        <p:spPr bwMode="auto">
          <a:xfrm>
            <a:off x="474570" y="-88641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97099321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1" y="926355"/>
            <a:ext cx="11196689" cy="57500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Arduino Component–Pin Mapping Table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95490323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2073329611" name=""/>
          <p:cNvSpPr/>
          <p:nvPr/>
        </p:nvSpPr>
        <p:spPr bwMode="auto">
          <a:xfrm flipH="0" flipV="0">
            <a:off x="532222" y="4486541"/>
            <a:ext cx="6749133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Pin Configuration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070700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512583787" name=""/>
          <p:cNvSpPr/>
          <p:nvPr/>
        </p:nvSpPr>
        <p:spPr bwMode="auto">
          <a:xfrm flipH="0" flipV="0">
            <a:off x="618816" y="3352619"/>
            <a:ext cx="4828223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Driver Pin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Configuration</a:t>
            </a:r>
            <a:endParaRPr/>
          </a:p>
        </p:txBody>
      </p:sp>
      <p:sp>
        <p:nvSpPr>
          <p:cNvPr id="1988388558" name=""/>
          <p:cNvSpPr txBox="1"/>
          <p:nvPr/>
        </p:nvSpPr>
        <p:spPr bwMode="auto">
          <a:xfrm flipH="0" flipV="0">
            <a:off x="6383391" y="3429000"/>
            <a:ext cx="5334995" cy="2926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Downward IR sensors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detect lines, floor edges, and pits.</a:t>
            </a:r>
            <a:endParaRPr sz="2800">
              <a:solidFill>
                <a:schemeClr val="bg1"/>
              </a:solidFill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while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 IR sensors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detect walls and nearby obstacles.</a:t>
            </a:r>
            <a:endParaRPr sz="2800">
              <a:solidFill>
                <a:schemeClr val="bg1"/>
              </a:solidFill>
            </a:endParaRPr>
          </a:p>
          <a:p>
            <a:pPr marL="394022" indent="-394022" algn="l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 the “</a:t>
            </a:r>
            <a:r>
              <a:rPr sz="2800" b="1" i="1" u="none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Line/Wall Following Switch(2)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to select the mode.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02365343" name=""/>
          <p:cNvGraphicFramePr>
            <a:graphicFrameLocks xmlns:a="http://schemas.openxmlformats.org/drawingml/2006/main"/>
          </p:cNvGraphicFramePr>
          <p:nvPr/>
        </p:nvGraphicFramePr>
        <p:xfrm>
          <a:off x="618816" y="1378827"/>
          <a:ext cx="5817984" cy="205017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100485"/>
                <a:gridCol w="1891783"/>
                <a:gridCol w="1813015"/>
              </a:tblGrid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Pin(s)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</a:t>
                      </a:r>
                      <a:endParaRPr/>
                    </a:p>
                  </a:txBody>
                  <a:tcPr vert="horz"/>
                </a:tc>
              </a:tr>
              <a:tr h="5227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Sensors (Left / LC / RC / Right)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A0, A1, A2, 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Obstacle detection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(IN1–IN4)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8, 7, 4, 3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Direction control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(ENA, ENB)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6, 5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control (PWM)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 (SDA, 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A4 (SDA), A5 (SCL)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Display interface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Ultrasound</a:t>
                      </a:r>
                      <a:endParaRPr sz="12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(Trig) , 11(Echo) 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 </a:t>
                      </a: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detection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1681829340" name=""/>
          <p:cNvGraphicFramePr>
            <a:graphicFrameLocks xmlns:a="http://schemas.openxmlformats.org/drawingml/2006/main"/>
          </p:cNvGraphicFramePr>
          <p:nvPr/>
        </p:nvGraphicFramePr>
        <p:xfrm>
          <a:off x="618816" y="3890113"/>
          <a:ext cx="4356110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08690"/>
                <a:gridCol w="533356"/>
                <a:gridCol w="711560"/>
                <a:gridCol w="1689800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(Speed Control)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/>
                    </a:p>
                  </a:txBody>
                  <a:tcPr vert="horz" anchor="ctr"/>
                </a:tc>
              </a:tr>
            </a:tbl>
          </a:graphicData>
        </a:graphic>
      </p:graphicFrame>
      <p:graphicFrame>
        <p:nvGraphicFramePr>
          <p:cNvPr id="1398299378" name=""/>
          <p:cNvGraphicFramePr>
            <a:graphicFrameLocks xmlns:a="http://schemas.openxmlformats.org/drawingml/2006/main"/>
          </p:cNvGraphicFramePr>
          <p:nvPr/>
        </p:nvGraphicFramePr>
        <p:xfrm>
          <a:off x="609912" y="5292100"/>
          <a:ext cx="5486083" cy="13842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846593"/>
                <a:gridCol w="1203489"/>
                <a:gridCol w="2423300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(L)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edge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(LC)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(RC)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(R)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edge detection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030676" name="Title 1"/>
          <p:cNvSpPr>
            <a:spLocks noGrp="1"/>
          </p:cNvSpPr>
          <p:nvPr>
            <p:ph type="title"/>
          </p:nvPr>
        </p:nvSpPr>
        <p:spPr bwMode="auto">
          <a:xfrm>
            <a:off x="838197" y="42548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145955424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246260"/>
            <a:ext cx="10515600" cy="55013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Schematics :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Ultrasonic Sensor (HC-SR04)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Function: Measures distance by emitting sound waves and measuring the time taken for the echo to return.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Range: Typically 2 cm to 400 cm.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Servo Motor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Used to rotate the sensor for a wider field of view.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Provides flexibility in scanning for obstacles.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DC Motors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Controls movement direction and speed.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Capable of forward, backward, left, and right movements.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Arduino Microcontroller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Acts as the brain of the robot, processing inputs from sensors and controlling outputs to motors.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Power Supply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Specifications of batteries used (e.g., 6V to 12V DC).</a:t>
            </a:r>
            <a:endParaRPr sz="2800" b="0" i="0" u="none">
              <a:solidFill>
                <a:schemeClr val="bg1"/>
              </a:solidFill>
              <a:latin typeface="Aptos"/>
              <a:cs typeface="Aptos"/>
            </a:endParaRPr>
          </a:p>
        </p:txBody>
      </p:sp>
      <p:pic>
        <p:nvPicPr>
          <p:cNvPr id="23553761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850666" name="Title 1"/>
          <p:cNvSpPr>
            <a:spLocks noGrp="1"/>
          </p:cNvSpPr>
          <p:nvPr>
            <p:ph type="title"/>
          </p:nvPr>
        </p:nvSpPr>
        <p:spPr bwMode="auto">
          <a:xfrm>
            <a:off x="704669" y="42547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119761815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246261"/>
            <a:ext cx="10515600" cy="518978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Measurement Functionality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Function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Describe the </a:t>
            </a:r>
            <a:r>
              <a:rPr sz="2400" b="0" i="0" u="none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getDistance()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method: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Uses trigger and echo pins to measure distance.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Formula: </a:t>
            </a:r>
            <a:r>
              <a:rPr sz="2400" b="0" i="0" u="none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distance = duration * 0.034 / 2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(where duration is the time taken for the echo to return).</a:t>
            </a:r>
            <a:endParaRPr sz="2000">
              <a:solidFill>
                <a:schemeClr val="bg1"/>
              </a:solidFill>
              <a:latin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endParaRPr sz="2000">
              <a:solidFill>
                <a:schemeClr val="bg1"/>
              </a:solidFill>
              <a:latin typeface="Aptos"/>
              <a:cs typeface="Aptos"/>
            </a:endParaRPr>
          </a:p>
          <a:p>
            <a:pPr marL="0" indent="0">
              <a:buNone/>
              <a:defRPr/>
            </a:pPr>
            <a:r>
              <a:rPr lang="en-GB" sz="2000" b="0" i="0" u="none" strike="noStrike" cap="none" spc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GitHub Link:</a:t>
            </a:r>
            <a:r>
              <a:rPr lang="en-GB" sz="20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https:</a:t>
            </a:r>
            <a:r>
              <a:rPr lang="en-US" sz="20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 </a:t>
            </a:r>
            <a:endParaRPr sz="2000" b="0" i="0" u="none" strike="noStrike" cap="none" spc="0">
              <a:solidFill>
                <a:schemeClr val="accent5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	</a:t>
            </a:r>
            <a:r>
              <a:rPr lang="en-GB" sz="20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//github.com/info-zas/zas-robotics-car-1-	sensors/blob/main/04_BasicFunctionalTests/00_BasicTests/</a:t>
            </a:r>
            <a:endParaRPr sz="2000">
              <a:solidFill>
                <a:schemeClr val="bg1"/>
              </a:solidFill>
              <a:latin typeface="Aptos"/>
              <a:cs typeface="Aptos"/>
            </a:endParaRPr>
          </a:p>
        </p:txBody>
      </p:sp>
      <p:pic>
        <p:nvPicPr>
          <p:cNvPr id="212010703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18602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51148" y="42546"/>
            <a:ext cx="10515600" cy="1159789"/>
          </a:xfrm>
        </p:spPr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201038013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14914" y="895730"/>
            <a:ext cx="10515600" cy="584984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Algorithm ,Obstacle Detection Logic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78386576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graphicFrame>
        <p:nvGraphicFramePr>
          <p:cNvPr id="1666809819" name=""/>
          <p:cNvGraphicFramePr>
            <a:graphicFrameLocks xmlns:a="http://schemas.openxmlformats.org/drawingml/2006/main"/>
          </p:cNvGraphicFramePr>
          <p:nvPr/>
        </p:nvGraphicFramePr>
        <p:xfrm>
          <a:off x="697563" y="1310535"/>
          <a:ext cx="9438010" cy="3665683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885061"/>
                <a:gridCol w="1517515"/>
                <a:gridCol w="2252608"/>
                <a:gridCol w="1885061"/>
                <a:gridCol w="1885061"/>
              </a:tblGrid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Front Distance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Servo Action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Decision Rule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Action</a:t>
                      </a:r>
                      <a:endParaRPr sz="1400"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Path Clear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&gt; 50 cm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Servo at 90°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obstacle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</a:t>
                      </a:r>
                      <a:endParaRPr sz="1400"/>
                    </a:p>
                  </a:txBody>
                  <a:tcPr vert="horz"/>
                </a:tc>
              </a:tr>
              <a:tr h="36114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Detected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≤ 50 cm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Scan 30° → 90° → 150°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 left &amp; right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STOP + SCAN</a:t>
                      </a:r>
                      <a:endParaRPr sz="1400"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Critical Obstacle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≤ 25 cm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Scan 30° → 90° → 150°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Immediate danger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BACKUP + SCAN</a:t>
                      </a:r>
                      <a:endParaRPr sz="1400"/>
                    </a:p>
                  </a:txBody>
                  <a:tcPr vert="horz"/>
                </a:tc>
              </a:tr>
              <a:tr h="3528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Clear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≤ 50 cm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After scan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&gt; Left AND &gt; 35 cm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RIGHT</a:t>
                      </a:r>
                      <a:endParaRPr sz="1400"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Clear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≤ 50 cm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After scan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&gt; Right AND &gt; 35 cm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LEFT</a:t>
                      </a:r>
                      <a:endParaRPr sz="1400"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Both Blocked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≤ 50 cm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After scan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&amp; Right &lt; 35 cm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BACKUP + LONG TURN</a:t>
                      </a:r>
                      <a:endParaRPr sz="1400"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Equal / Uncertain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≤ 50 cm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After scan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Default behavior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RIGHT (default)</a:t>
                      </a:r>
                      <a:endParaRPr sz="1400"/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842642341" name=""/>
          <p:cNvGraphicFramePr>
            <a:graphicFrameLocks xmlns:a="http://schemas.openxmlformats.org/drawingml/2006/main"/>
          </p:cNvGraphicFramePr>
          <p:nvPr/>
        </p:nvGraphicFramePr>
        <p:xfrm>
          <a:off x="697563" y="5425081"/>
          <a:ext cx="5440113" cy="12318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05818"/>
                <a:gridCol w="1426869"/>
                <a:gridCol w="2594724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Direction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Angle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  <a:endParaRPr sz="1400"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30°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 right clearance</a:t>
                      </a:r>
                      <a:endParaRPr sz="1400"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Center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90°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Front obstacle detection</a:t>
                      </a:r>
                      <a:endParaRPr sz="1400"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150°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 left clearance</a:t>
                      </a:r>
                      <a:endParaRPr sz="1400"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714420619" name=""/>
          <p:cNvSpPr/>
          <p:nvPr/>
        </p:nvSpPr>
        <p:spPr bwMode="auto">
          <a:xfrm flipH="0" flipV="0">
            <a:off x="697563" y="4976219"/>
            <a:ext cx="3926722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Servo Scan Positions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55807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551732" y="42545"/>
            <a:ext cx="10515600" cy="1159789"/>
          </a:xfrm>
        </p:spPr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144265468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74424" y="1005033"/>
            <a:ext cx="10515600" cy="584984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Algorithm ,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Distance Thresholds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113764629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graphicFrame>
        <p:nvGraphicFramePr>
          <p:cNvPr id="372350359" name=""/>
          <p:cNvGraphicFramePr>
            <a:graphicFrameLocks xmlns:a="http://schemas.openxmlformats.org/drawingml/2006/main"/>
          </p:cNvGraphicFramePr>
          <p:nvPr/>
        </p:nvGraphicFramePr>
        <p:xfrm>
          <a:off x="613670" y="1619332"/>
          <a:ext cx="5218429" cy="1932938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3203031"/>
                <a:gridCol w="2012160"/>
                <a:gridCol w="3200978"/>
              </a:tblGrid>
              <a:tr h="32596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Parameter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Value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</a:t>
                      </a:r>
                      <a:endParaRPr sz="2000"/>
                    </a:p>
                  </a:txBody>
                  <a:tcPr vert="horz"/>
                </a:tc>
              </a:tr>
              <a:tr h="35481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SAFE_DISTANCE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 cm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Trigger obstacle handling</a:t>
                      </a:r>
                      <a:endParaRPr sz="2000"/>
                    </a:p>
                  </a:txBody>
                  <a:tcPr vert="horz"/>
                </a:tc>
              </a:tr>
              <a:tr h="32596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CRITICAL_DISTANCE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 cm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Emergency backup</a:t>
                      </a:r>
                      <a:endParaRPr sz="2000"/>
                    </a:p>
                  </a:txBody>
                  <a:tcPr vert="horz"/>
                </a:tc>
              </a:tr>
              <a:tr h="32596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MIN_CLEARANCE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35 cm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 turning decision</a:t>
                      </a:r>
                      <a:endParaRPr sz="2000"/>
                    </a:p>
                  </a:txBody>
                  <a:tcPr vert="horz"/>
                </a:tc>
              </a:tr>
              <a:tr h="32596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MOTOR_SPEED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(PWM)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Normal motion speed</a:t>
                      </a:r>
                      <a:endParaRPr sz="2000"/>
                    </a:p>
                  </a:txBody>
                  <a:tcPr vert="horz"/>
                </a:tc>
              </a:tr>
              <a:tr h="32596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TURN_DELAY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400 ms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duration</a:t>
                      </a:r>
                      <a:endParaRPr sz="2000"/>
                    </a:p>
                  </a:txBody>
                  <a:tcPr vert="horz"/>
                </a:tc>
              </a:tr>
              <a:tr h="32596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BACKUP_DELAY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 ms</a:t>
                      </a:r>
                      <a:endParaRPr sz="20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Reverse duration</a:t>
                      </a:r>
                      <a:endParaRPr sz="2000"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58349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66689" y="-314988"/>
            <a:ext cx="10515600" cy="1159789"/>
          </a:xfrm>
        </p:spPr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101623442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08974" y="552205"/>
            <a:ext cx="11900054" cy="630267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Flowchart ,Obstacle Detection Logic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154478903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95089032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007465" y="552204"/>
            <a:ext cx="4982703" cy="60524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70621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77670" y="-154755"/>
            <a:ext cx="10515600" cy="1159789"/>
          </a:xfrm>
        </p:spPr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167056473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45972" y="647031"/>
            <a:ext cx="11900054" cy="630267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Code Highlight ,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Main Control Logic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            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Scanning &amp; Decision Logic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102756598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2753019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2131" y="1124262"/>
            <a:ext cx="5153024" cy="5572439"/>
          </a:xfrm>
          <a:prstGeom prst="rect">
            <a:avLst/>
          </a:prstGeom>
        </p:spPr>
      </p:pic>
      <p:pic>
        <p:nvPicPr>
          <p:cNvPr id="29921212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464508" y="1124262"/>
            <a:ext cx="5010149" cy="55724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171714" name="Title 1"/>
          <p:cNvSpPr>
            <a:spLocks noGrp="1"/>
          </p:cNvSpPr>
          <p:nvPr>
            <p:ph type="title"/>
          </p:nvPr>
        </p:nvSpPr>
        <p:spPr bwMode="auto">
          <a:xfrm>
            <a:off x="295034" y="-91532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86137251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48190" y="1061802"/>
            <a:ext cx="11196689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STANDBY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Safety first during programming!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4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WALL FOLLOWING MODE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Pit avoidance uses the same sensor array as line following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Switch must be in "Line Following" position for downward sensors to work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Wrong position = sensors won't be read correctly</a:t>
            </a:r>
            <a:endParaRPr/>
          </a:p>
        </p:txBody>
      </p:sp>
      <p:pic>
        <p:nvPicPr>
          <p:cNvPr id="186482556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229848389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664790" name="Title 1"/>
          <p:cNvSpPr>
            <a:spLocks noGrp="1"/>
          </p:cNvSpPr>
          <p:nvPr>
            <p:ph type="title"/>
          </p:nvPr>
        </p:nvSpPr>
        <p:spPr bwMode="auto">
          <a:xfrm>
            <a:off x="295034" y="-91532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413513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47225" y="1093031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26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6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6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</a:t>
            </a:r>
            <a:r>
              <a:rPr lang="en-US" sz="26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STANDBY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6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LINE FOLLOWING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Set Switch “</a:t>
            </a:r>
            <a:r>
              <a:rPr lang="en-US" sz="26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Upload your pit avoidance program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Wait for "Upload Complete" message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7: Disconnect USB cable</a:t>
            </a:r>
            <a:endParaRPr sz="26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6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6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Verify Switch “</a:t>
            </a:r>
            <a:r>
              <a:rPr lang="en-US" sz="26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-&gt;  WALL FOLLOWING 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6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activate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(  motor driver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Set Switch “</a:t>
            </a:r>
            <a:r>
              <a:rPr sz="26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-&gt;for batter power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Press </a:t>
            </a:r>
            <a:r>
              <a:rPr sz="2600" b="0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RESET 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button 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Robot car-1 starts pit avoidance program</a:t>
            </a:r>
            <a:endParaRPr/>
          </a:p>
        </p:txBody>
      </p:sp>
      <p:pic>
        <p:nvPicPr>
          <p:cNvPr id="15509627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556094436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857582" name="Title 1"/>
          <p:cNvSpPr>
            <a:spLocks noGrp="1"/>
          </p:cNvSpPr>
          <p:nvPr>
            <p:ph type="title"/>
          </p:nvPr>
        </p:nvSpPr>
        <p:spPr bwMode="auto">
          <a:xfrm>
            <a:off x="838198" y="156100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Safety Guidelines</a:t>
            </a:r>
            <a:endParaRPr/>
          </a:p>
        </p:txBody>
      </p:sp>
      <p:sp>
        <p:nvSpPr>
          <p:cNvPr id="72759822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246260"/>
            <a:ext cx="10515600" cy="518978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Avoid Accidents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Conduct tests in a safe, open environment to minimize the risk of collisions and accidents.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Monitor Operations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Always have manual supervision during operation to ensure immediate intervention if necessary.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Slow Speed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Operate the robot at reduced speeds to facilitate learning and prevent accidents, rather than racing.</a:t>
            </a:r>
            <a:endParaRPr/>
          </a:p>
        </p:txBody>
      </p:sp>
      <p:pic>
        <p:nvPicPr>
          <p:cNvPr id="3450891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14209" name="Title 1"/>
          <p:cNvSpPr>
            <a:spLocks noGrp="1"/>
          </p:cNvSpPr>
          <p:nvPr>
            <p:ph type="title"/>
          </p:nvPr>
        </p:nvSpPr>
        <p:spPr bwMode="auto">
          <a:xfrm>
            <a:off x="758082" y="156101"/>
            <a:ext cx="10515600" cy="1325562"/>
          </a:xfrm>
        </p:spPr>
        <p:txBody>
          <a:bodyPr/>
          <a:lstStyle/>
          <a:p>
            <a:pPr>
              <a:defRPr/>
            </a:pPr>
            <a:r>
              <a:rPr sz="3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Common Troubleshooting</a:t>
            </a:r>
            <a:endParaRPr/>
          </a:p>
        </p:txBody>
      </p:sp>
      <p:sp>
        <p:nvSpPr>
          <p:cNvPr id="25030420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201751"/>
            <a:ext cx="10515600" cy="47348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endParaRPr sz="2000">
              <a:solidFill>
                <a:schemeClr val="bg1"/>
              </a:solidFill>
            </a:endParaRPr>
          </a:p>
          <a:p>
            <a:pPr marL="0" marR="0" indent="0">
              <a:spcBef>
                <a:spcPts val="899"/>
              </a:spcBef>
              <a:defRPr/>
            </a:pPr>
            <a:r>
              <a:rPr sz="28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Problem: Robot moves in circles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Check motor polarity (swap IN1/IN2 if needed)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spcBef>
                <a:spcPts val="599"/>
              </a:spcBef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Calibrate motor speeds (add trim values)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L="0" marR="0" indent="0">
              <a:spcBef>
                <a:spcPts val="1199"/>
              </a:spcBef>
              <a:defRPr/>
            </a:pPr>
            <a:r>
              <a:rPr sz="28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Problem: Motors don't move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Verify power supply (VM to battery)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spcBef>
                <a:spcPts val="599"/>
              </a:spcBef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Check motor driver connections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spcBef>
                <a:spcPts val="599"/>
              </a:spcBef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Test with higher PWM values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L="0" marR="0" indent="0">
              <a:spcBef>
                <a:spcPts val="1199"/>
              </a:spcBef>
              <a:defRPr/>
            </a:pPr>
            <a:r>
              <a:rPr sz="28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Problem: OLED display blank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Confirm I2C address (0x3C or 0x3D)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</a:t>
            </a: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Check SDA/SCL connections</a:t>
            </a:r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73888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620172" name="Title 1"/>
          <p:cNvSpPr>
            <a:spLocks noGrp="1"/>
          </p:cNvSpPr>
          <p:nvPr>
            <p:ph type="title"/>
          </p:nvPr>
        </p:nvSpPr>
        <p:spPr bwMode="auto">
          <a:xfrm>
            <a:off x="838198" y="126183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Applications</a:t>
            </a:r>
            <a:endParaRPr/>
          </a:p>
        </p:txBody>
      </p:sp>
      <p:sp>
        <p:nvSpPr>
          <p:cNvPr id="112443644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22475" y="1272967"/>
            <a:ext cx="10708434" cy="544794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Line Following Robot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Uses IR sensors + basic movements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Adjusts left/right to stay on the line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Obstacle Avoidance Robot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Ultrasonic sensor detects obstacles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Moves backward + turns to navigate around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Pit Avoidance Robot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 detects edges or pits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Uses simple avoidance or wall-following style logic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Wall-Following Car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Follows a wall or boundary using distance sensors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Continuously corrects path in real time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Autonomous Delivery Robot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Uses basic movements + higher-level navigation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Suitable for warehouse or hospital delivery tasks</a:t>
            </a:r>
            <a:endParaRPr lang="en-GB">
              <a:solidFill>
                <a:schemeClr val="bg1"/>
              </a:solidFill>
            </a:endParaRPr>
          </a:p>
        </p:txBody>
      </p:sp>
      <p:pic>
        <p:nvPicPr>
          <p:cNvPr id="56905056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7652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380985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br>
              <a:rPr lang="en-GB">
                <a:solidFill>
                  <a:schemeClr val="bg1"/>
                </a:solidFill>
              </a:rPr>
            </a:br>
            <a:br>
              <a:rPr lang="en-GB">
                <a:solidFill>
                  <a:schemeClr val="bg1"/>
                </a:solidFill>
              </a:rPr>
            </a:b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/>
          </a:p>
        </p:txBody>
      </p:sp>
      <p:sp>
        <p:nvSpPr>
          <p:cNvPr id="15918077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51397621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11</cp:revision>
  <dcterms:created xsi:type="dcterms:W3CDTF">2025-11-29T15:09:33Z</dcterms:created>
  <dcterms:modified xsi:type="dcterms:W3CDTF">2025-12-31T18:23:12Z</dcterms:modified>
</cp:coreProperties>
</file>