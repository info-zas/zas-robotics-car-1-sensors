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ppt/slides/slide4.xml" ContentType="application/vnd.openxmlformats-officedocument.presentationml.slide+xml"/>
  <Override PartName="/ppt/viewProps.xml" ContentType="application/vnd.openxmlformats-officedocument.presentationml.viewProps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0" d="100"/>
          <a:sy n="70" d="100"/>
        </p:scale>
        <p:origin x="1166" y="27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180663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6035156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9283522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4648768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93034149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9611869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04677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23679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8090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4628D2-0276-7CE8-68C8-A30FE23A6892}" type="slidenum">
              <a:rPr/>
              <a:t/>
            </a:fld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673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661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1880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09B419-B9C3-D577-8C19-FD3877D7FA18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5972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49777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677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02D331-8640-22E3-8CB3-BEE45962C6BC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89095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03637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77003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4590DF-F79B-20F3-EE2F-4B1FD4C467DA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11804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8305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59513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1B8F27-C769-9011-2D42-ECDD052FAB9C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54943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39805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94089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F7800C-CB60-E37F-63B9-3500F325B292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8899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25329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85440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18BF93-9F91-6B90-31DE-F6F60EF11C94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2114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80454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123797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B76A1A-FE56-FFBD-EA0B-6D22B9FC0CC8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49804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45809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08553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80B79D-1545-BF60-5A96-2E81DC9D877A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6965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08430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76478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C1776E-16EA-AB4E-0398-DCA3F041B35D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4615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7480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38444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093B11-F441-970F-56D5-E0E4615302A8}" type="slidenum">
              <a:rPr/>
              <a:t/>
            </a:fld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95321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50777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19726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57A39-5A73-48A9-A5AD-2888360FF14D}" type="slidenum">
              <a:rPr/>
              <a:t/>
            </a:fld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4655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1670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640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6C6148-F540-3444-63D1-5890D1BB7F9F}" type="slidenum">
              <a:rPr/>
              <a:t/>
            </a:fld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8681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419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794641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28399EC-D197-9048-CE2B-6A620F95CE3F}" type="slidenum">
              <a:rPr/>
              <a:t/>
            </a:fld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40245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1081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5699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BA23323-521F-51D6-F124-A1BADBA96190}" type="slidenum">
              <a:rPr/>
              <a:t/>
            </a:fld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62093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12787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70012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932549-8DF2-14CE-32DE-B4134FF987BE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1767989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3270015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147553092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7598465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74926810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11736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5060412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7900981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6624478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1032942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6583737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40625425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1153928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25499600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1767435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120700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98846765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53663541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41927133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8237871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00121813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81875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066458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1106736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90016173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98423735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8587614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90276708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2019126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280991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0907623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151801437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71701842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225413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497173877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50345536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7916920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152422922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1424262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8575309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43882988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0912235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935232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15073394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GB"/>
          </a:p>
        </p:txBody>
      </p:sp>
      <p:sp>
        <p:nvSpPr>
          <p:cNvPr id="183054310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3523045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207211656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25584014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469374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21176605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464230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6978943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5689592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747296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4633468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57453775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81001797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2852147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56255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2477430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GB"/>
          </a:p>
        </p:txBody>
      </p:sp>
      <p:sp>
        <p:nvSpPr>
          <p:cNvPr id="1828096095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A1D51BA1-F58B-40DF-9C13-73BC69DE2A80}" type="datetimeFigureOut">
              <a:rPr lang="en-GB"/>
              <a:t>29/11/2025</a:t>
            </a:fld>
            <a:endParaRPr lang="en-GB"/>
          </a:p>
        </p:txBody>
      </p:sp>
      <p:sp>
        <p:nvSpPr>
          <p:cNvPr id="1610702976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23136703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09FCE3CD-8E5B-4FEB-BC1E-3D61BE3CC713}" type="slidenum">
              <a:rPr lang="en-GB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573136" name="Title 1"/>
          <p:cNvSpPr>
            <a:spLocks noGrp="1"/>
          </p:cNvSpPr>
          <p:nvPr>
            <p:ph type="ctrTitle"/>
          </p:nvPr>
        </p:nvSpPr>
        <p:spPr bwMode="auto">
          <a:xfrm>
            <a:off x="0" y="1122363"/>
            <a:ext cx="12192000" cy="2387600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ZAS Robotic Products</a:t>
            </a:r>
            <a:endParaRPr/>
          </a:p>
        </p:txBody>
      </p:sp>
      <p:sp>
        <p:nvSpPr>
          <p:cNvPr id="317420267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523997" y="3602035"/>
            <a:ext cx="9144000" cy="262825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GB" sz="3200">
                <a:solidFill>
                  <a:schemeClr val="accent4"/>
                </a:solidFill>
              </a:rPr>
              <a:t>Navigational Robotic Series</a:t>
            </a:r>
            <a:endParaRPr/>
          </a:p>
          <a:p>
            <a:pPr>
              <a:defRPr/>
            </a:pPr>
            <a:r>
              <a:rPr lang="en-GB" sz="3200">
                <a:solidFill>
                  <a:schemeClr val="accent5"/>
                </a:solidFill>
              </a:rPr>
              <a:t>Robot Car-</a:t>
            </a:r>
            <a:r>
              <a:rPr lang="en-US" sz="3200">
                <a:solidFill>
                  <a:schemeClr val="accent5"/>
                </a:solidFill>
              </a:rPr>
              <a:t>1</a:t>
            </a:r>
            <a:r>
              <a:rPr lang="en-GB" sz="3200">
                <a:solidFill>
                  <a:schemeClr val="accent5"/>
                </a:solidFill>
              </a:rPr>
              <a:t> </a:t>
            </a:r>
            <a:r>
              <a:rPr lang="en-US" sz="3200">
                <a:solidFill>
                  <a:schemeClr val="accent5"/>
                </a:solidFill>
              </a:rPr>
              <a:t>Sensor</a:t>
            </a:r>
            <a:endParaRPr/>
          </a:p>
          <a:p>
            <a:pPr>
              <a:defRPr/>
            </a:pPr>
            <a:endParaRPr lang="en-GB" sz="3200">
              <a:solidFill>
                <a:schemeClr val="accent5"/>
              </a:solidFill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Multi-Sensor Fusion for Autonomous Obstacle Avoidance</a:t>
            </a:r>
            <a:endParaRPr lang="en-GB" sz="3200">
              <a:solidFill>
                <a:schemeClr val="accent5"/>
              </a:solidFill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(Integration of Infrared and Ultrasonic Sensing Systems</a:t>
            </a:r>
            <a:r>
              <a:rPr lang="en-US" sz="3200">
                <a:solidFill>
                  <a:schemeClr val="accent5"/>
                </a:solidFill>
              </a:rPr>
              <a:t>)</a:t>
            </a:r>
            <a:endParaRPr lang="en-GB" sz="3200">
              <a:solidFill>
                <a:schemeClr val="accent5"/>
              </a:solidFill>
            </a:endParaRPr>
          </a:p>
        </p:txBody>
      </p:sp>
      <p:pic>
        <p:nvPicPr>
          <p:cNvPr id="20171975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966071" y="156102"/>
            <a:ext cx="4042963" cy="10897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02164" name="Title 1"/>
          <p:cNvSpPr>
            <a:spLocks noGrp="1"/>
          </p:cNvSpPr>
          <p:nvPr>
            <p:ph type="title"/>
          </p:nvPr>
        </p:nvSpPr>
        <p:spPr bwMode="auto">
          <a:xfrm>
            <a:off x="251987" y="89164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Multi-Sensor Fusion for Autonomous Obstacle Avoidance</a:t>
            </a:r>
            <a:endParaRPr/>
          </a:p>
        </p:txBody>
      </p:sp>
      <p:sp>
        <p:nvSpPr>
          <p:cNvPr id="548813624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51987" y="1505581"/>
            <a:ext cx="10898892" cy="511507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Problem Statement &amp; Technical Justification</a:t>
            </a:r>
            <a:endParaRPr sz="2800" b="0" i="0" u="none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Limitations of IR-Only Systems</a:t>
            </a:r>
            <a:endParaRPr sz="2800" b="1" i="0" u="none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0" u="none">
                <a:solidFill>
                  <a:schemeClr val="accent5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Physic</a:t>
            </a:r>
            <a:r>
              <a:rPr sz="2800" b="0" i="0" u="none">
                <a:solidFill>
                  <a:schemeClr val="accent5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a</a:t>
            </a:r>
            <a:r>
              <a:rPr sz="2800" b="0" i="0" u="none">
                <a:solidFill>
                  <a:schemeClr val="accent5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l Detection Range Constraints</a:t>
            </a:r>
            <a:endParaRPr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Effective Range: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2-30 cm (inverse square law limitation)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Signal Intensity: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​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​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                  → exponential decay beyond 30 cm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Critical Issue: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Only </a:t>
            </a: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0.25-0.5 seconds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reaction time at 20 cm/s robot speed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Result: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Emergency braking distance &gt; detection range = </a:t>
            </a: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guaranteed collisions</a:t>
            </a:r>
            <a:r>
              <a:rPr sz="1200" b="0" i="0" u="none">
                <a:solidFill>
                  <a:srgbClr val="000000"/>
                </a:solidFill>
                <a:latin typeface="Aptos Display"/>
                <a:ea typeface="Aptos Display"/>
                <a:cs typeface="Aptos Display"/>
              </a:rPr>
              <a:t>2</a:t>
            </a:r>
            <a:endParaRPr sz="1200" b="0" i="0" u="none">
              <a:solidFill>
                <a:srgbClr val="000000"/>
              </a:solidFill>
              <a:latin typeface="Aptos Display"/>
              <a:cs typeface="Aptos Display"/>
            </a:endParaRPr>
          </a:p>
          <a:p>
            <a:pPr lvl="0">
              <a:defRPr/>
            </a:pPr>
            <a:r>
              <a:rPr sz="3200" b="0" i="0" u="none">
                <a:solidFill>
                  <a:schemeClr val="accent5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Environmental Sensitivity</a:t>
            </a:r>
            <a:endParaRPr sz="1600" b="0" i="0" u="none">
              <a:solidFill>
                <a:schemeClr val="accent5">
                  <a:lumMod val="75000"/>
                </a:schemeClr>
              </a:solidFill>
              <a:latin typeface="Aptos Display"/>
              <a:ea typeface="Aptos Display"/>
              <a:cs typeface="Aptos Display"/>
            </a:endParaRPr>
          </a:p>
          <a:p>
            <a:pPr lvl="0">
              <a:defRPr/>
            </a:pP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208734162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4" y="156102"/>
            <a:ext cx="2037720" cy="549229"/>
          </a:xfrm>
          <a:prstGeom prst="rect">
            <a:avLst/>
          </a:prstGeom>
        </p:spPr>
      </p:pic>
      <p:pic>
        <p:nvPicPr>
          <p:cNvPr id="21080149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436044" y="3329225"/>
            <a:ext cx="1063401" cy="486449"/>
          </a:xfrm>
          <a:prstGeom prst="rect">
            <a:avLst/>
          </a:prstGeom>
        </p:spPr>
      </p:pic>
      <p:graphicFrame>
        <p:nvGraphicFramePr>
          <p:cNvPr id="242245562" name=""/>
          <p:cNvGraphicFramePr>
            <a:graphicFrameLocks xmlns:a="http://schemas.openxmlformats.org/drawingml/2006/main"/>
          </p:cNvGraphicFramePr>
          <p:nvPr/>
        </p:nvGraphicFramePr>
        <p:xfrm>
          <a:off x="1079016" y="5093324"/>
          <a:ext cx="4678044" cy="1130248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2217912"/>
                <a:gridCol w="2370295"/>
                <a:gridCol w="2238354"/>
              </a:tblGrid>
              <a:tr h="32772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Environment</a:t>
                      </a:r>
                      <a:endParaRPr sz="16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False Positive Rate</a:t>
                      </a:r>
                      <a:endParaRPr sz="16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Detection Success</a:t>
                      </a:r>
                      <a:endParaRPr sz="16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8879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Indoor (controlled)</a:t>
                      </a:r>
                      <a:endParaRPr sz="16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2–5%</a:t>
                      </a:r>
                      <a:endParaRPr sz="16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95% ✅</a:t>
                      </a:r>
                      <a:endParaRPr sz="16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3513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Near windows</a:t>
                      </a:r>
                      <a:endParaRPr sz="16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25–40%</a:t>
                      </a:r>
                      <a:endParaRPr sz="16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60% ⚠️</a:t>
                      </a:r>
                      <a:endParaRPr sz="16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35139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Outdoor / sunlight</a:t>
                      </a:r>
                      <a:endParaRPr sz="16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55–70%</a:t>
                      </a:r>
                      <a:endParaRPr sz="16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30% ❌</a:t>
                      </a:r>
                      <a:endParaRPr sz="16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1234539" name="Title 1"/>
          <p:cNvSpPr>
            <a:spLocks noGrp="1"/>
          </p:cNvSpPr>
          <p:nvPr>
            <p:ph type="title"/>
          </p:nvPr>
        </p:nvSpPr>
        <p:spPr bwMode="auto">
          <a:xfrm>
            <a:off x="251987" y="89164"/>
            <a:ext cx="10515600" cy="1325561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Multi-Sensor Fusion for Autonomous Obstacle Avoidance</a:t>
            </a:r>
            <a:endParaRPr/>
          </a:p>
        </p:txBody>
      </p:sp>
      <p:sp>
        <p:nvSpPr>
          <p:cNvPr id="183138565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51987" y="1505581"/>
            <a:ext cx="10898892" cy="511507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sz="2800" b="1" i="1" u="none">
                <a:solidFill>
                  <a:schemeClr val="accent5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Limitations of IR-Only Systems</a:t>
            </a:r>
            <a:endParaRPr sz="2800" b="1" i="0" u="none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1" u="none">
                <a:solidFill>
                  <a:schemeClr val="accent5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Material-Dependent Detection Failures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Black/Dark surfaces: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Low reflectivity (5-15%) → detection fails at &gt;10 cm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Glossy/Mirrors: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Specular reflection → beam reflects away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Transparent objects: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Glass, acrylic → </a:t>
            </a: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invisible to IR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(0 cm detection)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0" i="1" u="none">
                <a:solidFill>
                  <a:schemeClr val="accent5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Binary Output = No Distance Information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Output: Digital HIGH/LOW only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Cannot answer:</a:t>
            </a: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"Is obstacle 5 cm or 25 cm away?"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All obstacles treated as immediate threats → excessive stopping</a:t>
            </a: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1758686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9990068" name="Title 1"/>
          <p:cNvSpPr>
            <a:spLocks noGrp="1"/>
          </p:cNvSpPr>
          <p:nvPr>
            <p:ph type="title"/>
          </p:nvPr>
        </p:nvSpPr>
        <p:spPr bwMode="auto">
          <a:xfrm>
            <a:off x="205142" y="-35752"/>
            <a:ext cx="10515600" cy="1325561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Multi-Sensor Fusion for Autonomous Obstacle Avoidance</a:t>
            </a:r>
            <a:endParaRPr/>
          </a:p>
        </p:txBody>
      </p:sp>
      <p:sp>
        <p:nvSpPr>
          <p:cNvPr id="81009703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51986" y="1242964"/>
            <a:ext cx="10898892" cy="551822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lvl="0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Limitations of Ultrasonic-Only Systems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lvl="0">
              <a:defRPr/>
            </a:pPr>
            <a:r>
              <a:rPr sz="2800" b="0" i="1" u="none">
                <a:solidFill>
                  <a:schemeClr val="accent5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Spectacular Reflection Problem</a:t>
            </a:r>
            <a:endParaRPr sz="2800" b="0" i="1" u="none">
              <a:solidFill>
                <a:schemeClr val="accent5">
                  <a:lumMod val="75000"/>
                </a:schemeClr>
              </a:solidFill>
              <a:latin typeface="Times New Roman"/>
              <a:ea typeface="Times New Roman"/>
              <a:cs typeface="Times New Roman"/>
            </a:endParaRPr>
          </a:p>
          <a:p>
            <a:pPr lvl="0"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Physics: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Sound reflects at angle of incidence</a:t>
            </a:r>
            <a:r>
              <a:rPr sz="2800" b="0" i="1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800" b="0" i="1" u="none">
              <a:solidFill>
                <a:schemeClr val="accent5">
                  <a:lumMod val="75000"/>
                </a:schemeClr>
              </a:solidFill>
              <a:latin typeface="Times New Roman"/>
              <a:ea typeface="Times New Roman"/>
              <a:cs typeface="Times New Roman"/>
            </a:endParaRPr>
          </a:p>
          <a:p>
            <a:pPr lvl="0">
              <a:defRPr/>
            </a:pPr>
            <a:endParaRPr sz="2800" b="0" i="1" u="none">
              <a:solidFill>
                <a:schemeClr val="accent5">
                  <a:lumMod val="75000"/>
                </a:schemeClr>
              </a:solidFill>
              <a:latin typeface="Times New Roman"/>
              <a:ea typeface="Times New Roman"/>
              <a:cs typeface="Times New Roman"/>
            </a:endParaRPr>
          </a:p>
          <a:p>
            <a:pPr lvl="0">
              <a:defRPr/>
            </a:pP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0" lvl="0" indent="0">
              <a:buFont typeface="Arial"/>
              <a:buNone/>
              <a:defRPr/>
            </a:pP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lvl="0">
              <a:defRPr/>
            </a:pPr>
            <a:endParaRPr sz="2800" b="0" i="0" u="none">
              <a:solidFill>
                <a:schemeClr val="accent5">
                  <a:lumMod val="75000"/>
                </a:schemeClr>
              </a:solidFill>
              <a:latin typeface="Times New Roman"/>
              <a:ea typeface="Times New Roman"/>
              <a:cs typeface="Times New Roman"/>
            </a:endParaRPr>
          </a:p>
          <a:p>
            <a:pPr lvl="0">
              <a:defRPr/>
            </a:pPr>
            <a:endParaRPr sz="2800" b="0" i="0" u="none">
              <a:solidFill>
                <a:schemeClr val="accent5">
                  <a:lumMod val="75000"/>
                </a:schemeClr>
              </a:solidFill>
              <a:latin typeface="Times New Roman"/>
              <a:ea typeface="Times New Roman"/>
              <a:cs typeface="Times New Roman"/>
            </a:endParaRPr>
          </a:p>
          <a:p>
            <a:pPr lvl="0">
              <a:defRPr/>
            </a:pPr>
            <a:r>
              <a:rPr sz="2800" b="0" i="0" u="none">
                <a:solidFill>
                  <a:schemeClr val="accent5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Narrow Beam Angle = Tunnel Vision</a:t>
            </a:r>
            <a:endParaRPr sz="2800" b="0" i="1" u="none">
              <a:solidFill>
                <a:schemeClr val="accent5">
                  <a:lumMod val="75000"/>
                </a:schemeClr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Typical beam: 15-30° cone</a:t>
            </a:r>
            <a:endParaRPr sz="2800">
              <a:solidFill>
                <a:schemeClr val="bg1"/>
              </a:solidFill>
            </a:endParaRPr>
          </a:p>
          <a:p>
            <a:pPr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Single sensor coverage = </a:t>
            </a: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15°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of 360° environment</a:t>
            </a:r>
            <a:endParaRPr sz="2800">
              <a:solidFill>
                <a:schemeClr val="bg1"/>
              </a:solidFill>
            </a:endParaRPr>
          </a:p>
          <a:p>
            <a:pPr lvl="0"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Blind area: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345° (95.8% of surroundings)</a:t>
            </a:r>
            <a:endParaRPr sz="2800" b="0" i="0" u="none">
              <a:solidFill>
                <a:schemeClr val="accent5">
                  <a:lumMod val="75000"/>
                </a:schemeClr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77677868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  <p:graphicFrame>
        <p:nvGraphicFramePr>
          <p:cNvPr id="109242614" name=""/>
          <p:cNvGraphicFramePr>
            <a:graphicFrameLocks xmlns:a="http://schemas.openxmlformats.org/drawingml/2006/main"/>
          </p:cNvGraphicFramePr>
          <p:nvPr/>
        </p:nvGraphicFramePr>
        <p:xfrm>
          <a:off x="542612" y="2707723"/>
          <a:ext cx="4498339" cy="1987066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425574"/>
                <a:gridCol w="1440179"/>
                <a:gridCol w="1619884"/>
              </a:tblGrid>
              <a:tr h="27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Surface Angle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Detection Success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Effective Range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281076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0° (perpendicular)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95%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2-400 cm ✅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281076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30° angle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65%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2-150 cm ⚠️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281076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60° angle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25%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2-50 cm ❌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281076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90° (parallel)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&lt;5%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Undetectable ❌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</a:tbl>
          </a:graphicData>
        </a:graphic>
      </p:graphicFrame>
      <p:pic>
        <p:nvPicPr>
          <p:cNvPr id="72987386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158448" y="2324380"/>
            <a:ext cx="1114425" cy="5238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3353117" name="Title 1"/>
          <p:cNvSpPr>
            <a:spLocks noGrp="1"/>
          </p:cNvSpPr>
          <p:nvPr>
            <p:ph type="title"/>
          </p:nvPr>
        </p:nvSpPr>
        <p:spPr bwMode="auto">
          <a:xfrm>
            <a:off x="251986" y="89164"/>
            <a:ext cx="10515600" cy="1325561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Multi-Sensor Fusion for Autonomous Obstacle Avoidance</a:t>
            </a:r>
            <a:endParaRPr/>
          </a:p>
        </p:txBody>
      </p:sp>
      <p:sp>
        <p:nvSpPr>
          <p:cNvPr id="1848257057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51986" y="1414726"/>
            <a:ext cx="11648053" cy="520592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 lvl="0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Limitations of Ultrasonic-Only Systems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lvl="0">
              <a:defRPr/>
            </a:pPr>
            <a:r>
              <a:rPr lang="en-US" sz="2800" b="0" i="1" u="none" strike="noStrike" cap="none" spc="0">
                <a:solidFill>
                  <a:schemeClr val="accent5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Specular Reflection Problem</a:t>
            </a:r>
            <a:endParaRPr sz="2800" b="0" i="1" u="none">
              <a:solidFill>
                <a:schemeClr val="accent5">
                  <a:lumMod val="75000"/>
                </a:schemeClr>
              </a:solidFill>
              <a:latin typeface="Times New Roman"/>
              <a:ea typeface="Times New Roman"/>
              <a:cs typeface="Times New Roman"/>
            </a:endParaRPr>
          </a:p>
          <a:p>
            <a:pPr lvl="0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Time-of-Flight Delay</a:t>
            </a:r>
            <a:r>
              <a:rPr sz="12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2800" b="0" i="1" u="none">
              <a:solidFill>
                <a:schemeClr val="accent5">
                  <a:lumMod val="75000"/>
                </a:schemeClr>
              </a:solidFill>
              <a:latin typeface="Times New Roman"/>
              <a:ea typeface="Times New Roman"/>
              <a:cs typeface="Times New Roman"/>
            </a:endParaRPr>
          </a:p>
          <a:p>
            <a:pPr marL="0" lvl="0" indent="0">
              <a:buFont typeface="Arial"/>
              <a:buNone/>
              <a:defRPr/>
            </a:pPr>
            <a:endParaRPr sz="2800" b="0" i="1" u="none">
              <a:solidFill>
                <a:schemeClr val="accent5">
                  <a:lumMod val="75000"/>
                </a:schemeClr>
              </a:solidFill>
              <a:latin typeface="Times New Roman"/>
              <a:ea typeface="Times New Roman"/>
              <a:cs typeface="Times New Roman"/>
            </a:endParaRPr>
          </a:p>
          <a:p>
            <a:pPr marL="0" lvl="0" indent="0">
              <a:buFont typeface="Arial"/>
              <a:buNone/>
              <a:defRPr/>
            </a:pPr>
            <a:r>
              <a:rPr sz="26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 Comparison:</a:t>
            </a:r>
            <a:r>
              <a:rPr sz="26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IR response = 1-2 ms vs US = 10-30 ms → </a:t>
            </a:r>
            <a:r>
              <a:rPr sz="26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IR is 10-15× faster</a:t>
            </a:r>
            <a:endParaRPr sz="1200" b="1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lvl="0">
              <a:defRPr/>
            </a:pPr>
            <a:r>
              <a:rPr lang="en-US" sz="2800" b="0" i="0" u="none" strike="noStrike" cap="none" spc="0">
                <a:solidFill>
                  <a:schemeClr val="accent5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Narrow Beam Angle = Tunnel Vision</a:t>
            </a:r>
            <a:endParaRPr sz="2800" b="0" i="1" u="none">
              <a:solidFill>
                <a:schemeClr val="accent5">
                  <a:lumMod val="75000"/>
                </a:schemeClr>
              </a:solidFill>
              <a:latin typeface="Times New Roman"/>
              <a:ea typeface="Times New Roman"/>
              <a:cs typeface="Times New Roman"/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Transducer vibration settling time: ~1 ms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Blind zone: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0-5 cm cannot be detected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Thin obstacles (poles, chair legs) at 3 cm = </a:t>
            </a: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"No obstacle detected"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→ COLLISION ❌</a:t>
            </a:r>
            <a:endParaRPr sz="24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lvl="1">
              <a:defRPr/>
            </a:pP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800" b="1" i="0" u="none">
                <a:solidFill>
                  <a:schemeClr val="accent5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Close-Range Accuracy Issues</a:t>
            </a:r>
            <a:endParaRPr sz="2800"/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At &lt;10 cm: receiver saturation</a:t>
            </a:r>
            <a:endParaRPr sz="2800">
              <a:solidFill>
                <a:schemeClr val="bg1"/>
              </a:solidFill>
            </a:endParaRPr>
          </a:p>
          <a:p>
            <a:pPr lvl="1">
              <a:defRPr/>
            </a:pP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Measurement error: </a:t>
            </a:r>
            <a:r>
              <a:rPr sz="24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±3-5 cm</a:t>
            </a:r>
            <a:r>
              <a:rPr sz="24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(vs ±1 cm at optimal range)</a:t>
            </a:r>
            <a:endParaRPr sz="2800" b="0" i="1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lvl="0">
              <a:defRPr/>
            </a:pP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lvl="0">
              <a:defRPr/>
            </a:pPr>
            <a:endParaRPr sz="12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53459222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  <p:pic>
        <p:nvPicPr>
          <p:cNvPr id="89199032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841229" y="2357827"/>
            <a:ext cx="2657474" cy="609599"/>
          </a:xfrm>
          <a:prstGeom prst="rect">
            <a:avLst/>
          </a:prstGeom>
        </p:spPr>
      </p:pic>
      <p:graphicFrame>
        <p:nvGraphicFramePr>
          <p:cNvPr id="1220449196" name=""/>
          <p:cNvGraphicFramePr>
            <a:graphicFrameLocks xmlns:a="http://schemas.openxmlformats.org/drawingml/2006/main"/>
          </p:cNvGraphicFramePr>
          <p:nvPr/>
        </p:nvGraphicFramePr>
        <p:xfrm>
          <a:off x="7046079" y="2251907"/>
          <a:ext cx="4588509" cy="1624683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065529"/>
                <a:gridCol w="1440179"/>
                <a:gridCol w="2070099"/>
              </a:tblGrid>
              <a:tr h="287552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Distance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Time Required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Robot Movement @ 20 cm/s</a:t>
                      </a:r>
                      <a:endParaRPr sz="1600"/>
                    </a:p>
                  </a:txBody>
                  <a:tcPr vert="horz"/>
                </a:tc>
              </a:tr>
              <a:tr h="319767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 cm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0.6 ms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0.012 cm ✅</a:t>
                      </a:r>
                      <a:endParaRPr sz="1600"/>
                    </a:p>
                  </a:txBody>
                  <a:tcPr vert="horz"/>
                </a:tc>
              </a:tr>
              <a:tr h="29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 cm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2.9 ms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0.058 cm ✅</a:t>
                      </a:r>
                      <a:endParaRPr sz="1600"/>
                    </a:p>
                  </a:txBody>
                  <a:tcPr vert="horz"/>
                </a:tc>
              </a:tr>
              <a:tr h="29432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200 cm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11.7 ms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0.23 cm</a:t>
                      </a: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 ⚠️</a:t>
                      </a:r>
                      <a:endParaRPr sz="1600"/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866162" name="Title 1"/>
          <p:cNvSpPr>
            <a:spLocks noGrp="1"/>
          </p:cNvSpPr>
          <p:nvPr>
            <p:ph type="title"/>
          </p:nvPr>
        </p:nvSpPr>
        <p:spPr bwMode="auto">
          <a:xfrm>
            <a:off x="251986" y="89164"/>
            <a:ext cx="10515600" cy="1325561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Multi-Sensor Fusion for Autonomous Obstacle Avoidance</a:t>
            </a:r>
            <a:endParaRPr/>
          </a:p>
        </p:txBody>
      </p:sp>
      <p:sp>
        <p:nvSpPr>
          <p:cNvPr id="662781541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51986" y="1414726"/>
            <a:ext cx="11382603" cy="520592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lvl="0"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Ultrasonic (US) vs Infrared (IR) – Complementary Strengths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lvl="0">
              <a:defRPr/>
            </a:pP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604739431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1"/>
            <a:ext cx="2037719" cy="549228"/>
          </a:xfrm>
          <a:prstGeom prst="rect">
            <a:avLst/>
          </a:prstGeom>
        </p:spPr>
      </p:pic>
      <p:graphicFrame>
        <p:nvGraphicFramePr>
          <p:cNvPr id="1135072260" name=""/>
          <p:cNvGraphicFramePr>
            <a:graphicFrameLocks xmlns:a="http://schemas.openxmlformats.org/drawingml/2006/main"/>
          </p:cNvGraphicFramePr>
          <p:nvPr/>
        </p:nvGraphicFramePr>
        <p:xfrm>
          <a:off x="728792" y="2012075"/>
          <a:ext cx="5956299" cy="3395979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2615830"/>
                <a:gridCol w="3188857"/>
                <a:gridCol w="2902343"/>
              </a:tblGrid>
              <a:tr h="364346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Aspect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Ultrasonic (US) Strengths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Infrared (IR) Strengths</a:t>
                      </a:r>
                      <a:endParaRPr sz="1600"/>
                    </a:p>
                  </a:txBody>
                  <a:tcPr vert="horz"/>
                </a:tc>
              </a:tr>
              <a:tr h="449524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Range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Long range (up to 400 cm)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Short but precise (2–30 cm)</a:t>
                      </a:r>
                      <a:endParaRPr sz="1600"/>
                    </a:p>
                  </a:txBody>
                  <a:tcPr vert="horz"/>
                </a:tc>
              </a:tr>
              <a:tr h="578851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Surface Color/Material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Works on dark, black, transparent surfaces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Works best on light-colored, diffuse surfaces</a:t>
                      </a:r>
                      <a:endParaRPr sz="1600"/>
                    </a:p>
                  </a:txBody>
                  <a:tcPr vert="horz"/>
                </a:tc>
              </a:tr>
              <a:tr h="578851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Transparency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Detects glass, clear plastic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Fails on transparent surfaces (no reflection)</a:t>
                      </a:r>
                      <a:endParaRPr sz="1600"/>
                    </a:p>
                  </a:txBody>
                  <a:tcPr vert="horz"/>
                </a:tc>
              </a:tr>
              <a:tr h="578851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Angle Sensitivity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Poor on steep angles (specular reflection)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Best at perpendicular, drops sharply with angle</a:t>
                      </a:r>
                      <a:endParaRPr sz="1600"/>
                    </a:p>
                  </a:txBody>
                  <a:tcPr vert="horz"/>
                </a:tc>
              </a:tr>
              <a:tr h="364346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Close Range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Blind zone &lt;5 cm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Excellent from 2 cm</a:t>
                      </a:r>
                      <a:endParaRPr sz="1600"/>
                    </a:p>
                  </a:txBody>
                  <a:tcPr vert="horz"/>
                </a:tc>
              </a:tr>
              <a:tr h="578851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Lighting Conditions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Unaffected by ambient light or sunlight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Interfered by bright light/sunlight</a:t>
                      </a:r>
                      <a:endParaRPr sz="1600"/>
                    </a:p>
                  </a:txBody>
                  <a:tcPr vert="horz"/>
                </a:tc>
              </a:tr>
              <a:tr h="578851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Soft Materials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Weak/absorbed echo on fabric, foam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Good detection on most solid surfaces</a:t>
                      </a:r>
                      <a:endParaRPr sz="1600"/>
                    </a:p>
                  </a:txBody>
                  <a:tcPr vert="horz"/>
                </a:tc>
              </a:tr>
              <a:tr h="364346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Speed/Response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Slower (~30 ms ping cycle)</a:t>
                      </a:r>
                      <a:endParaRPr sz="16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Very fast response</a:t>
                      </a:r>
                      <a:endParaRPr sz="1600"/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6210485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02854" y="39787"/>
            <a:ext cx="10515600" cy="123739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5000" lnSpcReduction="1000"/>
          </a:bodyPr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Multi-Sensor Fusion for Autonomous Obstacle Avoidance</a:t>
            </a:r>
            <a:endParaRPr/>
          </a:p>
        </p:txBody>
      </p:sp>
      <p:sp>
        <p:nvSpPr>
          <p:cNvPr id="21598351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435061" y="1451181"/>
            <a:ext cx="11070870" cy="5002668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r>
              <a:rPr lang="en-US" sz="2800" b="1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Robot Car-1 - Assembled view and Creative Board component layout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1603098472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100"/>
            <a:ext cx="2037718" cy="549227"/>
          </a:xfrm>
          <a:prstGeom prst="rect">
            <a:avLst/>
          </a:prstGeom>
        </p:spPr>
      </p:pic>
      <p:pic>
        <p:nvPicPr>
          <p:cNvPr id="205342483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rot="0" flipH="0" flipV="0">
            <a:off x="525208" y="2266987"/>
            <a:ext cx="5087323" cy="3866576"/>
          </a:xfrm>
          <a:prstGeom prst="rect">
            <a:avLst/>
          </a:prstGeom>
        </p:spPr>
      </p:pic>
      <p:sp>
        <p:nvSpPr>
          <p:cNvPr id="433993731" name=""/>
          <p:cNvSpPr/>
          <p:nvPr/>
        </p:nvSpPr>
        <p:spPr bwMode="auto">
          <a:xfrm flipH="0" flipV="0">
            <a:off x="4567568" y="3009007"/>
            <a:ext cx="1329014" cy="169133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05303431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5896584" y="1914511"/>
            <a:ext cx="5606709" cy="45715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0759111" name="Title 1"/>
          <p:cNvSpPr>
            <a:spLocks noGrp="1"/>
          </p:cNvSpPr>
          <p:nvPr>
            <p:ph type="title"/>
          </p:nvPr>
        </p:nvSpPr>
        <p:spPr bwMode="auto">
          <a:xfrm>
            <a:off x="187372" y="-51143"/>
            <a:ext cx="10515600" cy="1325558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Multi-Sensor Fusion for Autonomous Obstacle Avoidance</a:t>
            </a:r>
            <a:endParaRPr/>
          </a:p>
        </p:txBody>
      </p:sp>
      <p:sp>
        <p:nvSpPr>
          <p:cNvPr id="2101549558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68475" y="1201752"/>
            <a:ext cx="11295961" cy="558146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2800">
                <a:solidFill>
                  <a:schemeClr val="bg1"/>
                </a:solidFill>
              </a:rPr>
              <a:t>Robot Car-1 (Sensors</a:t>
            </a:r>
            <a:r>
              <a:rPr lang="en-US" sz="2800">
                <a:solidFill>
                  <a:schemeClr val="bg1"/>
                </a:solidFill>
              </a:rPr>
              <a:t> edition</a:t>
            </a:r>
            <a:r>
              <a:rPr sz="2800">
                <a:solidFill>
                  <a:schemeClr val="bg1"/>
                </a:solidFill>
              </a:rPr>
              <a:t>)</a:t>
            </a:r>
            <a:r>
              <a:rPr lang="en-US" sz="2800">
                <a:solidFill>
                  <a:schemeClr val="bg1"/>
                </a:solidFill>
              </a:rPr>
              <a:t> - 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Ultrasonic Sensor &amp; Servo Mechanism</a:t>
            </a:r>
            <a:endParaRPr sz="2800">
              <a:solidFill>
                <a:schemeClr val="bg1"/>
              </a:solidFill>
            </a:endParaRPr>
          </a:p>
          <a:p>
            <a:pPr marL="0" indent="0">
              <a:buFont typeface="Arial"/>
              <a:buNone/>
              <a:defRPr/>
            </a:pPr>
            <a:endParaRPr/>
          </a:p>
          <a:p>
            <a:pPr>
              <a:defRPr/>
            </a:pPr>
            <a:r>
              <a:rPr sz="26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Ultrasonic sensor mounted on a </a:t>
            </a:r>
            <a:r>
              <a:rPr sz="26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servo motor</a:t>
            </a:r>
            <a:r>
              <a:rPr sz="26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for dynamic environment scanning</a:t>
            </a:r>
            <a:endParaRPr sz="2600">
              <a:solidFill>
                <a:schemeClr val="bg1"/>
              </a:solidFill>
            </a:endParaRPr>
          </a:p>
          <a:p>
            <a:pPr>
              <a:defRPr/>
            </a:pPr>
            <a:r>
              <a:rPr sz="26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Servo enables </a:t>
            </a:r>
            <a:r>
              <a:rPr sz="26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angular rotation</a:t>
            </a:r>
            <a:r>
              <a:rPr sz="26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, expanding the sensor’s field of view</a:t>
            </a:r>
            <a:endParaRPr sz="2600">
              <a:solidFill>
                <a:schemeClr val="bg1"/>
              </a:solidFill>
            </a:endParaRPr>
          </a:p>
          <a:p>
            <a:pPr>
              <a:defRPr/>
            </a:pPr>
            <a:r>
              <a:rPr sz="26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Provides </a:t>
            </a:r>
            <a:r>
              <a:rPr sz="26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real-time distance measurements</a:t>
            </a:r>
            <a:r>
              <a:rPr sz="26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to detect obstacles</a:t>
            </a:r>
            <a:endParaRPr sz="2600">
              <a:solidFill>
                <a:schemeClr val="bg1"/>
              </a:solidFill>
            </a:endParaRPr>
          </a:p>
          <a:p>
            <a:pPr>
              <a:defRPr/>
            </a:pPr>
            <a:r>
              <a:rPr sz="26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Enhances </a:t>
            </a:r>
            <a:r>
              <a:rPr sz="26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decision-making</a:t>
            </a:r>
            <a:r>
              <a:rPr sz="26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for obstacle avoidance</a:t>
            </a:r>
            <a:endParaRPr sz="2600">
              <a:solidFill>
                <a:schemeClr val="bg1"/>
              </a:solidFill>
            </a:endParaRPr>
          </a:p>
          <a:p>
            <a:pPr>
              <a:defRPr/>
            </a:pPr>
            <a:r>
              <a:rPr sz="26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Enables intelligent and responsive navigation</a:t>
            </a:r>
            <a:endParaRPr/>
          </a:p>
        </p:txBody>
      </p:sp>
      <p:pic>
        <p:nvPicPr>
          <p:cNvPr id="477782404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8"/>
            <a:ext cx="2037717" cy="549225"/>
          </a:xfrm>
          <a:prstGeom prst="rect">
            <a:avLst/>
          </a:prstGeom>
        </p:spPr>
      </p:pic>
      <p:pic>
        <p:nvPicPr>
          <p:cNvPr id="57139352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944819" y="3694275"/>
            <a:ext cx="3169976" cy="3035535"/>
          </a:xfrm>
          <a:prstGeom prst="rect">
            <a:avLst/>
          </a:prstGeom>
        </p:spPr>
      </p:pic>
      <p:sp>
        <p:nvSpPr>
          <p:cNvPr id="1580948851" name=""/>
          <p:cNvSpPr/>
          <p:nvPr/>
        </p:nvSpPr>
        <p:spPr bwMode="auto">
          <a:xfrm flipH="0" flipV="0">
            <a:off x="327906" y="5096318"/>
            <a:ext cx="7552958" cy="1798678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800" b="1" i="0" u="none">
                <a:solidFill>
                  <a:schemeClr val="bg1"/>
                </a:solidFill>
                <a:highlight>
                  <a:srgbClr val="FF0000"/>
                </a:highlight>
                <a:latin typeface="Times New Roman"/>
                <a:ea typeface="Times New Roman"/>
                <a:cs typeface="Times New Roman"/>
              </a:rPr>
              <a:t>Note: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Keep the ultrasonic sensor permanently mounted. Repeated dismantling and re-fixing may cause damage; once mounted, avoid unnecessary handling.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873895" name="Title 1"/>
          <p:cNvSpPr>
            <a:spLocks noGrp="1"/>
          </p:cNvSpPr>
          <p:nvPr>
            <p:ph type="title"/>
          </p:nvPr>
        </p:nvSpPr>
        <p:spPr bwMode="auto">
          <a:xfrm>
            <a:off x="33556" y="-107149"/>
            <a:ext cx="10515600" cy="1325559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Multi-Sensor Fusion for Autonomous Obstacle Avoidance</a:t>
            </a:r>
            <a:endParaRPr/>
          </a:p>
        </p:txBody>
      </p:sp>
      <p:sp>
        <p:nvSpPr>
          <p:cNvPr id="94554565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85438" y="1070289"/>
            <a:ext cx="10515600" cy="5501352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2800">
                <a:solidFill>
                  <a:schemeClr val="bg1"/>
                </a:solidFill>
              </a:rPr>
              <a:t>Robot Car-1 </a:t>
            </a:r>
            <a:r>
              <a:rPr lang="en-US" sz="2800">
                <a:solidFill>
                  <a:schemeClr val="bg1"/>
                </a:solidFill>
              </a:rPr>
              <a:t> – Forward &amp; </a:t>
            </a:r>
            <a:r>
              <a:rPr sz="2800" b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downward-facing IR sensors</a:t>
            </a:r>
            <a:endParaRPr/>
          </a:p>
        </p:txBody>
      </p:sp>
      <p:pic>
        <p:nvPicPr>
          <p:cNvPr id="588488275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9"/>
            <a:ext cx="2037717" cy="549226"/>
          </a:xfrm>
          <a:prstGeom prst="rect">
            <a:avLst/>
          </a:prstGeom>
        </p:spPr>
      </p:pic>
      <p:pic>
        <p:nvPicPr>
          <p:cNvPr id="171193601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rot="0" flipH="0" flipV="0">
            <a:off x="5643783" y="1498117"/>
            <a:ext cx="4905374" cy="1848983"/>
          </a:xfrm>
          <a:prstGeom prst="rect">
            <a:avLst/>
          </a:prstGeom>
        </p:spPr>
      </p:pic>
      <p:pic>
        <p:nvPicPr>
          <p:cNvPr id="213047871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rot="0" flipH="0" flipV="0">
            <a:off x="302663" y="1486611"/>
            <a:ext cx="5143500" cy="1860490"/>
          </a:xfrm>
          <a:prstGeom prst="rect">
            <a:avLst/>
          </a:prstGeom>
        </p:spPr>
      </p:pic>
      <p:graphicFrame>
        <p:nvGraphicFramePr>
          <p:cNvPr id="623280925" name=""/>
          <p:cNvGraphicFramePr>
            <a:graphicFrameLocks xmlns:a="http://schemas.openxmlformats.org/drawingml/2006/main"/>
          </p:cNvGraphicFramePr>
          <p:nvPr/>
        </p:nvGraphicFramePr>
        <p:xfrm>
          <a:off x="302664" y="3429000"/>
          <a:ext cx="10281147" cy="2350286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2154541"/>
                <a:gridCol w="1999928"/>
                <a:gridCol w="2266074"/>
                <a:gridCol w="2197622"/>
                <a:gridCol w="2154541"/>
              </a:tblGrid>
              <a:tr h="313023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IR Sensor Type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Mounting Position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What It Detects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Working Principle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Main Purpose / Benefit</a:t>
                      </a:r>
                      <a:endParaRPr sz="1400"/>
                    </a:p>
                  </a:txBody>
                  <a:tcPr vert="horz"/>
                </a:tc>
              </a:tr>
              <a:tr h="1049421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Downward-Facing IR Sensors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6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Mounted underneath the robot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Edges, pits, stairs, floor color changes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Light surface → high reflection → sensor ON    Dark surface / no floor → low or no reflection → sensor OFF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Prevents falling and unsafe movement; ensures floor safety</a:t>
                      </a:r>
                      <a:endParaRPr sz="1400"/>
                    </a:p>
                  </a:txBody>
                  <a:tcPr vert="horz"/>
                </a:tc>
              </a:tr>
              <a:tr h="975144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Forward-Facing IR Sensors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Mounted facing forward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Nearby obstacles, walls, objects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Object close → strong IR reflection → sensor ONObject far → weak or no reflection → sensor OFF</a:t>
                      </a:r>
                      <a:endParaRPr sz="1400"/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Quick detection of obstacles for collision avoidance</a:t>
                      </a:r>
                      <a:endParaRPr sz="1400"/>
                    </a:p>
                  </a:txBody>
                  <a:tcPr vert="horz"/>
                </a:tc>
              </a:tr>
            </a:tbl>
          </a:graphicData>
        </a:graphic>
      </p:graphicFrame>
      <p:sp>
        <p:nvSpPr>
          <p:cNvPr id="1453387768" name=""/>
          <p:cNvSpPr/>
          <p:nvPr/>
        </p:nvSpPr>
        <p:spPr bwMode="auto">
          <a:xfrm flipH="0" flipV="0">
            <a:off x="136717" y="5779287"/>
            <a:ext cx="11967034" cy="10061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000" b="1" i="0" u="none">
                <a:solidFill>
                  <a:schemeClr val="bg1"/>
                </a:solidFill>
                <a:highlight>
                  <a:srgbClr val="FF0000"/>
                </a:highlight>
                <a:latin typeface="Times New Roman"/>
                <a:ea typeface="Times New Roman"/>
                <a:cs typeface="Times New Roman"/>
              </a:rPr>
              <a:t>Note:</a:t>
            </a:r>
            <a:r>
              <a:rPr sz="20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Always keep the </a:t>
            </a:r>
            <a:r>
              <a:rPr sz="2000" b="1" i="1" u="sng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“Motor Driver Standby/ON switch”</a:t>
            </a:r>
            <a:r>
              <a:rPr sz="20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in Standby mode</a:t>
            </a:r>
            <a:r>
              <a:rPr sz="20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during programming and IR sensor calibration. IR sensors are sensitive and require careful calibration to accurately understand the environment.</a:t>
            </a:r>
            <a:endParaRPr sz="28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211151" name="Title 1"/>
          <p:cNvSpPr>
            <a:spLocks noGrp="1"/>
          </p:cNvSpPr>
          <p:nvPr>
            <p:ph type="title"/>
          </p:nvPr>
        </p:nvSpPr>
        <p:spPr bwMode="auto">
          <a:xfrm>
            <a:off x="33556" y="-107149"/>
            <a:ext cx="10515600" cy="1325558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Multi-Sensor Fusion for Autonomous Obstacle Avoidance</a:t>
            </a:r>
            <a:endParaRPr/>
          </a:p>
        </p:txBody>
      </p:sp>
      <p:sp>
        <p:nvSpPr>
          <p:cNvPr id="90299590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47896" y="1070288"/>
            <a:ext cx="11058783" cy="592512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70000" lnSpcReduction="6000"/>
          </a:bodyPr>
          <a:lstStyle/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chemeClr val="accent5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Fusion Obstacle Avoidance Algorithm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400">
              <a:latin typeface="Aptos Display"/>
              <a:cs typeface="Aptos Display"/>
            </a:endParaRPr>
          </a:p>
          <a:p>
            <a:pPr>
              <a:defRPr/>
            </a:pPr>
            <a:r>
              <a:rPr lang="en-US" sz="2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Sensors Used: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IR Sensors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→ Very close obstacles, fast reaction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Ultrasonic Sensor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→ Far obstacles, planning ahead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lang="en-US" sz="2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Main Idea: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IR reacts first, Ultrasonic plans ahead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lang="en-US" sz="2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 Fusion?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IR: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Fast &amp; accurate close range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lang="en-US" sz="2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Ultrasonic: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Long range planning</a:t>
            </a:r>
            <a:endParaRPr sz="24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r>
              <a:rPr lang="en-US" sz="24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Together: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Safer &amp; smarter navigation</a:t>
            </a:r>
            <a:endParaRPr/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723339566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098"/>
            <a:ext cx="2037717" cy="549225"/>
          </a:xfrm>
          <a:prstGeom prst="rect">
            <a:avLst/>
          </a:prstGeom>
        </p:spPr>
      </p:pic>
      <p:graphicFrame>
        <p:nvGraphicFramePr>
          <p:cNvPr id="1148417806" name=""/>
          <p:cNvGraphicFramePr>
            <a:graphicFrameLocks xmlns:a="http://schemas.openxmlformats.org/drawingml/2006/main"/>
          </p:cNvGraphicFramePr>
          <p:nvPr/>
        </p:nvGraphicFramePr>
        <p:xfrm>
          <a:off x="757721" y="1506656"/>
          <a:ext cx="7316704" cy="2222354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{5C22544A-7EE6-4342-B048-85BDC9FD1C3A}</a:tableStyleId>
              </a:tblPr>
              <a:tblGrid>
                <a:gridCol w="1078980"/>
                <a:gridCol w="3295499"/>
                <a:gridCol w="2929524"/>
              </a:tblGrid>
              <a:tr h="36343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Priority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Sensor &amp; Range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Action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92504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1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IR (0–20 cm)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Immediate stop, backup &amp; turn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6343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2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Ultrasonic Danger (≤20 cm)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Stop &amp; scan left/right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6343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3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Ultrasonic Warning (20–40 cm)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Slow down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6343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4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Ultrasonic Scan (40–60 cm)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Scan &amp; choose clearer path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  <a:tr h="363430"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5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All Clear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  <a:tc>
                  <a:txBody>
                    <a:bodyPr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/>
                      </a:pPr>
                      <a:r>
                        <a:rPr sz="1400">
                          <a:solidFill>
                            <a:srgbClr val="000000"/>
                          </a:solidFill>
                          <a:latin typeface="Aptos Display"/>
                          <a:ea typeface="Aptos Display"/>
                          <a:cs typeface="Aptos Display"/>
                        </a:rPr>
                        <a:t>Move forward normally</a:t>
                      </a:r>
                      <a:endParaRPr sz="1400">
                        <a:latin typeface="Aptos Display"/>
                        <a:cs typeface="Aptos Display"/>
                      </a:endParaRPr>
                    </a:p>
                  </a:txBody>
                  <a:tcPr vert="horz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0188416" name="Title 1"/>
          <p:cNvSpPr>
            <a:spLocks noGrp="1"/>
          </p:cNvSpPr>
          <p:nvPr>
            <p:ph type="title"/>
          </p:nvPr>
        </p:nvSpPr>
        <p:spPr bwMode="auto">
          <a:xfrm>
            <a:off x="295033" y="-91531"/>
            <a:ext cx="10515600" cy="1325558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Ultrasonic Obstacle Avoidance</a:t>
            </a:r>
            <a:endParaRPr/>
          </a:p>
        </p:txBody>
      </p:sp>
      <p:sp>
        <p:nvSpPr>
          <p:cNvPr id="152741062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48189" y="1061802"/>
            <a:ext cx="11196689" cy="598271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0000" lnSpcReduction="4000"/>
          </a:bodyPr>
          <a:lstStyle/>
          <a:p>
            <a:pPr>
              <a:defRPr/>
            </a:pPr>
            <a:r>
              <a:rPr sz="2800" b="1" i="0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Critical Programming Setup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MANDATORY Switch Settings Before Uploading Code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Before connecting USB and uploading program: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1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Standby/On Switch</a:t>
            </a: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accent4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⚠️ MUST BE SET TO: STANDBY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Why?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Prevents motors from running during code upload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Avoids car moving unexpectedly on desk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Protects USB connection from power surges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Safety first during programming!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1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Line/Wall Following Switch 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2">
              <a:defRPr/>
            </a:pPr>
            <a:r>
              <a:rPr sz="2400" b="0" i="0" u="none">
                <a:solidFill>
                  <a:schemeClr val="accent4">
                    <a:lumMod val="75000"/>
                  </a:schemeClr>
                </a:solidFill>
                <a:latin typeface="Aptos Display"/>
                <a:ea typeface="Aptos Display"/>
                <a:cs typeface="Aptos Display"/>
              </a:rPr>
              <a:t>⚠️ MUST BE SET TO: WALL FOLLOWING MODE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Why?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Pit avoidance uses the same sensor array as line following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Switch must be in "Line Following" position for downward sensors to work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Wrong position = sensors won't be read correctly</a:t>
            </a:r>
            <a:endParaRPr/>
          </a:p>
        </p:txBody>
      </p:sp>
      <p:pic>
        <p:nvPicPr>
          <p:cNvPr id="131044878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8"/>
            <a:ext cx="2037717" cy="549225"/>
          </a:xfrm>
          <a:prstGeom prst="rect">
            <a:avLst/>
          </a:prstGeom>
        </p:spPr>
      </p:pic>
      <p:sp>
        <p:nvSpPr>
          <p:cNvPr id="934332105" name=""/>
          <p:cNvSpPr txBox="1"/>
          <p:nvPr/>
        </p:nvSpPr>
        <p:spPr bwMode="auto">
          <a:xfrm flipH="0" flipV="0">
            <a:off x="6004378" y="3246120"/>
            <a:ext cx="183240" cy="36575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414080" name="Title 1"/>
          <p:cNvSpPr>
            <a:spLocks noGrp="1"/>
          </p:cNvSpPr>
          <p:nvPr>
            <p:ph type="title"/>
          </p:nvPr>
        </p:nvSpPr>
        <p:spPr bwMode="auto">
          <a:xfrm>
            <a:off x="295033" y="-91531"/>
            <a:ext cx="10515600" cy="1325558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Ultrasonic Obstacle Avoidance</a:t>
            </a:r>
            <a:endParaRPr/>
          </a:p>
        </p:txBody>
      </p:sp>
      <p:sp>
        <p:nvSpPr>
          <p:cNvPr id="956173040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147224" y="1093030"/>
            <a:ext cx="11620618" cy="598271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0000" lnSpcReduction="2000"/>
          </a:bodyPr>
          <a:lstStyle/>
          <a:p>
            <a:pPr>
              <a:defRPr/>
            </a:pPr>
            <a:r>
              <a:rPr sz="26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During Programming (Code Upload):</a:t>
            </a:r>
            <a:endParaRPr sz="26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Connect USB cable to computer</a:t>
            </a:r>
            <a:endParaRPr sz="26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Set Switch “</a:t>
            </a:r>
            <a:r>
              <a:rPr lang="en-US" sz="2600" b="1" i="0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Standby/On Swit</a:t>
            </a:r>
            <a:r>
              <a:rPr lang="en-US" sz="2600" b="1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ch</a:t>
            </a: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STANDBY</a:t>
            </a:r>
            <a:endParaRPr sz="26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Set Switch “</a:t>
            </a:r>
            <a:r>
              <a:rPr lang="en-US" sz="2600" b="1" i="0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Line/Wall Following Switch</a:t>
            </a: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WALL  FOLLOWING</a:t>
            </a:r>
            <a:endParaRPr sz="26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Set Switch “</a:t>
            </a:r>
            <a:r>
              <a:rPr lang="en-US" sz="2600" b="1" i="0" u="none" strike="noStrike" cap="none" spc="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ON/OFF Switch</a:t>
            </a:r>
            <a:r>
              <a:rPr lang="en-US" sz="2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OFF -&gt;for batter power</a:t>
            </a:r>
            <a:endParaRPr sz="26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5: Upload the respective program</a:t>
            </a:r>
            <a:endParaRPr sz="26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6: Wait for "Upload Complete" message</a:t>
            </a:r>
            <a:endParaRPr sz="26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7: Disconnect USB cable</a:t>
            </a:r>
            <a:endParaRPr sz="2600">
              <a:solidFill>
                <a:schemeClr val="bg1"/>
              </a:solidFill>
              <a:latin typeface="Aptos Display"/>
              <a:cs typeface="Aptos Display"/>
            </a:endParaRPr>
          </a:p>
          <a:p>
            <a:pPr>
              <a:defRPr/>
            </a:pPr>
            <a:r>
              <a:rPr sz="2600" b="1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Before Testing (Running the Robot):</a:t>
            </a:r>
            <a:endParaRPr sz="26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lvl="1">
              <a:defRPr/>
            </a:pP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1: Place robot on the ground. No obstacle as this test for basic movements </a:t>
            </a:r>
            <a:endParaRPr sz="26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2: Verify Switch “</a:t>
            </a:r>
            <a:r>
              <a:rPr lang="en-US" sz="2600" b="1" i="0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Line/Wall Following Switch</a:t>
            </a: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-&gt;  WALL FOLLOWING </a:t>
            </a:r>
            <a:endParaRPr sz="26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3: Set Switch </a:t>
            </a:r>
            <a:r>
              <a:rPr lang="en-US" sz="2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“</a:t>
            </a:r>
            <a:r>
              <a:rPr lang="en-US" sz="2600" b="1" i="0" u="none" strike="noStrike" cap="none" spc="0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Motor Driver Standby/On Switch</a:t>
            </a:r>
            <a:r>
              <a:rPr lang="en-US" sz="2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</a:t>
            </a: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-&gt;</a:t>
            </a:r>
            <a:r>
              <a:rPr lang="en-US" sz="2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activate</a:t>
            </a: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(  motor driver</a:t>
            </a:r>
            <a:r>
              <a:rPr lang="en-US" sz="2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 ON</a:t>
            </a: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)</a:t>
            </a:r>
            <a:endParaRPr sz="26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lang="en-US" sz="2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4: Set Switch “</a:t>
            </a:r>
            <a:r>
              <a:rPr sz="2600" b="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</a:rPr>
              <a:t>ON/OFF Switch</a:t>
            </a:r>
            <a:r>
              <a:rPr lang="en-US" sz="2600" b="0" i="0" u="none" strike="noStrike" cap="none" spc="0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” → ON -&gt;for batter power</a:t>
            </a:r>
            <a:endParaRPr sz="26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5: Press </a:t>
            </a:r>
            <a:r>
              <a:rPr sz="2600" b="0" i="1" u="none">
                <a:solidFill>
                  <a:schemeClr val="accent5"/>
                </a:solidFill>
                <a:latin typeface="Aptos Display"/>
                <a:ea typeface="Aptos Display"/>
                <a:cs typeface="Aptos Display"/>
              </a:rPr>
              <a:t>RESET </a:t>
            </a: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button </a:t>
            </a:r>
            <a:endParaRPr sz="2600" b="0" i="0" u="none">
              <a:solidFill>
                <a:schemeClr val="bg1"/>
              </a:solidFill>
              <a:latin typeface="Aptos Display"/>
              <a:ea typeface="Aptos Display"/>
              <a:cs typeface="Aptos Display"/>
            </a:endParaRPr>
          </a:p>
          <a:p>
            <a:pPr lvl="1">
              <a:defRPr/>
            </a:pPr>
            <a:r>
              <a:rPr sz="26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Step 6: Robot car-1 starts pit avoidance program</a:t>
            </a:r>
            <a:endParaRPr/>
          </a:p>
        </p:txBody>
      </p:sp>
      <p:pic>
        <p:nvPicPr>
          <p:cNvPr id="1705925120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3" y="156098"/>
            <a:ext cx="2037717" cy="549225"/>
          </a:xfrm>
          <a:prstGeom prst="rect">
            <a:avLst/>
          </a:prstGeom>
        </p:spPr>
      </p:pic>
      <p:sp>
        <p:nvSpPr>
          <p:cNvPr id="996577050" name=""/>
          <p:cNvSpPr txBox="1"/>
          <p:nvPr/>
        </p:nvSpPr>
        <p:spPr bwMode="auto">
          <a:xfrm flipH="0" flipV="0">
            <a:off x="6004378" y="3246120"/>
            <a:ext cx="183240" cy="36575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104412" name="Title 1"/>
          <p:cNvSpPr>
            <a:spLocks noGrp="1"/>
          </p:cNvSpPr>
          <p:nvPr>
            <p:ph type="title"/>
          </p:nvPr>
        </p:nvSpPr>
        <p:spPr bwMode="auto">
          <a:xfrm>
            <a:off x="33556" y="-107149"/>
            <a:ext cx="10515600" cy="1325558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Multi-Sensor Fusion for Autonomous Obstacle Avoidance</a:t>
            </a:r>
            <a:endParaRPr/>
          </a:p>
        </p:txBody>
      </p:sp>
      <p:sp>
        <p:nvSpPr>
          <p:cNvPr id="213185331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47896" y="968114"/>
            <a:ext cx="11058783" cy="584212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chemeClr val="accent5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Code Highlights (Only Important Parts)</a:t>
            </a:r>
            <a:endParaRPr sz="2800" b="0" i="0" u="none">
              <a:solidFill>
                <a:schemeClr val="accent5">
                  <a:lumMod val="75000"/>
                </a:schemeClr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Code Structure: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Priority System:</a:t>
            </a:r>
            <a:endParaRPr sz="2800"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400"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99159938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098"/>
            <a:ext cx="2037717" cy="549225"/>
          </a:xfrm>
          <a:prstGeom prst="rect">
            <a:avLst/>
          </a:prstGeom>
        </p:spPr>
      </p:pic>
      <p:pic>
        <p:nvPicPr>
          <p:cNvPr id="13957279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763811" y="1655163"/>
            <a:ext cx="6229350" cy="2581274"/>
          </a:xfrm>
          <a:prstGeom prst="rect">
            <a:avLst/>
          </a:prstGeom>
        </p:spPr>
      </p:pic>
      <p:pic>
        <p:nvPicPr>
          <p:cNvPr id="150970192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2763811" y="4856188"/>
            <a:ext cx="6000750" cy="15716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1483712" name="Title 1"/>
          <p:cNvSpPr>
            <a:spLocks noGrp="1"/>
          </p:cNvSpPr>
          <p:nvPr>
            <p:ph type="title"/>
          </p:nvPr>
        </p:nvSpPr>
        <p:spPr bwMode="auto">
          <a:xfrm>
            <a:off x="33556" y="-107149"/>
            <a:ext cx="10515600" cy="1325558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Multi-Sensor Fusion for Autonomous Obstacle Avoidance</a:t>
            </a:r>
            <a:endParaRPr/>
          </a:p>
        </p:txBody>
      </p:sp>
      <p:sp>
        <p:nvSpPr>
          <p:cNvPr id="2084665883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47896" y="968114"/>
            <a:ext cx="11058783" cy="584212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chemeClr val="accent5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Code Highlights (Only Important Parts)</a:t>
            </a:r>
            <a:endParaRPr sz="2800" b="0" i="0" u="none">
              <a:solidFill>
                <a:schemeClr val="accent5">
                  <a:lumMod val="75000"/>
                </a:schemeClr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Motor Commands: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r>
              <a:rPr sz="2800">
                <a:latin typeface="Aptos Display"/>
                <a:cs typeface="Aptos Display"/>
              </a:rPr>
              <a:t>			</a:t>
            </a:r>
            <a:endParaRPr sz="2800"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Priority System:</a:t>
            </a:r>
            <a:endParaRPr sz="2800"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400"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1500534893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098"/>
            <a:ext cx="2037717" cy="549225"/>
          </a:xfrm>
          <a:prstGeom prst="rect">
            <a:avLst/>
          </a:prstGeom>
        </p:spPr>
      </p:pic>
      <p:pic>
        <p:nvPicPr>
          <p:cNvPr id="150651857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780081" y="1936229"/>
            <a:ext cx="4610099" cy="1771650"/>
          </a:xfrm>
          <a:prstGeom prst="rect">
            <a:avLst/>
          </a:prstGeom>
        </p:spPr>
      </p:pic>
      <p:pic>
        <p:nvPicPr>
          <p:cNvPr id="1665727209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1717622" y="4606352"/>
            <a:ext cx="5000625" cy="1523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1046045" name="Title 1"/>
          <p:cNvSpPr>
            <a:spLocks noGrp="1"/>
          </p:cNvSpPr>
          <p:nvPr>
            <p:ph type="title"/>
          </p:nvPr>
        </p:nvSpPr>
        <p:spPr bwMode="auto">
          <a:xfrm>
            <a:off x="33556" y="-107149"/>
            <a:ext cx="10515600" cy="1325558"/>
          </a:xfrm>
        </p:spPr>
        <p:txBody>
          <a:bodyPr/>
          <a:lstStyle/>
          <a:p>
            <a:pPr>
              <a:defRPr/>
            </a:pPr>
            <a:r>
              <a:rPr lang="en-US" sz="4400" b="0" i="0" u="none" strike="noStrike" cap="none" spc="0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Multi-Sensor Fusion for Autonomous Obstacle Avoidance</a:t>
            </a:r>
            <a:endParaRPr/>
          </a:p>
        </p:txBody>
      </p:sp>
      <p:sp>
        <p:nvSpPr>
          <p:cNvPr id="1293847699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247896" y="968114"/>
            <a:ext cx="11058783" cy="5842120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chemeClr val="accent5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Code Highlights (Only Important Parts)</a:t>
            </a:r>
            <a:endParaRPr sz="2800" b="0" i="0" u="none">
              <a:solidFill>
                <a:schemeClr val="accent5">
                  <a:lumMod val="75000"/>
                </a:schemeClr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chemeClr val="bg1"/>
                </a:solidFill>
                <a:latin typeface="Aptos Display"/>
                <a:ea typeface="Aptos Display"/>
                <a:cs typeface="Aptos Display"/>
              </a:rPr>
              <a:t>Summary: How Code Works in 3 Steps</a:t>
            </a:r>
            <a:endParaRPr sz="2800">
              <a:solidFill>
                <a:schemeClr val="bg1"/>
              </a:solidFill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r>
              <a:rPr sz="2800">
                <a:latin typeface="Aptos Display"/>
                <a:cs typeface="Aptos Display"/>
              </a:rPr>
              <a:t>			</a:t>
            </a:r>
            <a:endParaRPr sz="2800"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800"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Note: The code repeats these 3 steps </a:t>
            </a:r>
            <a:endParaRPr sz="2800" b="1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50 times every second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to continuously 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r>
              <a:rPr sz="2800" b="0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avoid obstacles.</a:t>
            </a:r>
            <a:endParaRPr sz="2800" b="0" i="0" u="none">
              <a:solidFill>
                <a:schemeClr val="bg1"/>
              </a:solidFill>
              <a:latin typeface="Times New Roman"/>
              <a:ea typeface="Times New Roman"/>
              <a:cs typeface="Times New Roman"/>
            </a:endParaRPr>
          </a:p>
          <a:p>
            <a:pPr marL="0" indent="0">
              <a:buFont typeface="Arial"/>
              <a:buNone/>
              <a:defRPr/>
            </a:pPr>
            <a:endParaRPr sz="2800"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 sz="2400">
              <a:latin typeface="Aptos Display"/>
              <a:cs typeface="Aptos Display"/>
            </a:endParaRPr>
          </a:p>
          <a:p>
            <a:pPr marL="0" indent="0">
              <a:buFont typeface="Arial"/>
              <a:buNone/>
              <a:defRPr/>
            </a:pPr>
            <a:endParaRPr/>
          </a:p>
        </p:txBody>
      </p:sp>
      <p:pic>
        <p:nvPicPr>
          <p:cNvPr id="96160067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2" y="156098"/>
            <a:ext cx="2037717" cy="549225"/>
          </a:xfrm>
          <a:prstGeom prst="rect">
            <a:avLst/>
          </a:prstGeom>
        </p:spPr>
      </p:pic>
      <p:pic>
        <p:nvPicPr>
          <p:cNvPr id="143374895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277130" y="968114"/>
            <a:ext cx="4638674" cy="56102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14780" name="Title 1"/>
          <p:cNvSpPr>
            <a:spLocks noGrp="1"/>
          </p:cNvSpPr>
          <p:nvPr>
            <p:ph type="title"/>
          </p:nvPr>
        </p:nvSpPr>
        <p:spPr bwMode="auto">
          <a:xfrm>
            <a:off x="669064" y="42549"/>
            <a:ext cx="10515600" cy="1325562"/>
          </a:xfrm>
        </p:spPr>
        <p:txBody>
          <a:bodyPr/>
          <a:lstStyle/>
          <a:p>
            <a:pPr>
              <a:defRPr/>
            </a:pPr>
            <a:r>
              <a:rPr lang="en-GB">
                <a:solidFill>
                  <a:schemeClr val="bg1"/>
                </a:solidFill>
              </a:rPr>
              <a:t>Q&amp;A</a:t>
            </a:r>
            <a:endParaRPr/>
          </a:p>
        </p:txBody>
      </p:sp>
      <p:sp>
        <p:nvSpPr>
          <p:cNvPr id="423767712" name="Content Placeholder 2"/>
          <p:cNvSpPr>
            <a:spLocks noGrp="1"/>
          </p:cNvSpPr>
          <p:nvPr>
            <p:ph idx="1"/>
          </p:nvPr>
        </p:nvSpPr>
        <p:spPr bwMode="auto">
          <a:xfrm flipH="0" flipV="0">
            <a:off x="669064" y="1290771"/>
            <a:ext cx="10515600" cy="4940537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/>
          <a:p>
            <a:pPr>
              <a:defRPr/>
            </a:pPr>
            <a:endParaRPr lang="en-GB"/>
          </a:p>
          <a:p>
            <a:pPr>
              <a:defRPr/>
            </a:pPr>
            <a:r>
              <a:rPr sz="2800" b="1" i="0" u="none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Questions &amp; Discussion</a:t>
            </a:r>
            <a:endParaRPr sz="2800">
              <a:solidFill>
                <a:schemeClr val="bg1"/>
              </a:solidFill>
            </a:endParaRPr>
          </a:p>
        </p:txBody>
      </p:sp>
      <p:pic>
        <p:nvPicPr>
          <p:cNvPr id="425447318" name="Picture 3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9971314" y="156102"/>
            <a:ext cx="2037720" cy="5492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1_Office Theme">
  <a:themeElements>
    <a:clrScheme name="ZASRobotics">
      <a:dk1>
        <a:sysClr val="windowText" lastClr="000000"/>
      </a:dk1>
      <a:lt1>
        <a:sysClr val="window" lastClr="FFFFFF"/>
      </a:lt1>
      <a:dk2>
        <a:srgbClr val="0E2841"/>
      </a:dk2>
      <a:lt2>
        <a:srgbClr val="8ECAE6"/>
      </a:lt2>
      <a:accent1>
        <a:srgbClr val="219EBC"/>
      </a:accent1>
      <a:accent2>
        <a:srgbClr val="8ECAE6"/>
      </a:accent2>
      <a:accent3>
        <a:srgbClr val="023047"/>
      </a:accent3>
      <a:accent4>
        <a:srgbClr val="FF715B"/>
      </a:accent4>
      <a:accent5>
        <a:srgbClr val="F9CB40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ONLYOFFICE/8.3.3.21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Fakruddin Mohammed</dc:creator>
  <cp:lastModifiedBy/>
  <cp:revision>13</cp:revision>
  <dcterms:created xsi:type="dcterms:W3CDTF">2025-11-29T15:09:33Z</dcterms:created>
  <dcterms:modified xsi:type="dcterms:W3CDTF">2026-01-02T19:02:27Z</dcterms:modified>
</cp:coreProperties>
</file>